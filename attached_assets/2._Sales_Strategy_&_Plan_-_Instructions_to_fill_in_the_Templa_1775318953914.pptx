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http://customooxmlschemas.google.com/">
      <go:slidesCustomData xmlns:go="http://customooxmlschemas.google.com/" r:id="rId64" roundtripDataSignature="AMtx7miMHln0YzLU9DZUInQEDyaTwGv6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8D8925-725D-496F-A5EC-AC3963D42A22}">
  <a:tblStyle styleId="{148D8925-725D-496F-A5EC-AC3963D42A2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customschemas.google.com/relationships/presentationmetadata" Target="metadata"/><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3" name="Google Shape;50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4" name="Google Shape;64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3" name="Google Shape;84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1" name="Google Shape;861;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0" name="Google Shape;91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 name="Google Shape;939;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5" name="Google Shape;96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3" name="Google Shape;97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1" name="Google Shape;98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9" name="Google Shape;98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2" name="Google Shape;1022;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8" name="Google Shape;1048;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1" name="Google Shape;108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1" name="Google Shape;109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6" name="Google Shape;111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7" name="Google Shape;114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4" name="Google Shape;1174;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1" name="Google Shape;118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ver page">
  <p:cSld name="1. Cover page">
    <p:spTree>
      <p:nvGrpSpPr>
        <p:cNvPr id="15" name="Shape 15"/>
        <p:cNvGrpSpPr/>
        <p:nvPr/>
      </p:nvGrpSpPr>
      <p:grpSpPr>
        <a:xfrm>
          <a:off x="0" y="0"/>
          <a:ext cx="0" cy="0"/>
          <a:chOff x="0" y="0"/>
          <a:chExt cx="0" cy="0"/>
        </a:xfrm>
      </p:grpSpPr>
      <p:sp>
        <p:nvSpPr>
          <p:cNvPr id="16" name="Google Shape;16;p63"/>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7" name="Google Shape;17;p63"/>
          <p:cNvSpPr/>
          <p:nvPr/>
        </p:nvSpPr>
        <p:spPr>
          <a:xfrm>
            <a:off x="254646" y="277792"/>
            <a:ext cx="11669751" cy="276635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8" name="Google Shape;18;p63"/>
          <p:cNvSpPr txBox="1"/>
          <p:nvPr>
            <p:ph type="title"/>
          </p:nvPr>
        </p:nvSpPr>
        <p:spPr>
          <a:xfrm>
            <a:off x="502541" y="810229"/>
            <a:ext cx="10256128" cy="166096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Arial"/>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63"/>
          <p:cNvSpPr txBox="1"/>
          <p:nvPr>
            <p:ph idx="1" type="body"/>
          </p:nvPr>
        </p:nvSpPr>
        <p:spPr>
          <a:xfrm>
            <a:off x="503240" y="3280961"/>
            <a:ext cx="10313987" cy="15514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2400"/>
              <a:buNone/>
              <a:defRPr sz="2400"/>
            </a:lvl1pPr>
            <a:lvl2pPr indent="-381000" lvl="1" marL="914400" algn="l">
              <a:lnSpc>
                <a:spcPct val="90000"/>
              </a:lnSpc>
              <a:spcBef>
                <a:spcPts val="500"/>
              </a:spcBef>
              <a:spcAft>
                <a:spcPts val="0"/>
              </a:spcAft>
              <a:buClr>
                <a:srgbClr val="002060"/>
              </a:buClr>
              <a:buSzPts val="2400"/>
              <a:buChar char="•"/>
              <a:defRPr sz="2400"/>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and Content - 1 Text Box">
  <p:cSld name="3. Title and Content - 1 Text Box">
    <p:spTree>
      <p:nvGrpSpPr>
        <p:cNvPr id="20" name="Shape 20"/>
        <p:cNvGrpSpPr/>
        <p:nvPr/>
      </p:nvGrpSpPr>
      <p:grpSpPr>
        <a:xfrm>
          <a:off x="0" y="0"/>
          <a:ext cx="0" cy="0"/>
          <a:chOff x="0" y="0"/>
          <a:chExt cx="0" cy="0"/>
        </a:xfrm>
      </p:grpSpPr>
      <p:sp>
        <p:nvSpPr>
          <p:cNvPr id="21" name="Google Shape;21;p64"/>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22" name="Google Shape;22;p64"/>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23" name="Google Shape;23;p64"/>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2400"/>
              <a:buFont typeface="Arial"/>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64"/>
          <p:cNvSpPr txBox="1"/>
          <p:nvPr>
            <p:ph idx="1" type="body"/>
          </p:nvPr>
        </p:nvSpPr>
        <p:spPr>
          <a:xfrm>
            <a:off x="508001" y="1619830"/>
            <a:ext cx="11079163" cy="169631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6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lvl1pPr indent="0" lvl="0" marL="0" algn="r">
              <a:spcBef>
                <a:spcPts val="0"/>
              </a:spcBef>
              <a:buNone/>
              <a:defRPr sz="1000">
                <a:solidFill>
                  <a:srgbClr val="ADAFBB"/>
                </a:solidFill>
              </a:defRPr>
            </a:lvl1pPr>
            <a:lvl2pPr indent="0" lvl="1" marL="0" algn="r">
              <a:spcBef>
                <a:spcPts val="0"/>
              </a:spcBef>
              <a:buNone/>
              <a:defRPr sz="1000">
                <a:solidFill>
                  <a:srgbClr val="ADAFBB"/>
                </a:solidFill>
              </a:defRPr>
            </a:lvl2pPr>
            <a:lvl3pPr indent="0" lvl="2" marL="0" algn="r">
              <a:spcBef>
                <a:spcPts val="0"/>
              </a:spcBef>
              <a:buNone/>
              <a:defRPr sz="1000">
                <a:solidFill>
                  <a:srgbClr val="ADAFBB"/>
                </a:solidFill>
              </a:defRPr>
            </a:lvl3pPr>
            <a:lvl4pPr indent="0" lvl="3" marL="0" algn="r">
              <a:spcBef>
                <a:spcPts val="0"/>
              </a:spcBef>
              <a:buNone/>
              <a:defRPr sz="1000">
                <a:solidFill>
                  <a:srgbClr val="ADAFBB"/>
                </a:solidFill>
              </a:defRPr>
            </a:lvl4pPr>
            <a:lvl5pPr indent="0" lvl="4" marL="0" algn="r">
              <a:spcBef>
                <a:spcPts val="0"/>
              </a:spcBef>
              <a:buNone/>
              <a:defRPr sz="1000">
                <a:solidFill>
                  <a:srgbClr val="ADAFBB"/>
                </a:solidFill>
              </a:defRPr>
            </a:lvl5pPr>
            <a:lvl6pPr indent="0" lvl="5" marL="0" algn="r">
              <a:spcBef>
                <a:spcPts val="0"/>
              </a:spcBef>
              <a:buNone/>
              <a:defRPr sz="1000">
                <a:solidFill>
                  <a:srgbClr val="ADAFBB"/>
                </a:solidFill>
              </a:defRPr>
            </a:lvl6pPr>
            <a:lvl7pPr indent="0" lvl="6" marL="0" algn="r">
              <a:spcBef>
                <a:spcPts val="0"/>
              </a:spcBef>
              <a:buNone/>
              <a:defRPr sz="1000">
                <a:solidFill>
                  <a:srgbClr val="ADAFBB"/>
                </a:solidFill>
              </a:defRPr>
            </a:lvl7pPr>
            <a:lvl8pPr indent="0" lvl="7" marL="0" algn="r">
              <a:spcBef>
                <a:spcPts val="0"/>
              </a:spcBef>
              <a:buNone/>
              <a:defRPr sz="1000">
                <a:solidFill>
                  <a:srgbClr val="ADAFBB"/>
                </a:solidFill>
              </a:defRPr>
            </a:lvl8pPr>
            <a:lvl9pPr indent="0" lvl="8" marL="0" algn="r">
              <a:spcBef>
                <a:spcPts val="0"/>
              </a:spcBef>
              <a:buNone/>
              <a:defRPr sz="1000">
                <a:solidFill>
                  <a:srgbClr val="ADAFBB"/>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able of Content">
  <p:cSld name="2. Table of Content">
    <p:spTree>
      <p:nvGrpSpPr>
        <p:cNvPr id="26" name="Shape 26"/>
        <p:cNvGrpSpPr/>
        <p:nvPr/>
      </p:nvGrpSpPr>
      <p:grpSpPr>
        <a:xfrm>
          <a:off x="0" y="0"/>
          <a:ext cx="0" cy="0"/>
          <a:chOff x="0" y="0"/>
          <a:chExt cx="0" cy="0"/>
        </a:xfrm>
      </p:grpSpPr>
      <p:sp>
        <p:nvSpPr>
          <p:cNvPr id="27" name="Google Shape;27;p65"/>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8" name="Google Shape;28;p65"/>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29" name="Google Shape;29;p65"/>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2000"/>
              <a:buFont typeface="Arial"/>
              <a:buNone/>
              <a:defRPr>
                <a:solidFill>
                  <a:srgbClr val="00206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65"/>
          <p:cNvSpPr txBox="1"/>
          <p:nvPr>
            <p:ph idx="1" type="body"/>
          </p:nvPr>
        </p:nvSpPr>
        <p:spPr>
          <a:xfrm>
            <a:off x="1857375" y="1660525"/>
            <a:ext cx="9729788" cy="23320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sz="1800"/>
            </a:lvl1pPr>
            <a:lvl2pPr indent="-342900" lvl="1" marL="914400" algn="l">
              <a:lnSpc>
                <a:spcPct val="90000"/>
              </a:lnSpc>
              <a:spcBef>
                <a:spcPts val="500"/>
              </a:spcBef>
              <a:spcAft>
                <a:spcPts val="0"/>
              </a:spcAft>
              <a:buClr>
                <a:srgbClr val="002060"/>
              </a:buClr>
              <a:buSzPts val="1800"/>
              <a:buChar char="•"/>
              <a:defRPr sz="1800"/>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6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lvl1pPr indent="0" lvl="0" marL="0" algn="r">
              <a:spcBef>
                <a:spcPts val="0"/>
              </a:spcBef>
              <a:buNone/>
              <a:defRPr sz="1000">
                <a:solidFill>
                  <a:srgbClr val="ADAFBB"/>
                </a:solidFill>
              </a:defRPr>
            </a:lvl1pPr>
            <a:lvl2pPr indent="0" lvl="1" marL="0" algn="r">
              <a:spcBef>
                <a:spcPts val="0"/>
              </a:spcBef>
              <a:buNone/>
              <a:defRPr sz="1000">
                <a:solidFill>
                  <a:srgbClr val="ADAFBB"/>
                </a:solidFill>
              </a:defRPr>
            </a:lvl2pPr>
            <a:lvl3pPr indent="0" lvl="2" marL="0" algn="r">
              <a:spcBef>
                <a:spcPts val="0"/>
              </a:spcBef>
              <a:buNone/>
              <a:defRPr sz="1000">
                <a:solidFill>
                  <a:srgbClr val="ADAFBB"/>
                </a:solidFill>
              </a:defRPr>
            </a:lvl3pPr>
            <a:lvl4pPr indent="0" lvl="3" marL="0" algn="r">
              <a:spcBef>
                <a:spcPts val="0"/>
              </a:spcBef>
              <a:buNone/>
              <a:defRPr sz="1000">
                <a:solidFill>
                  <a:srgbClr val="ADAFBB"/>
                </a:solidFill>
              </a:defRPr>
            </a:lvl4pPr>
            <a:lvl5pPr indent="0" lvl="4" marL="0" algn="r">
              <a:spcBef>
                <a:spcPts val="0"/>
              </a:spcBef>
              <a:buNone/>
              <a:defRPr sz="1000">
                <a:solidFill>
                  <a:srgbClr val="ADAFBB"/>
                </a:solidFill>
              </a:defRPr>
            </a:lvl5pPr>
            <a:lvl6pPr indent="0" lvl="5" marL="0" algn="r">
              <a:spcBef>
                <a:spcPts val="0"/>
              </a:spcBef>
              <a:buNone/>
              <a:defRPr sz="1000">
                <a:solidFill>
                  <a:srgbClr val="ADAFBB"/>
                </a:solidFill>
              </a:defRPr>
            </a:lvl6pPr>
            <a:lvl7pPr indent="0" lvl="6" marL="0" algn="r">
              <a:spcBef>
                <a:spcPts val="0"/>
              </a:spcBef>
              <a:buNone/>
              <a:defRPr sz="1000">
                <a:solidFill>
                  <a:srgbClr val="ADAFBB"/>
                </a:solidFill>
              </a:defRPr>
            </a:lvl7pPr>
            <a:lvl8pPr indent="0" lvl="7" marL="0" algn="r">
              <a:spcBef>
                <a:spcPts val="0"/>
              </a:spcBef>
              <a:buNone/>
              <a:defRPr sz="1000">
                <a:solidFill>
                  <a:srgbClr val="ADAFBB"/>
                </a:solidFill>
              </a:defRPr>
            </a:lvl8pPr>
            <a:lvl9pPr indent="0" lvl="8" marL="0" algn="r">
              <a:spcBef>
                <a:spcPts val="0"/>
              </a:spcBef>
              <a:buNone/>
              <a:defRPr sz="1000">
                <a:solidFill>
                  <a:srgbClr val="ADAFBB"/>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and Content - 2 Text Boxes">
  <p:cSld name="3. Title and Content - 2 Text Boxes">
    <p:spTree>
      <p:nvGrpSpPr>
        <p:cNvPr id="32" name="Shape 32"/>
        <p:cNvGrpSpPr/>
        <p:nvPr/>
      </p:nvGrpSpPr>
      <p:grpSpPr>
        <a:xfrm>
          <a:off x="0" y="0"/>
          <a:ext cx="0" cy="0"/>
          <a:chOff x="0" y="0"/>
          <a:chExt cx="0" cy="0"/>
        </a:xfrm>
      </p:grpSpPr>
      <p:sp>
        <p:nvSpPr>
          <p:cNvPr id="33" name="Google Shape;33;p66"/>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4" name="Google Shape;34;p66"/>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35" name="Google Shape;35;p66"/>
          <p:cNvSpPr txBox="1"/>
          <p:nvPr>
            <p:ph type="title"/>
          </p:nvPr>
        </p:nvSpPr>
        <p:spPr>
          <a:xfrm>
            <a:off x="514115" y="365126"/>
            <a:ext cx="11073452" cy="109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6"/>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A9C"/>
                </a:solidFill>
                <a:latin typeface="Arial"/>
                <a:ea typeface="Arial"/>
                <a:cs typeface="Arial"/>
                <a:sym typeface="Arial"/>
              </a:defRPr>
            </a:lvl1pPr>
            <a:lvl2pPr indent="0" lvl="1" marL="0" algn="r">
              <a:spcBef>
                <a:spcPts val="0"/>
              </a:spcBef>
              <a:buNone/>
              <a:defRPr sz="1200">
                <a:solidFill>
                  <a:srgbClr val="888A9C"/>
                </a:solidFill>
                <a:latin typeface="Arial"/>
                <a:ea typeface="Arial"/>
                <a:cs typeface="Arial"/>
                <a:sym typeface="Arial"/>
              </a:defRPr>
            </a:lvl2pPr>
            <a:lvl3pPr indent="0" lvl="2" marL="0" algn="r">
              <a:spcBef>
                <a:spcPts val="0"/>
              </a:spcBef>
              <a:buNone/>
              <a:defRPr sz="1200">
                <a:solidFill>
                  <a:srgbClr val="888A9C"/>
                </a:solidFill>
                <a:latin typeface="Arial"/>
                <a:ea typeface="Arial"/>
                <a:cs typeface="Arial"/>
                <a:sym typeface="Arial"/>
              </a:defRPr>
            </a:lvl3pPr>
            <a:lvl4pPr indent="0" lvl="3" marL="0" algn="r">
              <a:spcBef>
                <a:spcPts val="0"/>
              </a:spcBef>
              <a:buNone/>
              <a:defRPr sz="1200">
                <a:solidFill>
                  <a:srgbClr val="888A9C"/>
                </a:solidFill>
                <a:latin typeface="Arial"/>
                <a:ea typeface="Arial"/>
                <a:cs typeface="Arial"/>
                <a:sym typeface="Arial"/>
              </a:defRPr>
            </a:lvl4pPr>
            <a:lvl5pPr indent="0" lvl="4" marL="0" algn="r">
              <a:spcBef>
                <a:spcPts val="0"/>
              </a:spcBef>
              <a:buNone/>
              <a:defRPr sz="1200">
                <a:solidFill>
                  <a:srgbClr val="888A9C"/>
                </a:solidFill>
                <a:latin typeface="Arial"/>
                <a:ea typeface="Arial"/>
                <a:cs typeface="Arial"/>
                <a:sym typeface="Arial"/>
              </a:defRPr>
            </a:lvl5pPr>
            <a:lvl6pPr indent="0" lvl="5" marL="0" algn="r">
              <a:spcBef>
                <a:spcPts val="0"/>
              </a:spcBef>
              <a:buNone/>
              <a:defRPr sz="1200">
                <a:solidFill>
                  <a:srgbClr val="888A9C"/>
                </a:solidFill>
                <a:latin typeface="Arial"/>
                <a:ea typeface="Arial"/>
                <a:cs typeface="Arial"/>
                <a:sym typeface="Arial"/>
              </a:defRPr>
            </a:lvl6pPr>
            <a:lvl7pPr indent="0" lvl="6" marL="0" algn="r">
              <a:spcBef>
                <a:spcPts val="0"/>
              </a:spcBef>
              <a:buNone/>
              <a:defRPr sz="1200">
                <a:solidFill>
                  <a:srgbClr val="888A9C"/>
                </a:solidFill>
                <a:latin typeface="Arial"/>
                <a:ea typeface="Arial"/>
                <a:cs typeface="Arial"/>
                <a:sym typeface="Arial"/>
              </a:defRPr>
            </a:lvl7pPr>
            <a:lvl8pPr indent="0" lvl="7" marL="0" algn="r">
              <a:spcBef>
                <a:spcPts val="0"/>
              </a:spcBef>
              <a:buNone/>
              <a:defRPr sz="1200">
                <a:solidFill>
                  <a:srgbClr val="888A9C"/>
                </a:solidFill>
                <a:latin typeface="Arial"/>
                <a:ea typeface="Arial"/>
                <a:cs typeface="Arial"/>
                <a:sym typeface="Arial"/>
              </a:defRPr>
            </a:lvl8pPr>
            <a:lvl9pPr indent="0" lvl="8" marL="0" algn="r">
              <a:spcBef>
                <a:spcPts val="0"/>
              </a:spcBef>
              <a:buNone/>
              <a:defRPr sz="1200">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66"/>
          <p:cNvSpPr txBox="1"/>
          <p:nvPr>
            <p:ph idx="1" type="body"/>
          </p:nvPr>
        </p:nvSpPr>
        <p:spPr>
          <a:xfrm>
            <a:off x="508002" y="1619834"/>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6"/>
          <p:cNvSpPr txBox="1"/>
          <p:nvPr>
            <p:ph idx="2" type="body"/>
          </p:nvPr>
        </p:nvSpPr>
        <p:spPr>
          <a:xfrm>
            <a:off x="6441336" y="1619834"/>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and Content - 4 Text Boxes">
  <p:cSld name="3. Title and Content - 4 Text Boxes">
    <p:spTree>
      <p:nvGrpSpPr>
        <p:cNvPr id="39" name="Shape 39"/>
        <p:cNvGrpSpPr/>
        <p:nvPr/>
      </p:nvGrpSpPr>
      <p:grpSpPr>
        <a:xfrm>
          <a:off x="0" y="0"/>
          <a:ext cx="0" cy="0"/>
          <a:chOff x="0" y="0"/>
          <a:chExt cx="0" cy="0"/>
        </a:xfrm>
      </p:grpSpPr>
      <p:sp>
        <p:nvSpPr>
          <p:cNvPr id="40" name="Google Shape;40;p67"/>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1" name="Google Shape;41;p67"/>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42" name="Google Shape;42;p67"/>
          <p:cNvSpPr txBox="1"/>
          <p:nvPr>
            <p:ph type="title"/>
          </p:nvPr>
        </p:nvSpPr>
        <p:spPr>
          <a:xfrm>
            <a:off x="514115" y="365126"/>
            <a:ext cx="11073452" cy="1091318"/>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2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67"/>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A9C"/>
                </a:solidFill>
                <a:latin typeface="Arial"/>
                <a:ea typeface="Arial"/>
                <a:cs typeface="Arial"/>
                <a:sym typeface="Arial"/>
              </a:defRPr>
            </a:lvl1pPr>
            <a:lvl2pPr indent="0" lvl="1" marL="0" algn="r">
              <a:spcBef>
                <a:spcPts val="0"/>
              </a:spcBef>
              <a:buNone/>
              <a:defRPr sz="1200">
                <a:solidFill>
                  <a:srgbClr val="888A9C"/>
                </a:solidFill>
                <a:latin typeface="Arial"/>
                <a:ea typeface="Arial"/>
                <a:cs typeface="Arial"/>
                <a:sym typeface="Arial"/>
              </a:defRPr>
            </a:lvl2pPr>
            <a:lvl3pPr indent="0" lvl="2" marL="0" algn="r">
              <a:spcBef>
                <a:spcPts val="0"/>
              </a:spcBef>
              <a:buNone/>
              <a:defRPr sz="1200">
                <a:solidFill>
                  <a:srgbClr val="888A9C"/>
                </a:solidFill>
                <a:latin typeface="Arial"/>
                <a:ea typeface="Arial"/>
                <a:cs typeface="Arial"/>
                <a:sym typeface="Arial"/>
              </a:defRPr>
            </a:lvl3pPr>
            <a:lvl4pPr indent="0" lvl="3" marL="0" algn="r">
              <a:spcBef>
                <a:spcPts val="0"/>
              </a:spcBef>
              <a:buNone/>
              <a:defRPr sz="1200">
                <a:solidFill>
                  <a:srgbClr val="888A9C"/>
                </a:solidFill>
                <a:latin typeface="Arial"/>
                <a:ea typeface="Arial"/>
                <a:cs typeface="Arial"/>
                <a:sym typeface="Arial"/>
              </a:defRPr>
            </a:lvl4pPr>
            <a:lvl5pPr indent="0" lvl="4" marL="0" algn="r">
              <a:spcBef>
                <a:spcPts val="0"/>
              </a:spcBef>
              <a:buNone/>
              <a:defRPr sz="1200">
                <a:solidFill>
                  <a:srgbClr val="888A9C"/>
                </a:solidFill>
                <a:latin typeface="Arial"/>
                <a:ea typeface="Arial"/>
                <a:cs typeface="Arial"/>
                <a:sym typeface="Arial"/>
              </a:defRPr>
            </a:lvl5pPr>
            <a:lvl6pPr indent="0" lvl="5" marL="0" algn="r">
              <a:spcBef>
                <a:spcPts val="0"/>
              </a:spcBef>
              <a:buNone/>
              <a:defRPr sz="1200">
                <a:solidFill>
                  <a:srgbClr val="888A9C"/>
                </a:solidFill>
                <a:latin typeface="Arial"/>
                <a:ea typeface="Arial"/>
                <a:cs typeface="Arial"/>
                <a:sym typeface="Arial"/>
              </a:defRPr>
            </a:lvl6pPr>
            <a:lvl7pPr indent="0" lvl="6" marL="0" algn="r">
              <a:spcBef>
                <a:spcPts val="0"/>
              </a:spcBef>
              <a:buNone/>
              <a:defRPr sz="1200">
                <a:solidFill>
                  <a:srgbClr val="888A9C"/>
                </a:solidFill>
                <a:latin typeface="Arial"/>
                <a:ea typeface="Arial"/>
                <a:cs typeface="Arial"/>
                <a:sym typeface="Arial"/>
              </a:defRPr>
            </a:lvl7pPr>
            <a:lvl8pPr indent="0" lvl="7" marL="0" algn="r">
              <a:spcBef>
                <a:spcPts val="0"/>
              </a:spcBef>
              <a:buNone/>
              <a:defRPr sz="1200">
                <a:solidFill>
                  <a:srgbClr val="888A9C"/>
                </a:solidFill>
                <a:latin typeface="Arial"/>
                <a:ea typeface="Arial"/>
                <a:cs typeface="Arial"/>
                <a:sym typeface="Arial"/>
              </a:defRPr>
            </a:lvl8pPr>
            <a:lvl9pPr indent="0" lvl="8" marL="0" algn="r">
              <a:spcBef>
                <a:spcPts val="0"/>
              </a:spcBef>
              <a:buNone/>
              <a:defRPr sz="1200">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67"/>
          <p:cNvSpPr txBox="1"/>
          <p:nvPr>
            <p:ph idx="1" type="body"/>
          </p:nvPr>
        </p:nvSpPr>
        <p:spPr>
          <a:xfrm>
            <a:off x="508002" y="1619834"/>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67"/>
          <p:cNvSpPr txBox="1"/>
          <p:nvPr>
            <p:ph idx="2" type="body"/>
          </p:nvPr>
        </p:nvSpPr>
        <p:spPr>
          <a:xfrm>
            <a:off x="6441336" y="1619834"/>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7"/>
          <p:cNvSpPr txBox="1"/>
          <p:nvPr>
            <p:ph idx="3" type="body"/>
          </p:nvPr>
        </p:nvSpPr>
        <p:spPr>
          <a:xfrm>
            <a:off x="508002" y="3976010"/>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67"/>
          <p:cNvSpPr txBox="1"/>
          <p:nvPr>
            <p:ph idx="4" type="body"/>
          </p:nvPr>
        </p:nvSpPr>
        <p:spPr>
          <a:xfrm>
            <a:off x="6441336" y="3976010"/>
            <a:ext cx="5146233" cy="200304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002060"/>
              </a:buClr>
              <a:buSzPts val="1800"/>
              <a:buNone/>
              <a:defRPr/>
            </a:lvl1pPr>
            <a:lvl2pPr indent="-342900" lvl="1" marL="914400" algn="l">
              <a:lnSpc>
                <a:spcPct val="90000"/>
              </a:lnSpc>
              <a:spcBef>
                <a:spcPts val="500"/>
              </a:spcBef>
              <a:spcAft>
                <a:spcPts val="0"/>
              </a:spcAft>
              <a:buClr>
                <a:srgbClr val="002060"/>
              </a:buClr>
              <a:buSzPts val="1800"/>
              <a:buChar char="•"/>
              <a:defRPr/>
            </a:lvl2pPr>
            <a:lvl3pPr indent="-342900" lvl="2" marL="1371600" algn="l">
              <a:lnSpc>
                <a:spcPct val="90000"/>
              </a:lnSpc>
              <a:spcBef>
                <a:spcPts val="500"/>
              </a:spcBef>
              <a:spcAft>
                <a:spcPts val="0"/>
              </a:spcAft>
              <a:buClr>
                <a:srgbClr val="002060"/>
              </a:buClr>
              <a:buSzPts val="1800"/>
              <a:buChar char="•"/>
              <a:defRPr/>
            </a:lvl3pPr>
            <a:lvl4pPr indent="-342900" lvl="3" marL="1828800" algn="l">
              <a:lnSpc>
                <a:spcPct val="90000"/>
              </a:lnSpc>
              <a:spcBef>
                <a:spcPts val="500"/>
              </a:spcBef>
              <a:spcAft>
                <a:spcPts val="0"/>
              </a:spcAft>
              <a:buClr>
                <a:srgbClr val="002060"/>
              </a:buClr>
              <a:buSzPts val="1800"/>
              <a:buChar char="•"/>
              <a:defRPr/>
            </a:lvl4pPr>
            <a:lvl5pPr indent="-342900" lvl="4" marL="2286000" algn="l">
              <a:lnSpc>
                <a:spcPct val="90000"/>
              </a:lnSpc>
              <a:spcBef>
                <a:spcPts val="500"/>
              </a:spcBef>
              <a:spcAft>
                <a:spcPts val="0"/>
              </a:spcAft>
              <a:buClr>
                <a:srgbClr val="00206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67"/>
          <p:cNvSpPr/>
          <p:nvPr/>
        </p:nvSpPr>
        <p:spPr>
          <a:xfrm>
            <a:off x="0" y="0"/>
            <a:ext cx="12191999" cy="68580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Blank">
  <p:cSld name="Grey Blank">
    <p:spTree>
      <p:nvGrpSpPr>
        <p:cNvPr id="49" name="Shape 49"/>
        <p:cNvGrpSpPr/>
        <p:nvPr/>
      </p:nvGrpSpPr>
      <p:grpSpPr>
        <a:xfrm>
          <a:off x="0" y="0"/>
          <a:ext cx="0" cy="0"/>
          <a:chOff x="0" y="0"/>
          <a:chExt cx="0" cy="0"/>
        </a:xfrm>
      </p:grpSpPr>
      <p:sp>
        <p:nvSpPr>
          <p:cNvPr id="50" name="Google Shape;50;p68"/>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A9C"/>
                </a:solidFill>
                <a:latin typeface="Arial"/>
                <a:ea typeface="Arial"/>
                <a:cs typeface="Arial"/>
                <a:sym typeface="Arial"/>
              </a:defRPr>
            </a:lvl1pPr>
            <a:lvl2pPr indent="0" lvl="1" marL="0" algn="r">
              <a:spcBef>
                <a:spcPts val="0"/>
              </a:spcBef>
              <a:buNone/>
              <a:defRPr sz="1200">
                <a:solidFill>
                  <a:srgbClr val="888A9C"/>
                </a:solidFill>
                <a:latin typeface="Arial"/>
                <a:ea typeface="Arial"/>
                <a:cs typeface="Arial"/>
                <a:sym typeface="Arial"/>
              </a:defRPr>
            </a:lvl2pPr>
            <a:lvl3pPr indent="0" lvl="2" marL="0" algn="r">
              <a:spcBef>
                <a:spcPts val="0"/>
              </a:spcBef>
              <a:buNone/>
              <a:defRPr sz="1200">
                <a:solidFill>
                  <a:srgbClr val="888A9C"/>
                </a:solidFill>
                <a:latin typeface="Arial"/>
                <a:ea typeface="Arial"/>
                <a:cs typeface="Arial"/>
                <a:sym typeface="Arial"/>
              </a:defRPr>
            </a:lvl3pPr>
            <a:lvl4pPr indent="0" lvl="3" marL="0" algn="r">
              <a:spcBef>
                <a:spcPts val="0"/>
              </a:spcBef>
              <a:buNone/>
              <a:defRPr sz="1200">
                <a:solidFill>
                  <a:srgbClr val="888A9C"/>
                </a:solidFill>
                <a:latin typeface="Arial"/>
                <a:ea typeface="Arial"/>
                <a:cs typeface="Arial"/>
                <a:sym typeface="Arial"/>
              </a:defRPr>
            </a:lvl4pPr>
            <a:lvl5pPr indent="0" lvl="4" marL="0" algn="r">
              <a:spcBef>
                <a:spcPts val="0"/>
              </a:spcBef>
              <a:buNone/>
              <a:defRPr sz="1200">
                <a:solidFill>
                  <a:srgbClr val="888A9C"/>
                </a:solidFill>
                <a:latin typeface="Arial"/>
                <a:ea typeface="Arial"/>
                <a:cs typeface="Arial"/>
                <a:sym typeface="Arial"/>
              </a:defRPr>
            </a:lvl5pPr>
            <a:lvl6pPr indent="0" lvl="5" marL="0" algn="r">
              <a:spcBef>
                <a:spcPts val="0"/>
              </a:spcBef>
              <a:buNone/>
              <a:defRPr sz="1200">
                <a:solidFill>
                  <a:srgbClr val="888A9C"/>
                </a:solidFill>
                <a:latin typeface="Arial"/>
                <a:ea typeface="Arial"/>
                <a:cs typeface="Arial"/>
                <a:sym typeface="Arial"/>
              </a:defRPr>
            </a:lvl6pPr>
            <a:lvl7pPr indent="0" lvl="6" marL="0" algn="r">
              <a:spcBef>
                <a:spcPts val="0"/>
              </a:spcBef>
              <a:buNone/>
              <a:defRPr sz="1200">
                <a:solidFill>
                  <a:srgbClr val="888A9C"/>
                </a:solidFill>
                <a:latin typeface="Arial"/>
                <a:ea typeface="Arial"/>
                <a:cs typeface="Arial"/>
                <a:sym typeface="Arial"/>
              </a:defRPr>
            </a:lvl7pPr>
            <a:lvl8pPr indent="0" lvl="7" marL="0" algn="r">
              <a:spcBef>
                <a:spcPts val="0"/>
              </a:spcBef>
              <a:buNone/>
              <a:defRPr sz="1200">
                <a:solidFill>
                  <a:srgbClr val="888A9C"/>
                </a:solidFill>
                <a:latin typeface="Arial"/>
                <a:ea typeface="Arial"/>
                <a:cs typeface="Arial"/>
                <a:sym typeface="Arial"/>
              </a:defRPr>
            </a:lvl8pPr>
            <a:lvl9pPr indent="0" lvl="8" marL="0" algn="r">
              <a:spcBef>
                <a:spcPts val="0"/>
              </a:spcBef>
              <a:buNone/>
              <a:defRPr sz="1200">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68"/>
          <p:cNvSpPr/>
          <p:nvPr/>
        </p:nvSpPr>
        <p:spPr>
          <a:xfrm>
            <a:off x="0" y="0"/>
            <a:ext cx="12191999" cy="6858000"/>
          </a:xfrm>
          <a:prstGeom prst="rect">
            <a:avLst/>
          </a:prstGeom>
          <a:solidFill>
            <a:srgbClr val="F7F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Blank">
  <p:cSld name="White Blank">
    <p:spTree>
      <p:nvGrpSpPr>
        <p:cNvPr id="52" name="Shape 52"/>
        <p:cNvGrpSpPr/>
        <p:nvPr/>
      </p:nvGrpSpPr>
      <p:grpSpPr>
        <a:xfrm>
          <a:off x="0" y="0"/>
          <a:ext cx="0" cy="0"/>
          <a:chOff x="0" y="0"/>
          <a:chExt cx="0" cy="0"/>
        </a:xfrm>
      </p:grpSpPr>
      <p:sp>
        <p:nvSpPr>
          <p:cNvPr id="53" name="Google Shape;53;p69"/>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A9C"/>
                </a:solidFill>
                <a:latin typeface="Arial"/>
                <a:ea typeface="Arial"/>
                <a:cs typeface="Arial"/>
                <a:sym typeface="Arial"/>
              </a:defRPr>
            </a:lvl1pPr>
            <a:lvl2pPr indent="0" lvl="1" marL="0" algn="r">
              <a:spcBef>
                <a:spcPts val="0"/>
              </a:spcBef>
              <a:buNone/>
              <a:defRPr sz="1200">
                <a:solidFill>
                  <a:srgbClr val="888A9C"/>
                </a:solidFill>
                <a:latin typeface="Arial"/>
                <a:ea typeface="Arial"/>
                <a:cs typeface="Arial"/>
                <a:sym typeface="Arial"/>
              </a:defRPr>
            </a:lvl2pPr>
            <a:lvl3pPr indent="0" lvl="2" marL="0" algn="r">
              <a:spcBef>
                <a:spcPts val="0"/>
              </a:spcBef>
              <a:buNone/>
              <a:defRPr sz="1200">
                <a:solidFill>
                  <a:srgbClr val="888A9C"/>
                </a:solidFill>
                <a:latin typeface="Arial"/>
                <a:ea typeface="Arial"/>
                <a:cs typeface="Arial"/>
                <a:sym typeface="Arial"/>
              </a:defRPr>
            </a:lvl3pPr>
            <a:lvl4pPr indent="0" lvl="3" marL="0" algn="r">
              <a:spcBef>
                <a:spcPts val="0"/>
              </a:spcBef>
              <a:buNone/>
              <a:defRPr sz="1200">
                <a:solidFill>
                  <a:srgbClr val="888A9C"/>
                </a:solidFill>
                <a:latin typeface="Arial"/>
                <a:ea typeface="Arial"/>
                <a:cs typeface="Arial"/>
                <a:sym typeface="Arial"/>
              </a:defRPr>
            </a:lvl4pPr>
            <a:lvl5pPr indent="0" lvl="4" marL="0" algn="r">
              <a:spcBef>
                <a:spcPts val="0"/>
              </a:spcBef>
              <a:buNone/>
              <a:defRPr sz="1200">
                <a:solidFill>
                  <a:srgbClr val="888A9C"/>
                </a:solidFill>
                <a:latin typeface="Arial"/>
                <a:ea typeface="Arial"/>
                <a:cs typeface="Arial"/>
                <a:sym typeface="Arial"/>
              </a:defRPr>
            </a:lvl5pPr>
            <a:lvl6pPr indent="0" lvl="5" marL="0" algn="r">
              <a:spcBef>
                <a:spcPts val="0"/>
              </a:spcBef>
              <a:buNone/>
              <a:defRPr sz="1200">
                <a:solidFill>
                  <a:srgbClr val="888A9C"/>
                </a:solidFill>
                <a:latin typeface="Arial"/>
                <a:ea typeface="Arial"/>
                <a:cs typeface="Arial"/>
                <a:sym typeface="Arial"/>
              </a:defRPr>
            </a:lvl6pPr>
            <a:lvl7pPr indent="0" lvl="6" marL="0" algn="r">
              <a:spcBef>
                <a:spcPts val="0"/>
              </a:spcBef>
              <a:buNone/>
              <a:defRPr sz="1200">
                <a:solidFill>
                  <a:srgbClr val="888A9C"/>
                </a:solidFill>
                <a:latin typeface="Arial"/>
                <a:ea typeface="Arial"/>
                <a:cs typeface="Arial"/>
                <a:sym typeface="Arial"/>
              </a:defRPr>
            </a:lvl7pPr>
            <a:lvl8pPr indent="0" lvl="7" marL="0" algn="r">
              <a:spcBef>
                <a:spcPts val="0"/>
              </a:spcBef>
              <a:buNone/>
              <a:defRPr sz="1200">
                <a:solidFill>
                  <a:srgbClr val="888A9C"/>
                </a:solidFill>
                <a:latin typeface="Arial"/>
                <a:ea typeface="Arial"/>
                <a:cs typeface="Arial"/>
                <a:sym typeface="Arial"/>
              </a:defRPr>
            </a:lvl8pPr>
            <a:lvl9pPr indent="0" lvl="8" marL="0" algn="r">
              <a:spcBef>
                <a:spcPts val="0"/>
              </a:spcBef>
              <a:buNone/>
              <a:defRPr sz="1200">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6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5" name="Shape 55"/>
        <p:cNvGrpSpPr/>
        <p:nvPr/>
      </p:nvGrpSpPr>
      <p:grpSpPr>
        <a:xfrm>
          <a:off x="0" y="0"/>
          <a:ext cx="0" cy="0"/>
          <a:chOff x="0" y="0"/>
          <a:chExt cx="0" cy="0"/>
        </a:xfrm>
      </p:grpSpPr>
      <p:sp>
        <p:nvSpPr>
          <p:cNvPr id="56" name="Google Shape;56;p70"/>
          <p:cNvSpPr txBox="1"/>
          <p:nvPr/>
        </p:nvSpPr>
        <p:spPr>
          <a:xfrm>
            <a:off x="398189" y="6553224"/>
            <a:ext cx="562708" cy="12311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fld id="{00000000-1234-1234-1234-123412341234}" type="slidenum">
              <a:rPr lang="en-US" sz="800">
                <a:solidFill>
                  <a:srgbClr val="AFB1B4"/>
                </a:solidFill>
                <a:latin typeface="Arial"/>
                <a:ea typeface="Arial"/>
                <a:cs typeface="Arial"/>
                <a:sym typeface="Arial"/>
              </a:rPr>
              <a:t>‹#›</a:t>
            </a:fld>
            <a:endParaRPr sz="800">
              <a:solidFill>
                <a:srgbClr val="AFB1B4"/>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2"/>
          <p:cNvSpPr/>
          <p:nvPr/>
        </p:nvSpPr>
        <p:spPr>
          <a:xfrm>
            <a:off x="256034" y="265177"/>
            <a:ext cx="11683049" cy="6332433"/>
          </a:xfrm>
          <a:prstGeom prst="rect">
            <a:avLst/>
          </a:prstGeom>
          <a:solidFill>
            <a:srgbClr val="F7F7F7"/>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11" name="Google Shape;11;p62"/>
          <p:cNvCxnSpPr/>
          <p:nvPr/>
        </p:nvCxnSpPr>
        <p:spPr>
          <a:xfrm>
            <a:off x="604435" y="1491544"/>
            <a:ext cx="10983132" cy="0"/>
          </a:xfrm>
          <a:prstGeom prst="straightConnector1">
            <a:avLst/>
          </a:prstGeom>
          <a:noFill/>
          <a:ln cap="flat" cmpd="sng" w="25400">
            <a:solidFill>
              <a:srgbClr val="002060"/>
            </a:solidFill>
            <a:prstDash val="solid"/>
            <a:miter lim="800000"/>
            <a:headEnd len="sm" w="sm" type="none"/>
            <a:tailEnd len="sm" w="sm" type="none"/>
          </a:ln>
        </p:spPr>
      </p:cxnSp>
      <p:sp>
        <p:nvSpPr>
          <p:cNvPr id="12" name="Google Shape;12;p62"/>
          <p:cNvSpPr txBox="1"/>
          <p:nvPr>
            <p:ph type="title"/>
          </p:nvPr>
        </p:nvSpPr>
        <p:spPr>
          <a:xfrm>
            <a:off x="514115" y="365126"/>
            <a:ext cx="11073452" cy="108171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2060"/>
              </a:buClr>
              <a:buSzPts val="2000"/>
              <a:buFont typeface="Arial"/>
              <a:buNone/>
              <a:defRPr b="1" i="0" sz="2000" u="none" cap="none" strike="noStrike">
                <a:solidFill>
                  <a:srgbClr val="002060"/>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62"/>
          <p:cNvSpPr txBox="1"/>
          <p:nvPr>
            <p:ph idx="1" type="body"/>
          </p:nvPr>
        </p:nvSpPr>
        <p:spPr>
          <a:xfrm>
            <a:off x="508319" y="1660968"/>
            <a:ext cx="11079248" cy="157993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002060"/>
              </a:buClr>
              <a:buSzPts val="1600"/>
              <a:buFont typeface="Arial"/>
              <a:buNone/>
              <a:defRPr b="0" i="0" sz="1600" u="none" cap="none" strike="noStrike">
                <a:solidFill>
                  <a:srgbClr val="002060"/>
                </a:solidFill>
                <a:latin typeface="Arial"/>
                <a:ea typeface="Arial"/>
                <a:cs typeface="Arial"/>
                <a:sym typeface="Arial"/>
              </a:defRPr>
            </a:lvl1pPr>
            <a:lvl2pPr indent="-330200" lvl="1" marL="914400" marR="0" rtl="0" algn="l">
              <a:lnSpc>
                <a:spcPct val="90000"/>
              </a:lnSpc>
              <a:spcBef>
                <a:spcPts val="500"/>
              </a:spcBef>
              <a:spcAft>
                <a:spcPts val="0"/>
              </a:spcAft>
              <a:buClr>
                <a:srgbClr val="002060"/>
              </a:buClr>
              <a:buSzPts val="1600"/>
              <a:buFont typeface="Arial"/>
              <a:buChar char="•"/>
              <a:defRPr b="0" i="0" sz="1600" u="none" cap="none" strike="noStrike">
                <a:solidFill>
                  <a:srgbClr val="002060"/>
                </a:solidFill>
                <a:latin typeface="Arial"/>
                <a:ea typeface="Arial"/>
                <a:cs typeface="Arial"/>
                <a:sym typeface="Arial"/>
              </a:defRPr>
            </a:lvl2pPr>
            <a:lvl3pPr indent="-330200" lvl="2" marL="1371600" marR="0" rtl="0" algn="l">
              <a:lnSpc>
                <a:spcPct val="90000"/>
              </a:lnSpc>
              <a:spcBef>
                <a:spcPts val="500"/>
              </a:spcBef>
              <a:spcAft>
                <a:spcPts val="0"/>
              </a:spcAft>
              <a:buClr>
                <a:srgbClr val="002060"/>
              </a:buClr>
              <a:buSzPts val="1600"/>
              <a:buFont typeface="Arial"/>
              <a:buChar char="•"/>
              <a:defRPr b="0" i="0" sz="1600" u="none" cap="none" strike="noStrike">
                <a:solidFill>
                  <a:srgbClr val="002060"/>
                </a:solidFill>
                <a:latin typeface="Arial"/>
                <a:ea typeface="Arial"/>
                <a:cs typeface="Arial"/>
                <a:sym typeface="Arial"/>
              </a:defRPr>
            </a:lvl3pPr>
            <a:lvl4pPr indent="-330200" lvl="3" marL="1828800" marR="0" rtl="0" algn="l">
              <a:lnSpc>
                <a:spcPct val="90000"/>
              </a:lnSpc>
              <a:spcBef>
                <a:spcPts val="500"/>
              </a:spcBef>
              <a:spcAft>
                <a:spcPts val="0"/>
              </a:spcAft>
              <a:buClr>
                <a:srgbClr val="002060"/>
              </a:buClr>
              <a:buSzPts val="1600"/>
              <a:buFont typeface="Arial"/>
              <a:buChar char="•"/>
              <a:defRPr b="0" i="0" sz="1600" u="none" cap="none" strike="noStrike">
                <a:solidFill>
                  <a:srgbClr val="002060"/>
                </a:solidFill>
                <a:latin typeface="Arial"/>
                <a:ea typeface="Arial"/>
                <a:cs typeface="Arial"/>
                <a:sym typeface="Arial"/>
              </a:defRPr>
            </a:lvl4pPr>
            <a:lvl5pPr indent="-330200" lvl="4" marL="2286000" marR="0" rtl="0" algn="l">
              <a:lnSpc>
                <a:spcPct val="90000"/>
              </a:lnSpc>
              <a:spcBef>
                <a:spcPts val="500"/>
              </a:spcBef>
              <a:spcAft>
                <a:spcPts val="0"/>
              </a:spcAft>
              <a:buClr>
                <a:srgbClr val="002060"/>
              </a:buClr>
              <a:buSzPts val="1600"/>
              <a:buFont typeface="Arial"/>
              <a:buChar char="•"/>
              <a:defRPr b="0" i="0" sz="1600" u="none" cap="none" strike="noStrike">
                <a:solidFill>
                  <a:srgbClr val="00206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4" name="Google Shape;14;p62"/>
          <p:cNvSpPr txBox="1"/>
          <p:nvPr>
            <p:ph idx="12" type="sldNum"/>
          </p:nvPr>
        </p:nvSpPr>
        <p:spPr>
          <a:xfrm>
            <a:off x="9181195" y="6632714"/>
            <a:ext cx="2743200" cy="18756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A9C"/>
                </a:solidFill>
                <a:latin typeface="Arial"/>
                <a:ea typeface="Arial"/>
                <a:cs typeface="Arial"/>
                <a:sym typeface="Arial"/>
              </a:defRPr>
            </a:lvl1pPr>
            <a:lvl2pPr indent="0" lvl="1" marL="0" marR="0" rtl="0" algn="r">
              <a:spcBef>
                <a:spcPts val="0"/>
              </a:spcBef>
              <a:buNone/>
              <a:defRPr b="0" i="0" sz="1200" u="none" cap="none" strike="noStrike">
                <a:solidFill>
                  <a:srgbClr val="888A9C"/>
                </a:solidFill>
                <a:latin typeface="Arial"/>
                <a:ea typeface="Arial"/>
                <a:cs typeface="Arial"/>
                <a:sym typeface="Arial"/>
              </a:defRPr>
            </a:lvl2pPr>
            <a:lvl3pPr indent="0" lvl="2" marL="0" marR="0" rtl="0" algn="r">
              <a:spcBef>
                <a:spcPts val="0"/>
              </a:spcBef>
              <a:buNone/>
              <a:defRPr b="0" i="0" sz="1200" u="none" cap="none" strike="noStrike">
                <a:solidFill>
                  <a:srgbClr val="888A9C"/>
                </a:solidFill>
                <a:latin typeface="Arial"/>
                <a:ea typeface="Arial"/>
                <a:cs typeface="Arial"/>
                <a:sym typeface="Arial"/>
              </a:defRPr>
            </a:lvl3pPr>
            <a:lvl4pPr indent="0" lvl="3" marL="0" marR="0" rtl="0" algn="r">
              <a:spcBef>
                <a:spcPts val="0"/>
              </a:spcBef>
              <a:buNone/>
              <a:defRPr b="0" i="0" sz="1200" u="none" cap="none" strike="noStrike">
                <a:solidFill>
                  <a:srgbClr val="888A9C"/>
                </a:solidFill>
                <a:latin typeface="Arial"/>
                <a:ea typeface="Arial"/>
                <a:cs typeface="Arial"/>
                <a:sym typeface="Arial"/>
              </a:defRPr>
            </a:lvl4pPr>
            <a:lvl5pPr indent="0" lvl="4" marL="0" marR="0" rtl="0" algn="r">
              <a:spcBef>
                <a:spcPts val="0"/>
              </a:spcBef>
              <a:buNone/>
              <a:defRPr b="0" i="0" sz="1200" u="none" cap="none" strike="noStrike">
                <a:solidFill>
                  <a:srgbClr val="888A9C"/>
                </a:solidFill>
                <a:latin typeface="Arial"/>
                <a:ea typeface="Arial"/>
                <a:cs typeface="Arial"/>
                <a:sym typeface="Arial"/>
              </a:defRPr>
            </a:lvl5pPr>
            <a:lvl6pPr indent="0" lvl="5" marL="0" marR="0" rtl="0" algn="r">
              <a:spcBef>
                <a:spcPts val="0"/>
              </a:spcBef>
              <a:buNone/>
              <a:defRPr b="0" i="0" sz="1200" u="none" cap="none" strike="noStrike">
                <a:solidFill>
                  <a:srgbClr val="888A9C"/>
                </a:solidFill>
                <a:latin typeface="Arial"/>
                <a:ea typeface="Arial"/>
                <a:cs typeface="Arial"/>
                <a:sym typeface="Arial"/>
              </a:defRPr>
            </a:lvl6pPr>
            <a:lvl7pPr indent="0" lvl="6" marL="0" marR="0" rtl="0" algn="r">
              <a:spcBef>
                <a:spcPts val="0"/>
              </a:spcBef>
              <a:buNone/>
              <a:defRPr b="0" i="0" sz="1200" u="none" cap="none" strike="noStrike">
                <a:solidFill>
                  <a:srgbClr val="888A9C"/>
                </a:solidFill>
                <a:latin typeface="Arial"/>
                <a:ea typeface="Arial"/>
                <a:cs typeface="Arial"/>
                <a:sym typeface="Arial"/>
              </a:defRPr>
            </a:lvl7pPr>
            <a:lvl8pPr indent="0" lvl="7" marL="0" marR="0" rtl="0" algn="r">
              <a:spcBef>
                <a:spcPts val="0"/>
              </a:spcBef>
              <a:buNone/>
              <a:defRPr b="0" i="0" sz="1200" u="none" cap="none" strike="noStrike">
                <a:solidFill>
                  <a:srgbClr val="888A9C"/>
                </a:solidFill>
                <a:latin typeface="Arial"/>
                <a:ea typeface="Arial"/>
                <a:cs typeface="Arial"/>
                <a:sym typeface="Arial"/>
              </a:defRPr>
            </a:lvl8pPr>
            <a:lvl9pPr indent="0" lvl="8" marL="0" marR="0" rtl="0" algn="r">
              <a:spcBef>
                <a:spcPts val="0"/>
              </a:spcBef>
              <a:buNone/>
              <a:defRPr b="0" i="0" sz="1200" u="none" cap="none" strike="noStrike">
                <a:solidFill>
                  <a:srgbClr val="888A9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
          <p:cNvSpPr txBox="1"/>
          <p:nvPr>
            <p:ph type="title"/>
          </p:nvPr>
        </p:nvSpPr>
        <p:spPr>
          <a:xfrm>
            <a:off x="502541" y="810229"/>
            <a:ext cx="10256128" cy="166096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Arial"/>
              <a:buNone/>
            </a:pPr>
            <a:r>
              <a:rPr lang="en-US" sz="6000"/>
              <a:t>Sales Strategy &amp; Plan</a:t>
            </a:r>
            <a:br>
              <a:rPr lang="en-US" sz="6000"/>
            </a:br>
            <a:r>
              <a:rPr lang="en-US" sz="3600"/>
              <a:t>Insert Company Name</a:t>
            </a:r>
            <a:endParaRPr sz="6000"/>
          </a:p>
        </p:txBody>
      </p:sp>
      <p:sp>
        <p:nvSpPr>
          <p:cNvPr id="62" name="Google Shape;62;p1"/>
          <p:cNvSpPr txBox="1"/>
          <p:nvPr>
            <p:ph idx="1" type="body"/>
          </p:nvPr>
        </p:nvSpPr>
        <p:spPr>
          <a:xfrm>
            <a:off x="503240" y="3280961"/>
            <a:ext cx="10313987" cy="1620957"/>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rgbClr val="002060"/>
              </a:buClr>
              <a:buSzPts val="1600"/>
              <a:buNone/>
            </a:pPr>
            <a:r>
              <a:rPr b="1" lang="en-US" sz="1600"/>
              <a:t>CEO: </a:t>
            </a:r>
            <a:r>
              <a:rPr lang="en-US" sz="1600"/>
              <a:t>insert your own text</a:t>
            </a:r>
            <a:endParaRPr/>
          </a:p>
          <a:p>
            <a:pPr indent="0" lvl="0" marL="0" rtl="0" algn="l">
              <a:lnSpc>
                <a:spcPct val="90000"/>
              </a:lnSpc>
              <a:spcBef>
                <a:spcPts val="1000"/>
              </a:spcBef>
              <a:spcAft>
                <a:spcPts val="0"/>
              </a:spcAft>
              <a:buClr>
                <a:srgbClr val="002060"/>
              </a:buClr>
              <a:buSzPts val="1600"/>
              <a:buNone/>
            </a:pPr>
            <a:r>
              <a:rPr b="1" lang="en-US" sz="1600"/>
              <a:t>Chief Sales Officer: </a:t>
            </a:r>
            <a:r>
              <a:rPr lang="en-US" sz="1600"/>
              <a:t>insert your own text</a:t>
            </a:r>
            <a:endParaRPr/>
          </a:p>
          <a:p>
            <a:pPr indent="0" lvl="0" marL="0" rtl="0" algn="l">
              <a:lnSpc>
                <a:spcPct val="90000"/>
              </a:lnSpc>
              <a:spcBef>
                <a:spcPts val="1000"/>
              </a:spcBef>
              <a:spcAft>
                <a:spcPts val="0"/>
              </a:spcAft>
              <a:buClr>
                <a:srgbClr val="002060"/>
              </a:buClr>
              <a:buSzPts val="1600"/>
              <a:buNone/>
            </a:pPr>
            <a:r>
              <a:rPr b="1" lang="en-US" sz="1600"/>
              <a:t>Date: </a:t>
            </a:r>
            <a:r>
              <a:rPr lang="en-US" sz="1600"/>
              <a:t>insert your own text</a:t>
            </a:r>
            <a:endParaRPr/>
          </a:p>
          <a:p>
            <a:pPr indent="0" lvl="0" marL="0" rtl="0" algn="l">
              <a:lnSpc>
                <a:spcPct val="90000"/>
              </a:lnSpc>
              <a:spcBef>
                <a:spcPts val="1000"/>
              </a:spcBef>
              <a:spcAft>
                <a:spcPts val="0"/>
              </a:spcAft>
              <a:buClr>
                <a:srgbClr val="002060"/>
              </a:buClr>
              <a:buSzPts val="1600"/>
              <a:buNone/>
            </a:pPr>
            <a:r>
              <a:rPr b="1" lang="en-US" sz="1600"/>
              <a:t>Version: </a:t>
            </a:r>
            <a:r>
              <a:rPr lang="en-US" sz="1600"/>
              <a:t>insert your own text</a:t>
            </a:r>
            <a:endParaRPr/>
          </a:p>
          <a:p>
            <a:pPr indent="0" lvl="0" marL="0" rtl="0" algn="l">
              <a:lnSpc>
                <a:spcPct val="90000"/>
              </a:lnSpc>
              <a:spcBef>
                <a:spcPts val="1000"/>
              </a:spcBef>
              <a:spcAft>
                <a:spcPts val="0"/>
              </a:spcAft>
              <a:buClr>
                <a:srgbClr val="002060"/>
              </a:buClr>
              <a:buSzPts val="1600"/>
              <a:buNone/>
            </a:pPr>
            <a:r>
              <a:rPr b="1" lang="en-US" sz="1600"/>
              <a:t>Contact Email: </a:t>
            </a:r>
            <a:r>
              <a:rPr lang="en-US" sz="1600"/>
              <a:t>insert your own text</a:t>
            </a:r>
            <a:endParaRPr/>
          </a:p>
        </p:txBody>
      </p:sp>
      <p:grpSp>
        <p:nvGrpSpPr>
          <p:cNvPr id="63" name="Google Shape;63;p1"/>
          <p:cNvGrpSpPr/>
          <p:nvPr/>
        </p:nvGrpSpPr>
        <p:grpSpPr>
          <a:xfrm>
            <a:off x="-1122" y="6570"/>
            <a:ext cx="1493372" cy="1459010"/>
            <a:chOff x="-9097" y="-23336"/>
            <a:chExt cx="974935" cy="952500"/>
          </a:xfrm>
        </p:grpSpPr>
        <p:sp>
          <p:nvSpPr>
            <p:cNvPr id="64" name="Google Shape;64;p1"/>
            <p:cNvSpPr/>
            <p:nvPr/>
          </p:nvSpPr>
          <p:spPr>
            <a:xfrm>
              <a:off x="-7091" y="-23336"/>
              <a:ext cx="972929" cy="952500"/>
            </a:xfrm>
            <a:prstGeom prst="diagStripe">
              <a:avLst>
                <a:gd fmla="val 61073" name="adj"/>
              </a:avLst>
            </a:prstGeom>
            <a:gradFill>
              <a:gsLst>
                <a:gs pos="0">
                  <a:srgbClr val="FFFFFF"/>
                </a:gs>
                <a:gs pos="34000">
                  <a:srgbClr val="FFFFFF"/>
                </a:gs>
                <a:gs pos="100000">
                  <a:srgbClr val="D8D8D8"/>
                </a:gs>
              </a:gsLst>
              <a:path path="circle">
                <a:fillToRect b="50%" l="50%" r="50%" t="50%"/>
              </a:path>
              <a:tileRect/>
            </a:gradFill>
            <a:ln>
              <a:noFill/>
            </a:ln>
            <a:effectLst>
              <a:outerShdw blurRad="50800" rotWithShape="0" dir="5400000" dist="127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 name="Google Shape;65;p1"/>
            <p:cNvSpPr txBox="1"/>
            <p:nvPr/>
          </p:nvSpPr>
          <p:spPr>
            <a:xfrm rot="-2651801">
              <a:off x="20409" y="266480"/>
              <a:ext cx="702416" cy="1808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1D4B6D"/>
                </a:buClr>
                <a:buSzPts val="1200"/>
                <a:buFont typeface="Arial"/>
                <a:buNone/>
              </a:pPr>
              <a:r>
                <a:rPr b="1" i="0" lang="en-US" sz="1200" u="none" cap="none" strike="noStrike">
                  <a:solidFill>
                    <a:srgbClr val="1D4B6D"/>
                  </a:solidFill>
                  <a:latin typeface="Arial"/>
                  <a:ea typeface="Arial"/>
                  <a:cs typeface="Arial"/>
                  <a:sym typeface="Arial"/>
                </a:rPr>
                <a:t>Confidential</a:t>
              </a:r>
              <a:endParaRPr/>
            </a:p>
          </p:txBody>
        </p:sp>
        <p:cxnSp>
          <p:nvCxnSpPr>
            <p:cNvPr id="66" name="Google Shape;66;p1"/>
            <p:cNvCxnSpPr/>
            <p:nvPr/>
          </p:nvCxnSpPr>
          <p:spPr>
            <a:xfrm flipH="1">
              <a:off x="-9097" y="-22860"/>
              <a:ext cx="623270" cy="623272"/>
            </a:xfrm>
            <a:prstGeom prst="straightConnector1">
              <a:avLst/>
            </a:prstGeom>
            <a:noFill/>
            <a:ln cap="flat" cmpd="sng" w="9525">
              <a:solidFill>
                <a:srgbClr val="3692D4"/>
              </a:solidFill>
              <a:prstDash val="dash"/>
              <a:round/>
              <a:headEnd len="sm" w="sm" type="none"/>
              <a:tailEnd len="sm" w="sm" type="none"/>
            </a:ln>
          </p:spPr>
        </p:cxnSp>
        <p:cxnSp>
          <p:nvCxnSpPr>
            <p:cNvPr id="67" name="Google Shape;67;p1"/>
            <p:cNvCxnSpPr/>
            <p:nvPr/>
          </p:nvCxnSpPr>
          <p:spPr>
            <a:xfrm flipH="1">
              <a:off x="-7091" y="-22860"/>
              <a:ext cx="921493" cy="893213"/>
            </a:xfrm>
            <a:prstGeom prst="straightConnector1">
              <a:avLst/>
            </a:prstGeom>
            <a:noFill/>
            <a:ln cap="flat" cmpd="sng" w="9525">
              <a:solidFill>
                <a:srgbClr val="3692D4"/>
              </a:solidFill>
              <a:prstDash val="dash"/>
              <a:round/>
              <a:headEnd len="sm" w="sm" type="none"/>
              <a:tailEnd len="sm" w="sm" type="none"/>
            </a:ln>
          </p:spPr>
        </p:cxnSp>
      </p:grpSp>
      <p:sp>
        <p:nvSpPr>
          <p:cNvPr id="68" name="Google Shape;68;p1"/>
          <p:cNvSpPr/>
          <p:nvPr/>
        </p:nvSpPr>
        <p:spPr>
          <a:xfrm>
            <a:off x="7347939" y="3758918"/>
            <a:ext cx="3733800" cy="1143000"/>
          </a:xfrm>
          <a:prstGeom prst="wedgeRoundRectCallout">
            <a:avLst>
              <a:gd fmla="val -5573" name="adj1"/>
              <a:gd fmla="val 90264"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050" u="none" cap="none" strike="noStrike">
                <a:solidFill>
                  <a:srgbClr val="0C2870"/>
                </a:solidFill>
                <a:latin typeface="Arial"/>
                <a:ea typeface="Arial"/>
                <a:cs typeface="Arial"/>
                <a:sym typeface="Arial"/>
              </a:rPr>
              <a:t>Replace this logo by your own logo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Executive Summary</a:t>
            </a:r>
            <a:endParaRPr/>
          </a:p>
        </p:txBody>
      </p:sp>
      <p:sp>
        <p:nvSpPr>
          <p:cNvPr id="74" name="Google Shape;74;p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75" name="Google Shape;75;p2"/>
          <p:cNvSpPr/>
          <p:nvPr/>
        </p:nvSpPr>
        <p:spPr>
          <a:xfrm>
            <a:off x="604837" y="1661038"/>
            <a:ext cx="1811795" cy="749798"/>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200" u="none" cap="none" strike="noStrike">
                <a:solidFill>
                  <a:schemeClr val="lt1"/>
                </a:solidFill>
                <a:latin typeface="Arial"/>
                <a:ea typeface="Arial"/>
                <a:cs typeface="Arial"/>
                <a:sym typeface="Arial"/>
              </a:rPr>
              <a:t>Mission &amp; Vision</a:t>
            </a:r>
            <a:endParaRPr/>
          </a:p>
        </p:txBody>
      </p:sp>
      <p:sp>
        <p:nvSpPr>
          <p:cNvPr id="76" name="Google Shape;76;p2"/>
          <p:cNvSpPr/>
          <p:nvPr/>
        </p:nvSpPr>
        <p:spPr>
          <a:xfrm>
            <a:off x="2484182" y="1661038"/>
            <a:ext cx="9102981" cy="74979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dk1"/>
                </a:solidFill>
                <a:latin typeface="Arial"/>
                <a:ea typeface="Arial"/>
                <a:cs typeface="Arial"/>
                <a:sym typeface="Arial"/>
              </a:rPr>
              <a:t>Mission: </a:t>
            </a:r>
            <a:r>
              <a:rPr b="0" i="0" lang="en-US" sz="1100" u="none" cap="none" strike="noStrike">
                <a:solidFill>
                  <a:schemeClr val="dk1"/>
                </a:solidFill>
                <a:latin typeface="Arial"/>
                <a:ea typeface="Arial"/>
                <a:cs typeface="Arial"/>
                <a:sym typeface="Arial"/>
              </a:rPr>
              <a:t>Insert your own text</a:t>
            </a:r>
            <a:endParaRPr b="1" sz="1100">
              <a:solidFill>
                <a:schemeClr val="dk1"/>
              </a:solidFill>
              <a:latin typeface="Arial"/>
              <a:ea typeface="Arial"/>
              <a:cs typeface="Arial"/>
              <a:sym typeface="Arial"/>
            </a:endParaRPr>
          </a:p>
          <a:p>
            <a:pPr indent="0" lvl="0" marL="0" marR="0" rtl="0" algn="l">
              <a:spcBef>
                <a:spcPts val="0"/>
              </a:spcBef>
              <a:spcAft>
                <a:spcPts val="0"/>
              </a:spcAft>
              <a:buNone/>
            </a:pPr>
            <a:r>
              <a:rPr b="1" lang="en-US" sz="1100">
                <a:solidFill>
                  <a:schemeClr val="dk1"/>
                </a:solidFill>
                <a:latin typeface="Arial"/>
                <a:ea typeface="Arial"/>
                <a:cs typeface="Arial"/>
                <a:sym typeface="Arial"/>
              </a:rPr>
              <a:t>Vision: </a:t>
            </a:r>
            <a:r>
              <a:rPr lang="en-US" sz="1100">
                <a:solidFill>
                  <a:schemeClr val="dk1"/>
                </a:solidFill>
                <a:latin typeface="Arial"/>
                <a:ea typeface="Arial"/>
                <a:cs typeface="Arial"/>
                <a:sym typeface="Arial"/>
              </a:rPr>
              <a:t>Insert your own text</a:t>
            </a:r>
            <a:endParaRPr b="1" sz="1100">
              <a:solidFill>
                <a:schemeClr val="dk1"/>
              </a:solidFill>
              <a:latin typeface="Arial"/>
              <a:ea typeface="Arial"/>
              <a:cs typeface="Arial"/>
              <a:sym typeface="Arial"/>
            </a:endParaRPr>
          </a:p>
        </p:txBody>
      </p:sp>
      <p:sp>
        <p:nvSpPr>
          <p:cNvPr id="77" name="Google Shape;77;p2"/>
          <p:cNvSpPr/>
          <p:nvPr/>
        </p:nvSpPr>
        <p:spPr>
          <a:xfrm>
            <a:off x="604837" y="2456271"/>
            <a:ext cx="1811795" cy="749798"/>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Sales Strategic Objectives</a:t>
            </a:r>
            <a:endParaRPr/>
          </a:p>
        </p:txBody>
      </p:sp>
      <p:sp>
        <p:nvSpPr>
          <p:cNvPr id="78" name="Google Shape;78;p2"/>
          <p:cNvSpPr/>
          <p:nvPr/>
        </p:nvSpPr>
        <p:spPr>
          <a:xfrm>
            <a:off x="2484182" y="2456271"/>
            <a:ext cx="9102981" cy="74979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100">
              <a:solidFill>
                <a:schemeClr val="dk1"/>
              </a:solidFill>
              <a:latin typeface="Arial"/>
              <a:ea typeface="Arial"/>
              <a:cs typeface="Arial"/>
              <a:sym typeface="Arial"/>
            </a:endParaRPr>
          </a:p>
        </p:txBody>
      </p:sp>
      <p:sp>
        <p:nvSpPr>
          <p:cNvPr id="79" name="Google Shape;79;p2"/>
          <p:cNvSpPr/>
          <p:nvPr/>
        </p:nvSpPr>
        <p:spPr>
          <a:xfrm>
            <a:off x="2713727" y="2555348"/>
            <a:ext cx="2350140" cy="551646"/>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Insert strategic objective #1</a:t>
            </a:r>
            <a:endParaRPr/>
          </a:p>
        </p:txBody>
      </p:sp>
      <p:sp>
        <p:nvSpPr>
          <p:cNvPr id="80" name="Google Shape;80;p2"/>
          <p:cNvSpPr/>
          <p:nvPr/>
        </p:nvSpPr>
        <p:spPr>
          <a:xfrm>
            <a:off x="5889177" y="2555348"/>
            <a:ext cx="2350140" cy="551646"/>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Insert strategic objective #2</a:t>
            </a:r>
            <a:endParaRPr/>
          </a:p>
        </p:txBody>
      </p:sp>
      <p:sp>
        <p:nvSpPr>
          <p:cNvPr id="81" name="Google Shape;81;p2"/>
          <p:cNvSpPr/>
          <p:nvPr/>
        </p:nvSpPr>
        <p:spPr>
          <a:xfrm>
            <a:off x="9064625" y="2555348"/>
            <a:ext cx="2350140" cy="551646"/>
          </a:xfrm>
          <a:prstGeom prst="ellipse">
            <a:avLst/>
          </a:prstGeom>
          <a:solidFill>
            <a:schemeClr val="lt1"/>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chemeClr val="dk1"/>
                </a:solidFill>
                <a:latin typeface="Arial"/>
                <a:ea typeface="Arial"/>
                <a:cs typeface="Arial"/>
                <a:sym typeface="Arial"/>
              </a:rPr>
              <a:t>Insert strategic objective #3</a:t>
            </a:r>
            <a:endParaRPr/>
          </a:p>
        </p:txBody>
      </p:sp>
      <p:sp>
        <p:nvSpPr>
          <p:cNvPr id="82" name="Google Shape;82;p2"/>
          <p:cNvSpPr/>
          <p:nvPr/>
        </p:nvSpPr>
        <p:spPr>
          <a:xfrm>
            <a:off x="604837" y="4046737"/>
            <a:ext cx="1811795" cy="749798"/>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Product, Price &amp; Promotion</a:t>
            </a:r>
            <a:endParaRPr/>
          </a:p>
        </p:txBody>
      </p:sp>
      <p:sp>
        <p:nvSpPr>
          <p:cNvPr id="83" name="Google Shape;83;p2"/>
          <p:cNvSpPr/>
          <p:nvPr/>
        </p:nvSpPr>
        <p:spPr>
          <a:xfrm>
            <a:off x="2484182" y="4046737"/>
            <a:ext cx="9102981" cy="74979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chemeClr val="dk1"/>
                </a:solidFill>
                <a:latin typeface="Arial"/>
                <a:ea typeface="Arial"/>
                <a:cs typeface="Arial"/>
                <a:sym typeface="Arial"/>
              </a:rPr>
              <a:t>Product: </a:t>
            </a:r>
            <a:r>
              <a:rPr lang="en-US" sz="1050">
                <a:solidFill>
                  <a:schemeClr val="dk1"/>
                </a:solidFill>
                <a:latin typeface="Arial"/>
                <a:ea typeface="Arial"/>
                <a:cs typeface="Arial"/>
                <a:sym typeface="Arial"/>
              </a:rPr>
              <a:t>Insert your own text</a:t>
            </a:r>
            <a:endParaRPr b="1" sz="1050">
              <a:solidFill>
                <a:schemeClr val="dk1"/>
              </a:solidFill>
              <a:latin typeface="Arial"/>
              <a:ea typeface="Arial"/>
              <a:cs typeface="Arial"/>
              <a:sym typeface="Arial"/>
            </a:endParaRPr>
          </a:p>
          <a:p>
            <a:pPr indent="0" lvl="0" marL="0" marR="0" rtl="0" algn="l">
              <a:spcBef>
                <a:spcPts val="0"/>
              </a:spcBef>
              <a:spcAft>
                <a:spcPts val="0"/>
              </a:spcAft>
              <a:buNone/>
            </a:pPr>
            <a:r>
              <a:rPr b="1" lang="en-US" sz="1050">
                <a:solidFill>
                  <a:schemeClr val="dk1"/>
                </a:solidFill>
                <a:latin typeface="Arial"/>
                <a:ea typeface="Arial"/>
                <a:cs typeface="Arial"/>
                <a:sym typeface="Arial"/>
              </a:rPr>
              <a:t>Price: </a:t>
            </a:r>
            <a:r>
              <a:rPr lang="en-US" sz="1050">
                <a:solidFill>
                  <a:schemeClr val="dk1"/>
                </a:solidFill>
                <a:latin typeface="Arial"/>
                <a:ea typeface="Arial"/>
                <a:cs typeface="Arial"/>
                <a:sym typeface="Arial"/>
              </a:rPr>
              <a:t>Insert your own text</a:t>
            </a:r>
            <a:endParaRPr b="1" sz="1050">
              <a:solidFill>
                <a:schemeClr val="dk1"/>
              </a:solidFill>
              <a:latin typeface="Arial"/>
              <a:ea typeface="Arial"/>
              <a:cs typeface="Arial"/>
              <a:sym typeface="Arial"/>
            </a:endParaRPr>
          </a:p>
          <a:p>
            <a:pPr indent="0" lvl="0" marL="0" marR="0" rtl="0" algn="l">
              <a:spcBef>
                <a:spcPts val="0"/>
              </a:spcBef>
              <a:spcAft>
                <a:spcPts val="0"/>
              </a:spcAft>
              <a:buNone/>
            </a:pPr>
            <a:r>
              <a:rPr b="1" lang="en-US" sz="1050">
                <a:solidFill>
                  <a:schemeClr val="dk1"/>
                </a:solidFill>
                <a:latin typeface="Arial"/>
                <a:ea typeface="Arial"/>
                <a:cs typeface="Arial"/>
                <a:sym typeface="Arial"/>
              </a:rPr>
              <a:t>Promotion: </a:t>
            </a:r>
            <a:r>
              <a:rPr lang="en-US" sz="1050">
                <a:solidFill>
                  <a:schemeClr val="dk1"/>
                </a:solidFill>
                <a:latin typeface="Arial"/>
                <a:ea typeface="Arial"/>
                <a:cs typeface="Arial"/>
                <a:sym typeface="Arial"/>
              </a:rPr>
              <a:t>Insert your own text</a:t>
            </a:r>
            <a:endParaRPr sz="1050">
              <a:solidFill>
                <a:schemeClr val="dk1"/>
              </a:solidFill>
              <a:latin typeface="Arial"/>
              <a:ea typeface="Arial"/>
              <a:cs typeface="Arial"/>
              <a:sym typeface="Arial"/>
            </a:endParaRPr>
          </a:p>
        </p:txBody>
      </p:sp>
      <p:sp>
        <p:nvSpPr>
          <p:cNvPr id="84" name="Google Shape;84;p2"/>
          <p:cNvSpPr/>
          <p:nvPr/>
        </p:nvSpPr>
        <p:spPr>
          <a:xfrm>
            <a:off x="604837" y="3251504"/>
            <a:ext cx="1811795" cy="749798"/>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Key Initiatives</a:t>
            </a:r>
            <a:endParaRPr/>
          </a:p>
        </p:txBody>
      </p:sp>
      <p:sp>
        <p:nvSpPr>
          <p:cNvPr id="85" name="Google Shape;85;p2"/>
          <p:cNvSpPr/>
          <p:nvPr/>
        </p:nvSpPr>
        <p:spPr>
          <a:xfrm>
            <a:off x="2484182" y="3251504"/>
            <a:ext cx="9102981" cy="74979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dk1"/>
              </a:solidFill>
              <a:latin typeface="Arial"/>
              <a:ea typeface="Arial"/>
              <a:cs typeface="Arial"/>
              <a:sym typeface="Arial"/>
            </a:endParaRPr>
          </a:p>
        </p:txBody>
      </p:sp>
      <p:sp>
        <p:nvSpPr>
          <p:cNvPr id="86" name="Google Shape;86;p2"/>
          <p:cNvSpPr txBox="1"/>
          <p:nvPr/>
        </p:nvSpPr>
        <p:spPr>
          <a:xfrm>
            <a:off x="2650902" y="3272460"/>
            <a:ext cx="2475789"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p:txBody>
      </p:sp>
      <p:sp>
        <p:nvSpPr>
          <p:cNvPr id="87" name="Google Shape;87;p2"/>
          <p:cNvSpPr txBox="1"/>
          <p:nvPr/>
        </p:nvSpPr>
        <p:spPr>
          <a:xfrm>
            <a:off x="5797018" y="3272460"/>
            <a:ext cx="2475789"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p:txBody>
      </p:sp>
      <p:sp>
        <p:nvSpPr>
          <p:cNvPr id="88" name="Google Shape;88;p2"/>
          <p:cNvSpPr txBox="1"/>
          <p:nvPr/>
        </p:nvSpPr>
        <p:spPr>
          <a:xfrm>
            <a:off x="8966718" y="3272460"/>
            <a:ext cx="2475789"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a:p>
            <a:pPr indent="0" lvl="0" marL="0" marR="0" rtl="0" algn="ctr">
              <a:spcBef>
                <a:spcPts val="0"/>
              </a:spcBef>
              <a:spcAft>
                <a:spcPts val="0"/>
              </a:spcAft>
              <a:buNone/>
            </a:pPr>
            <a:r>
              <a:rPr lang="en-US" sz="1000">
                <a:solidFill>
                  <a:schemeClr val="dk1"/>
                </a:solidFill>
                <a:latin typeface="Arial"/>
                <a:ea typeface="Arial"/>
                <a:cs typeface="Arial"/>
                <a:sym typeface="Arial"/>
              </a:rPr>
              <a:t>Insert your own text</a:t>
            </a:r>
            <a:endParaRPr/>
          </a:p>
        </p:txBody>
      </p:sp>
      <p:sp>
        <p:nvSpPr>
          <p:cNvPr id="89" name="Google Shape;89;p2"/>
          <p:cNvSpPr/>
          <p:nvPr/>
        </p:nvSpPr>
        <p:spPr>
          <a:xfrm>
            <a:off x="604837" y="4841970"/>
            <a:ext cx="1811795" cy="749798"/>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Sales Channel Model &amp; Strategy</a:t>
            </a:r>
            <a:endParaRPr/>
          </a:p>
        </p:txBody>
      </p:sp>
      <p:sp>
        <p:nvSpPr>
          <p:cNvPr id="90" name="Google Shape;90;p2"/>
          <p:cNvSpPr/>
          <p:nvPr/>
        </p:nvSpPr>
        <p:spPr>
          <a:xfrm>
            <a:off x="2484182" y="4841970"/>
            <a:ext cx="9102981" cy="74979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Sales Channel Model: </a:t>
            </a:r>
            <a:r>
              <a:rPr lang="en-US" sz="1100">
                <a:solidFill>
                  <a:schemeClr val="dk1"/>
                </a:solidFill>
                <a:latin typeface="Arial"/>
                <a:ea typeface="Arial"/>
                <a:cs typeface="Arial"/>
                <a:sym typeface="Arial"/>
              </a:rPr>
              <a:t>Insert your own text</a:t>
            </a:r>
            <a:endParaRPr b="1" sz="1100">
              <a:solidFill>
                <a:schemeClr val="dk1"/>
              </a:solidFill>
              <a:latin typeface="Arial"/>
              <a:ea typeface="Arial"/>
              <a:cs typeface="Arial"/>
              <a:sym typeface="Arial"/>
            </a:endParaRPr>
          </a:p>
          <a:p>
            <a:pPr indent="0" lvl="0" marL="0" marR="0" rtl="0" algn="l">
              <a:spcBef>
                <a:spcPts val="0"/>
              </a:spcBef>
              <a:spcAft>
                <a:spcPts val="0"/>
              </a:spcAft>
              <a:buNone/>
            </a:pPr>
            <a:r>
              <a:rPr b="1" lang="en-US" sz="1100">
                <a:solidFill>
                  <a:schemeClr val="dk1"/>
                </a:solidFill>
                <a:latin typeface="Arial"/>
                <a:ea typeface="Arial"/>
                <a:cs typeface="Arial"/>
                <a:sym typeface="Arial"/>
              </a:rPr>
              <a:t>Sales Channel Strategy: </a:t>
            </a:r>
            <a:r>
              <a:rPr lang="en-US" sz="1100">
                <a:solidFill>
                  <a:schemeClr val="dk1"/>
                </a:solidFill>
                <a:latin typeface="Arial"/>
                <a:ea typeface="Arial"/>
                <a:cs typeface="Arial"/>
                <a:sym typeface="Arial"/>
              </a:rPr>
              <a:t>Insert your own text</a:t>
            </a:r>
            <a:endParaRPr b="1" sz="1100">
              <a:solidFill>
                <a:schemeClr val="dk1"/>
              </a:solidFill>
              <a:latin typeface="Arial"/>
              <a:ea typeface="Arial"/>
              <a:cs typeface="Arial"/>
              <a:sym typeface="Arial"/>
            </a:endParaRPr>
          </a:p>
        </p:txBody>
      </p:sp>
      <p:sp>
        <p:nvSpPr>
          <p:cNvPr id="91" name="Google Shape;91;p2"/>
          <p:cNvSpPr/>
          <p:nvPr/>
        </p:nvSpPr>
        <p:spPr>
          <a:xfrm>
            <a:off x="604837" y="5637202"/>
            <a:ext cx="1811795" cy="749798"/>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Budget &amp; Headcounts</a:t>
            </a:r>
            <a:endParaRPr/>
          </a:p>
        </p:txBody>
      </p:sp>
      <p:sp>
        <p:nvSpPr>
          <p:cNvPr id="92" name="Google Shape;92;p2"/>
          <p:cNvSpPr/>
          <p:nvPr/>
        </p:nvSpPr>
        <p:spPr>
          <a:xfrm>
            <a:off x="2484182" y="5637202"/>
            <a:ext cx="9102981" cy="74979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Budget: </a:t>
            </a:r>
            <a:r>
              <a:rPr lang="en-US" sz="1100">
                <a:solidFill>
                  <a:schemeClr val="dk1"/>
                </a:solidFill>
                <a:latin typeface="Arial"/>
                <a:ea typeface="Arial"/>
                <a:cs typeface="Arial"/>
                <a:sym typeface="Arial"/>
              </a:rPr>
              <a:t>Insert your own text</a:t>
            </a:r>
            <a:endParaRPr b="1" sz="1100">
              <a:solidFill>
                <a:schemeClr val="dk1"/>
              </a:solidFill>
              <a:latin typeface="Arial"/>
              <a:ea typeface="Arial"/>
              <a:cs typeface="Arial"/>
              <a:sym typeface="Arial"/>
            </a:endParaRPr>
          </a:p>
          <a:p>
            <a:pPr indent="0" lvl="0" marL="0" marR="0" rtl="0" algn="l">
              <a:spcBef>
                <a:spcPts val="0"/>
              </a:spcBef>
              <a:spcAft>
                <a:spcPts val="0"/>
              </a:spcAft>
              <a:buNone/>
            </a:pPr>
            <a:r>
              <a:rPr b="1" lang="en-US" sz="1100">
                <a:solidFill>
                  <a:schemeClr val="dk1"/>
                </a:solidFill>
                <a:latin typeface="Arial"/>
                <a:ea typeface="Arial"/>
                <a:cs typeface="Arial"/>
                <a:sym typeface="Arial"/>
              </a:rPr>
              <a:t>Headcount: </a:t>
            </a:r>
            <a:r>
              <a:rPr lang="en-US" sz="1100">
                <a:solidFill>
                  <a:schemeClr val="dk1"/>
                </a:solidFill>
                <a:latin typeface="Arial"/>
                <a:ea typeface="Arial"/>
                <a:cs typeface="Arial"/>
                <a:sym typeface="Arial"/>
              </a:rPr>
              <a:t>Insert your own text</a:t>
            </a:r>
            <a:endParaRPr b="1" sz="1100">
              <a:solidFill>
                <a:schemeClr val="dk1"/>
              </a:solidFill>
              <a:latin typeface="Arial"/>
              <a:ea typeface="Arial"/>
              <a:cs typeface="Arial"/>
              <a:sym typeface="Arial"/>
            </a:endParaRPr>
          </a:p>
        </p:txBody>
      </p:sp>
      <p:sp>
        <p:nvSpPr>
          <p:cNvPr id="93" name="Google Shape;93;p2"/>
          <p:cNvSpPr/>
          <p:nvPr/>
        </p:nvSpPr>
        <p:spPr>
          <a:xfrm>
            <a:off x="5567828" y="3751007"/>
            <a:ext cx="3733800" cy="1143000"/>
          </a:xfrm>
          <a:prstGeom prst="wedgeRoundRectCallout">
            <a:avLst>
              <a:gd fmla="val -143110" name="adj1"/>
              <a:gd fmla="val 140878"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Depending on what you want to emphasize, you may decide to put different sections in the dark blue rectangle</a:t>
            </a:r>
            <a:endParaRPr/>
          </a:p>
        </p:txBody>
      </p:sp>
      <p:sp>
        <p:nvSpPr>
          <p:cNvPr id="94" name="Google Shape;94;p2"/>
          <p:cNvSpPr/>
          <p:nvPr/>
        </p:nvSpPr>
        <p:spPr>
          <a:xfrm>
            <a:off x="5567828" y="339285"/>
            <a:ext cx="3733800" cy="1143000"/>
          </a:xfrm>
          <a:prstGeom prst="wedgeRoundRectCallout">
            <a:avLst>
              <a:gd fmla="val -80574" name="adj1"/>
              <a:gd fmla="val 1706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Even if this slide is the first one of the presentation, it needs to be done last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pic>
        <p:nvPicPr>
          <p:cNvPr descr="List" id="100" name="Google Shape;100;p3"/>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01" name="Google Shape;101;p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02" name="Google Shape;102;p3"/>
          <p:cNvSpPr/>
          <p:nvPr/>
        </p:nvSpPr>
        <p:spPr>
          <a:xfrm>
            <a:off x="5378700" y="1595284"/>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
          <p:cNvSpPr txBox="1"/>
          <p:nvPr/>
        </p:nvSpPr>
        <p:spPr>
          <a:xfrm>
            <a:off x="5588793" y="180537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1.Internal Analysis</a:t>
            </a:r>
            <a:endParaRPr/>
          </a:p>
        </p:txBody>
      </p:sp>
      <p:grpSp>
        <p:nvGrpSpPr>
          <p:cNvPr id="104" name="Google Shape;104;p3"/>
          <p:cNvGrpSpPr/>
          <p:nvPr/>
        </p:nvGrpSpPr>
        <p:grpSpPr>
          <a:xfrm>
            <a:off x="6662510" y="2631708"/>
            <a:ext cx="594154" cy="616618"/>
            <a:chOff x="3532270" y="886369"/>
            <a:chExt cx="507902" cy="527105"/>
          </a:xfrm>
        </p:grpSpPr>
        <p:sp>
          <p:nvSpPr>
            <p:cNvPr id="105" name="Google Shape;105;p3"/>
            <p:cNvSpPr/>
            <p:nvPr/>
          </p:nvSpPr>
          <p:spPr>
            <a:xfrm rot="2160000">
              <a:off x="3622675" y="942976"/>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
            <p:cNvSpPr txBox="1"/>
            <p:nvPr/>
          </p:nvSpPr>
          <p:spPr>
            <a:xfrm rot="2160000">
              <a:off x="3632045" y="996915"/>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7" name="Google Shape;107;p3"/>
          <p:cNvSpPr/>
          <p:nvPr/>
        </p:nvSpPr>
        <p:spPr>
          <a:xfrm>
            <a:off x="7123396" y="2862879"/>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8" name="Google Shape;108;p3"/>
          <p:cNvSpPr txBox="1"/>
          <p:nvPr/>
        </p:nvSpPr>
        <p:spPr>
          <a:xfrm>
            <a:off x="7333489" y="3072972"/>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2.External Analysis</a:t>
            </a:r>
            <a:endParaRPr/>
          </a:p>
        </p:txBody>
      </p:sp>
      <p:grpSp>
        <p:nvGrpSpPr>
          <p:cNvPr id="109" name="Google Shape;109;p3"/>
          <p:cNvGrpSpPr/>
          <p:nvPr/>
        </p:nvGrpSpPr>
        <p:grpSpPr>
          <a:xfrm>
            <a:off x="7221474" y="4338624"/>
            <a:ext cx="578723" cy="513531"/>
            <a:chOff x="4010090" y="2345495"/>
            <a:chExt cx="494711" cy="438982"/>
          </a:xfrm>
        </p:grpSpPr>
        <p:sp>
          <p:nvSpPr>
            <p:cNvPr id="110" name="Google Shape;110;p3"/>
            <p:cNvSpPr/>
            <p:nvPr/>
          </p:nvSpPr>
          <p:spPr>
            <a:xfrm rot="6480000">
              <a:off x="4093900" y="235804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txBox="1"/>
            <p:nvPr/>
          </p:nvSpPr>
          <p:spPr>
            <a:xfrm rot="-4320000">
              <a:off x="4158126" y="239415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12" name="Google Shape;112;p3"/>
          <p:cNvSpPr/>
          <p:nvPr/>
        </p:nvSpPr>
        <p:spPr>
          <a:xfrm>
            <a:off x="6456981" y="4913894"/>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txBox="1"/>
          <p:nvPr/>
        </p:nvSpPr>
        <p:spPr>
          <a:xfrm>
            <a:off x="6667074"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3.Sales Strategy</a:t>
            </a:r>
            <a:endParaRPr/>
          </a:p>
        </p:txBody>
      </p:sp>
      <p:grpSp>
        <p:nvGrpSpPr>
          <p:cNvPr id="114" name="Google Shape;114;p3"/>
          <p:cNvGrpSpPr/>
          <p:nvPr/>
        </p:nvGrpSpPr>
        <p:grpSpPr>
          <a:xfrm>
            <a:off x="5915511" y="5389105"/>
            <a:ext cx="382639" cy="484178"/>
            <a:chOff x="2893711" y="3243481"/>
            <a:chExt cx="327092" cy="413891"/>
          </a:xfrm>
        </p:grpSpPr>
        <p:sp>
          <p:nvSpPr>
            <p:cNvPr id="115" name="Google Shape;115;p3"/>
            <p:cNvSpPr/>
            <p:nvPr/>
          </p:nvSpPr>
          <p:spPr>
            <a:xfrm rot="10800000">
              <a:off x="2893711" y="324348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txBox="1"/>
            <p:nvPr/>
          </p:nvSpPr>
          <p:spPr>
            <a:xfrm>
              <a:off x="2991839" y="3326259"/>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17" name="Google Shape;117;p3"/>
          <p:cNvSpPr/>
          <p:nvPr/>
        </p:nvSpPr>
        <p:spPr>
          <a:xfrm>
            <a:off x="4300418" y="4913894"/>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txBox="1"/>
          <p:nvPr/>
        </p:nvSpPr>
        <p:spPr>
          <a:xfrm>
            <a:off x="4510511"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4.Sales Plan</a:t>
            </a:r>
            <a:endParaRPr/>
          </a:p>
        </p:txBody>
      </p:sp>
      <p:grpSp>
        <p:nvGrpSpPr>
          <p:cNvPr id="119" name="Google Shape;119;p3"/>
          <p:cNvGrpSpPr/>
          <p:nvPr/>
        </p:nvGrpSpPr>
        <p:grpSpPr>
          <a:xfrm>
            <a:off x="4398496" y="4359222"/>
            <a:ext cx="578723" cy="513531"/>
            <a:chOff x="1596919" y="2363103"/>
            <a:chExt cx="494711" cy="438982"/>
          </a:xfrm>
        </p:grpSpPr>
        <p:sp>
          <p:nvSpPr>
            <p:cNvPr id="120" name="Google Shape;120;p3"/>
            <p:cNvSpPr/>
            <p:nvPr/>
          </p:nvSpPr>
          <p:spPr>
            <a:xfrm rot="-6480000">
              <a:off x="1680728" y="237564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txBox="1"/>
            <p:nvPr/>
          </p:nvSpPr>
          <p:spPr>
            <a:xfrm rot="4320000">
              <a:off x="1744954" y="2505090"/>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22" name="Google Shape;122;p3"/>
          <p:cNvSpPr/>
          <p:nvPr/>
        </p:nvSpPr>
        <p:spPr>
          <a:xfrm>
            <a:off x="3634003" y="2862879"/>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txBox="1"/>
          <p:nvPr/>
        </p:nvSpPr>
        <p:spPr>
          <a:xfrm>
            <a:off x="3718836" y="3072972"/>
            <a:ext cx="124584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5.Implemen-tation</a:t>
            </a:r>
            <a:endParaRPr/>
          </a:p>
        </p:txBody>
      </p:sp>
      <p:grpSp>
        <p:nvGrpSpPr>
          <p:cNvPr id="124" name="Google Shape;124;p3"/>
          <p:cNvGrpSpPr/>
          <p:nvPr/>
        </p:nvGrpSpPr>
        <p:grpSpPr>
          <a:xfrm>
            <a:off x="4879426" y="2554570"/>
            <a:ext cx="594154" cy="616618"/>
            <a:chOff x="2040848" y="897252"/>
            <a:chExt cx="507902" cy="527105"/>
          </a:xfrm>
        </p:grpSpPr>
        <p:sp>
          <p:nvSpPr>
            <p:cNvPr id="125" name="Google Shape;125;p3"/>
            <p:cNvSpPr/>
            <p:nvPr/>
          </p:nvSpPr>
          <p:spPr>
            <a:xfrm rot="-2160000">
              <a:off x="2131253" y="95385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txBox="1"/>
            <p:nvPr/>
          </p:nvSpPr>
          <p:spPr>
            <a:xfrm rot="-2160000">
              <a:off x="2140623" y="106547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27" name="Google Shape;127;p3"/>
          <p:cNvSpPr txBox="1"/>
          <p:nvPr/>
        </p:nvSpPr>
        <p:spPr>
          <a:xfrm>
            <a:off x="5203304" y="3503473"/>
            <a:ext cx="18447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Sales Strategy &amp; Plan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133" name="Google Shape;133;p4"/>
          <p:cNvSpPr txBox="1"/>
          <p:nvPr>
            <p:ph idx="1" type="body"/>
          </p:nvPr>
        </p:nvSpPr>
        <p:spPr>
          <a:xfrm>
            <a:off x="1037492" y="1927644"/>
            <a:ext cx="9729788" cy="4555093"/>
          </a:xfrm>
          <a:prstGeom prst="rect">
            <a:avLst/>
          </a:prstGeom>
          <a:noFill/>
          <a:ln>
            <a:noFill/>
          </a:ln>
        </p:spPr>
        <p:txBody>
          <a:bodyPr anchorCtr="0" anchor="t" bIns="45700" lIns="91425" spcFirstLastPara="1" rIns="91425" wrap="square" tIns="45700">
            <a:spAutoFit/>
          </a:bodyPr>
          <a:lstStyle/>
          <a:p>
            <a:pPr indent="-342900" lvl="0" marL="457200" rtl="0" algn="l">
              <a:lnSpc>
                <a:spcPct val="100000"/>
              </a:lnSpc>
              <a:spcBef>
                <a:spcPts val="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Internal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External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Strategy</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Plan</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Implementation</a:t>
            </a:r>
            <a:endParaRPr/>
          </a:p>
        </p:txBody>
      </p:sp>
      <p:sp>
        <p:nvSpPr>
          <p:cNvPr id="134" name="Google Shape;134;p4"/>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ist" id="135" name="Google Shape;135;p4"/>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36" name="Google Shape;136;p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37" name="Google Shape;137;p4"/>
          <p:cNvSpPr/>
          <p:nvPr/>
        </p:nvSpPr>
        <p:spPr>
          <a:xfrm>
            <a:off x="5993713" y="2543866"/>
            <a:ext cx="3733800" cy="1143000"/>
          </a:xfrm>
          <a:prstGeom prst="wedgeRoundRectCallout">
            <a:avLst>
              <a:gd fmla="val -80574" name="adj1"/>
              <a:gd fmla="val 1706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Second option to formalize your table of contents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5"/>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a:t>
            </a:r>
            <a:br>
              <a:rPr lang="en-US" sz="2400"/>
            </a:br>
            <a:r>
              <a:rPr b="0" lang="en-US" sz="2400"/>
              <a:t>1.Internal Analysis</a:t>
            </a:r>
            <a:endParaRPr/>
          </a:p>
        </p:txBody>
      </p:sp>
      <p:pic>
        <p:nvPicPr>
          <p:cNvPr descr="List" id="143" name="Google Shape;143;p5"/>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44" name="Google Shape;144;p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45" name="Google Shape;145;p5"/>
          <p:cNvSpPr/>
          <p:nvPr/>
        </p:nvSpPr>
        <p:spPr>
          <a:xfrm>
            <a:off x="5378700" y="1595284"/>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txBox="1"/>
          <p:nvPr/>
        </p:nvSpPr>
        <p:spPr>
          <a:xfrm>
            <a:off x="5588793" y="180537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1.Internal Analysis</a:t>
            </a:r>
            <a:endParaRPr/>
          </a:p>
        </p:txBody>
      </p:sp>
      <p:grpSp>
        <p:nvGrpSpPr>
          <p:cNvPr id="147" name="Google Shape;147;p5"/>
          <p:cNvGrpSpPr/>
          <p:nvPr/>
        </p:nvGrpSpPr>
        <p:grpSpPr>
          <a:xfrm>
            <a:off x="6662510" y="2631708"/>
            <a:ext cx="594154" cy="616618"/>
            <a:chOff x="3532270" y="886369"/>
            <a:chExt cx="507902" cy="527105"/>
          </a:xfrm>
        </p:grpSpPr>
        <p:sp>
          <p:nvSpPr>
            <p:cNvPr id="148" name="Google Shape;148;p5"/>
            <p:cNvSpPr/>
            <p:nvPr/>
          </p:nvSpPr>
          <p:spPr>
            <a:xfrm rot="2160000">
              <a:off x="3622675" y="942976"/>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txBox="1"/>
            <p:nvPr/>
          </p:nvSpPr>
          <p:spPr>
            <a:xfrm rot="2160000">
              <a:off x="3632045" y="996915"/>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50" name="Google Shape;150;p5"/>
          <p:cNvSpPr/>
          <p:nvPr/>
        </p:nvSpPr>
        <p:spPr>
          <a:xfrm>
            <a:off x="7123396" y="2862879"/>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51" name="Google Shape;151;p5"/>
          <p:cNvSpPr txBox="1"/>
          <p:nvPr/>
        </p:nvSpPr>
        <p:spPr>
          <a:xfrm>
            <a:off x="7333489" y="3072972"/>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2.External Analysis</a:t>
            </a:r>
            <a:endParaRPr/>
          </a:p>
        </p:txBody>
      </p:sp>
      <p:grpSp>
        <p:nvGrpSpPr>
          <p:cNvPr id="152" name="Google Shape;152;p5"/>
          <p:cNvGrpSpPr/>
          <p:nvPr/>
        </p:nvGrpSpPr>
        <p:grpSpPr>
          <a:xfrm>
            <a:off x="7221474" y="4338624"/>
            <a:ext cx="578723" cy="513531"/>
            <a:chOff x="4010090" y="2345495"/>
            <a:chExt cx="494711" cy="438982"/>
          </a:xfrm>
        </p:grpSpPr>
        <p:sp>
          <p:nvSpPr>
            <p:cNvPr id="153" name="Google Shape;153;p5"/>
            <p:cNvSpPr/>
            <p:nvPr/>
          </p:nvSpPr>
          <p:spPr>
            <a:xfrm rot="6480000">
              <a:off x="4093900" y="235804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txBox="1"/>
            <p:nvPr/>
          </p:nvSpPr>
          <p:spPr>
            <a:xfrm rot="-4320000">
              <a:off x="4158126" y="239415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55" name="Google Shape;155;p5"/>
          <p:cNvSpPr/>
          <p:nvPr/>
        </p:nvSpPr>
        <p:spPr>
          <a:xfrm>
            <a:off x="6456981" y="491389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txBox="1"/>
          <p:nvPr/>
        </p:nvSpPr>
        <p:spPr>
          <a:xfrm>
            <a:off x="6667074"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3.Sales Strategy</a:t>
            </a:r>
            <a:endParaRPr/>
          </a:p>
        </p:txBody>
      </p:sp>
      <p:grpSp>
        <p:nvGrpSpPr>
          <p:cNvPr id="157" name="Google Shape;157;p5"/>
          <p:cNvGrpSpPr/>
          <p:nvPr/>
        </p:nvGrpSpPr>
        <p:grpSpPr>
          <a:xfrm>
            <a:off x="5915511" y="5389105"/>
            <a:ext cx="382639" cy="484178"/>
            <a:chOff x="2893711" y="3243481"/>
            <a:chExt cx="327092" cy="413891"/>
          </a:xfrm>
        </p:grpSpPr>
        <p:sp>
          <p:nvSpPr>
            <p:cNvPr id="158" name="Google Shape;158;p5"/>
            <p:cNvSpPr/>
            <p:nvPr/>
          </p:nvSpPr>
          <p:spPr>
            <a:xfrm rot="10800000">
              <a:off x="2893711" y="324348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txBox="1"/>
            <p:nvPr/>
          </p:nvSpPr>
          <p:spPr>
            <a:xfrm>
              <a:off x="2991839" y="3326259"/>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60" name="Google Shape;160;p5"/>
          <p:cNvSpPr/>
          <p:nvPr/>
        </p:nvSpPr>
        <p:spPr>
          <a:xfrm>
            <a:off x="4300418" y="491389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txBox="1"/>
          <p:nvPr/>
        </p:nvSpPr>
        <p:spPr>
          <a:xfrm>
            <a:off x="4510511"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4.Sales Plan</a:t>
            </a:r>
            <a:endParaRPr/>
          </a:p>
        </p:txBody>
      </p:sp>
      <p:grpSp>
        <p:nvGrpSpPr>
          <p:cNvPr id="162" name="Google Shape;162;p5"/>
          <p:cNvGrpSpPr/>
          <p:nvPr/>
        </p:nvGrpSpPr>
        <p:grpSpPr>
          <a:xfrm>
            <a:off x="4398496" y="4359222"/>
            <a:ext cx="578723" cy="513531"/>
            <a:chOff x="1596919" y="2363103"/>
            <a:chExt cx="494711" cy="438982"/>
          </a:xfrm>
        </p:grpSpPr>
        <p:sp>
          <p:nvSpPr>
            <p:cNvPr id="163" name="Google Shape;163;p5"/>
            <p:cNvSpPr/>
            <p:nvPr/>
          </p:nvSpPr>
          <p:spPr>
            <a:xfrm rot="-6480000">
              <a:off x="1680728" y="237564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txBox="1"/>
            <p:nvPr/>
          </p:nvSpPr>
          <p:spPr>
            <a:xfrm rot="4320000">
              <a:off x="1744954" y="2505090"/>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65" name="Google Shape;165;p5"/>
          <p:cNvSpPr/>
          <p:nvPr/>
        </p:nvSpPr>
        <p:spPr>
          <a:xfrm>
            <a:off x="3634003" y="2862879"/>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
          <p:cNvSpPr txBox="1"/>
          <p:nvPr/>
        </p:nvSpPr>
        <p:spPr>
          <a:xfrm>
            <a:off x="3718836" y="3072972"/>
            <a:ext cx="124584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5.Implemen-tation</a:t>
            </a:r>
            <a:endParaRPr/>
          </a:p>
        </p:txBody>
      </p:sp>
      <p:grpSp>
        <p:nvGrpSpPr>
          <p:cNvPr id="167" name="Google Shape;167;p5"/>
          <p:cNvGrpSpPr/>
          <p:nvPr/>
        </p:nvGrpSpPr>
        <p:grpSpPr>
          <a:xfrm>
            <a:off x="4879426" y="2554570"/>
            <a:ext cx="594154" cy="616618"/>
            <a:chOff x="2040848" y="897252"/>
            <a:chExt cx="507902" cy="527105"/>
          </a:xfrm>
        </p:grpSpPr>
        <p:sp>
          <p:nvSpPr>
            <p:cNvPr id="168" name="Google Shape;168;p5"/>
            <p:cNvSpPr/>
            <p:nvPr/>
          </p:nvSpPr>
          <p:spPr>
            <a:xfrm rot="-2160000">
              <a:off x="2131253" y="95385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
            <p:cNvSpPr txBox="1"/>
            <p:nvPr/>
          </p:nvSpPr>
          <p:spPr>
            <a:xfrm rot="-2160000">
              <a:off x="2140623" y="106547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70" name="Google Shape;170;p5"/>
          <p:cNvSpPr txBox="1"/>
          <p:nvPr/>
        </p:nvSpPr>
        <p:spPr>
          <a:xfrm>
            <a:off x="5203304" y="3503473"/>
            <a:ext cx="18447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Sales Strategy &amp; Plan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176" name="Google Shape;176;p6"/>
          <p:cNvSpPr txBox="1"/>
          <p:nvPr>
            <p:ph idx="1" type="body"/>
          </p:nvPr>
        </p:nvSpPr>
        <p:spPr>
          <a:xfrm>
            <a:off x="1037492" y="1927644"/>
            <a:ext cx="9729788" cy="4555093"/>
          </a:xfrm>
          <a:prstGeom prst="rect">
            <a:avLst/>
          </a:prstGeom>
          <a:noFill/>
          <a:ln>
            <a:noFill/>
          </a:ln>
        </p:spPr>
        <p:txBody>
          <a:bodyPr anchorCtr="0" anchor="t" bIns="45700" lIns="91425" spcFirstLastPara="1" rIns="91425" wrap="square" tIns="45700">
            <a:spAutoFit/>
          </a:bodyPr>
          <a:lstStyle/>
          <a:p>
            <a:pPr indent="-342900" lvl="0" marL="457200" rtl="0" algn="l">
              <a:lnSpc>
                <a:spcPct val="100000"/>
              </a:lnSpc>
              <a:spcBef>
                <a:spcPts val="0"/>
              </a:spcBef>
              <a:spcAft>
                <a:spcPts val="0"/>
              </a:spcAft>
              <a:buClr>
                <a:srgbClr val="002776"/>
              </a:buClr>
              <a:buSzPts val="1800"/>
              <a:buFont typeface="Arial"/>
              <a:buAutoNum type="arabicPeriod"/>
            </a:pPr>
            <a:r>
              <a:rPr b="1" lang="en-US">
                <a:solidFill>
                  <a:srgbClr val="002776"/>
                </a:solidFill>
                <a:latin typeface="Arial"/>
                <a:ea typeface="Arial"/>
                <a:cs typeface="Arial"/>
                <a:sym typeface="Arial"/>
              </a:rPr>
              <a:t>Internal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External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Strategy</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Plan</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Implementation</a:t>
            </a:r>
            <a:endParaRPr/>
          </a:p>
        </p:txBody>
      </p:sp>
      <p:sp>
        <p:nvSpPr>
          <p:cNvPr id="177" name="Google Shape;177;p6"/>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ist" id="178" name="Google Shape;178;p6"/>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79" name="Google Shape;179;p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80" name="Google Shape;180;p6"/>
          <p:cNvSpPr/>
          <p:nvPr/>
        </p:nvSpPr>
        <p:spPr>
          <a:xfrm>
            <a:off x="5993713" y="2543866"/>
            <a:ext cx="3733800" cy="1143000"/>
          </a:xfrm>
          <a:prstGeom prst="wedgeRoundRectCallout">
            <a:avLst>
              <a:gd fmla="val -80574" name="adj1"/>
              <a:gd fmla="val 1706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Second option to formalize your table of contents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Total Sales History</a:t>
            </a:r>
            <a:br>
              <a:rPr lang="en-US"/>
            </a:br>
            <a:r>
              <a:rPr b="0" lang="en-US"/>
              <a:t>Replace this text with the key takeaway of this Powerpoint slide.</a:t>
            </a:r>
            <a:endParaRPr/>
          </a:p>
        </p:txBody>
      </p:sp>
      <p:sp>
        <p:nvSpPr>
          <p:cNvPr id="186" name="Google Shape;186;p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pic>
        <p:nvPicPr>
          <p:cNvPr id="187" name="Google Shape;187;p7"/>
          <p:cNvPicPr preferRelativeResize="0"/>
          <p:nvPr/>
        </p:nvPicPr>
        <p:blipFill rotWithShape="1">
          <a:blip r:embed="rId3">
            <a:alphaModFix/>
          </a:blip>
          <a:srcRect b="0" l="0" r="0" t="0"/>
          <a:stretch/>
        </p:blipFill>
        <p:spPr>
          <a:xfrm>
            <a:off x="2851355" y="1658047"/>
            <a:ext cx="6489290" cy="4773064"/>
          </a:xfrm>
          <a:prstGeom prst="rect">
            <a:avLst/>
          </a:prstGeom>
          <a:noFill/>
          <a:ln>
            <a:noFill/>
          </a:ln>
        </p:spPr>
      </p:pic>
      <p:grpSp>
        <p:nvGrpSpPr>
          <p:cNvPr id="188" name="Google Shape;188;p7"/>
          <p:cNvGrpSpPr/>
          <p:nvPr/>
        </p:nvGrpSpPr>
        <p:grpSpPr>
          <a:xfrm>
            <a:off x="7347155" y="3652684"/>
            <a:ext cx="1434601" cy="1434601"/>
            <a:chOff x="3926250" y="1083982"/>
            <a:chExt cx="1226343" cy="1226343"/>
          </a:xfrm>
        </p:grpSpPr>
        <p:sp>
          <p:nvSpPr>
            <p:cNvPr id="189" name="Google Shape;189;p7"/>
            <p:cNvSpPr/>
            <p:nvPr/>
          </p:nvSpPr>
          <p:spPr>
            <a:xfrm>
              <a:off x="3926250" y="1083982"/>
              <a:ext cx="1226343" cy="1226343"/>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7"/>
            <p:cNvSpPr txBox="1"/>
            <p:nvPr/>
          </p:nvSpPr>
          <p:spPr>
            <a:xfrm>
              <a:off x="3947030" y="1263575"/>
              <a:ext cx="1188308" cy="867155"/>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rgbClr val="FFFFFF"/>
                  </a:solidFill>
                  <a:latin typeface="Arial"/>
                  <a:ea typeface="Arial"/>
                  <a:cs typeface="Arial"/>
                  <a:sym typeface="Arial"/>
                </a:rPr>
                <a:t>CAGR = 14%</a:t>
              </a:r>
              <a:endParaRPr/>
            </a:p>
          </p:txBody>
        </p:sp>
      </p:grpSp>
      <p:sp>
        <p:nvSpPr>
          <p:cNvPr id="191" name="Google Shape;191;p7"/>
          <p:cNvSpPr/>
          <p:nvPr/>
        </p:nvSpPr>
        <p:spPr>
          <a:xfrm>
            <a:off x="4495800" y="5537067"/>
            <a:ext cx="6154882" cy="993102"/>
          </a:xfrm>
          <a:prstGeom prst="wedgeRoundRectCallout">
            <a:avLst>
              <a:gd fmla="val -32295" name="adj1"/>
              <a:gd fmla="val -13249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The best practice is to always create the charts in Excel, and then copy past the charts in Powerpoint as an image. Creating charts from Powerpoint makes the Powerpoint application slowdown or even crash, especially if you have a presentation with many slides.</a:t>
            </a:r>
            <a:endParaRPr/>
          </a:p>
        </p:txBody>
      </p:sp>
      <p:sp>
        <p:nvSpPr>
          <p:cNvPr id="192" name="Google Shape;192;p7"/>
          <p:cNvSpPr/>
          <p:nvPr/>
        </p:nvSpPr>
        <p:spPr>
          <a:xfrm>
            <a:off x="7347155" y="1334726"/>
            <a:ext cx="3708772" cy="1143000"/>
          </a:xfrm>
          <a:prstGeom prst="wedgeRoundRectCallout">
            <a:avLst>
              <a:gd fmla="val -42315" name="adj1"/>
              <a:gd fmla="val 8313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To edit this chart &amp; table:</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1.Open the excel sheet “Sales history and projection”</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2.Edit</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3.Copy paste the updated chart and table in this slide as an image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Total Sales History</a:t>
            </a:r>
            <a:br>
              <a:rPr lang="en-US"/>
            </a:br>
            <a:r>
              <a:rPr b="0" lang="en-US"/>
              <a:t>Replace this text with the key takeaway of this Powerpoint slide.</a:t>
            </a:r>
            <a:endParaRPr/>
          </a:p>
        </p:txBody>
      </p:sp>
      <p:sp>
        <p:nvSpPr>
          <p:cNvPr id="198" name="Google Shape;198;p8"/>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pic>
        <p:nvPicPr>
          <p:cNvPr id="199" name="Google Shape;199;p8"/>
          <p:cNvPicPr preferRelativeResize="0"/>
          <p:nvPr/>
        </p:nvPicPr>
        <p:blipFill rotWithShape="1">
          <a:blip r:embed="rId3">
            <a:alphaModFix/>
          </a:blip>
          <a:srcRect b="0" l="0" r="0" t="0"/>
          <a:stretch/>
        </p:blipFill>
        <p:spPr>
          <a:xfrm>
            <a:off x="2851355" y="1658047"/>
            <a:ext cx="6489290" cy="4773064"/>
          </a:xfrm>
          <a:prstGeom prst="rect">
            <a:avLst/>
          </a:prstGeom>
          <a:noFill/>
          <a:ln>
            <a:noFill/>
          </a:ln>
        </p:spPr>
      </p:pic>
      <p:grpSp>
        <p:nvGrpSpPr>
          <p:cNvPr id="200" name="Google Shape;200;p8"/>
          <p:cNvGrpSpPr/>
          <p:nvPr/>
        </p:nvGrpSpPr>
        <p:grpSpPr>
          <a:xfrm>
            <a:off x="7347155" y="3652684"/>
            <a:ext cx="1434601" cy="1434601"/>
            <a:chOff x="3926250" y="1083982"/>
            <a:chExt cx="1226343" cy="1226343"/>
          </a:xfrm>
        </p:grpSpPr>
        <p:sp>
          <p:nvSpPr>
            <p:cNvPr id="201" name="Google Shape;201;p8"/>
            <p:cNvSpPr/>
            <p:nvPr/>
          </p:nvSpPr>
          <p:spPr>
            <a:xfrm>
              <a:off x="3926250" y="1083982"/>
              <a:ext cx="1226343" cy="1226343"/>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txBox="1"/>
            <p:nvPr/>
          </p:nvSpPr>
          <p:spPr>
            <a:xfrm>
              <a:off x="3947030" y="1263575"/>
              <a:ext cx="1188308" cy="867155"/>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rgbClr val="FFFFFF"/>
                  </a:solidFill>
                  <a:latin typeface="Arial"/>
                  <a:ea typeface="Arial"/>
                  <a:cs typeface="Arial"/>
                  <a:sym typeface="Arial"/>
                </a:rPr>
                <a:t>CAGR = 14%</a:t>
              </a:r>
              <a:endParaRPr/>
            </a:p>
          </p:txBody>
        </p:sp>
      </p:grpSp>
      <p:sp>
        <p:nvSpPr>
          <p:cNvPr id="203" name="Google Shape;203;p8"/>
          <p:cNvSpPr/>
          <p:nvPr/>
        </p:nvSpPr>
        <p:spPr>
          <a:xfrm>
            <a:off x="5025736" y="5349874"/>
            <a:ext cx="5638800" cy="1143000"/>
          </a:xfrm>
          <a:prstGeom prst="wedgeRoundRectCallout">
            <a:avLst>
              <a:gd fmla="val 4930" name="adj1"/>
              <a:gd fmla="val -109766"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CAGR means Compound Annual Growth Rate, that is to say the average sales growth that the company reaches every year. The formula to automatically calculate CAGR is in the first table of the Excel sheet “Sales History &amp; Projection”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9"/>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Sales History per Product Category</a:t>
            </a:r>
            <a:br>
              <a:rPr lang="en-US"/>
            </a:br>
            <a:r>
              <a:rPr b="0" lang="en-US"/>
              <a:t>Replace this text with the key takeaway of this Powerpoint slide.</a:t>
            </a:r>
            <a:endParaRPr/>
          </a:p>
        </p:txBody>
      </p:sp>
      <p:sp>
        <p:nvSpPr>
          <p:cNvPr id="209" name="Google Shape;209;p9"/>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pic>
        <p:nvPicPr>
          <p:cNvPr id="210" name="Google Shape;210;p9"/>
          <p:cNvPicPr preferRelativeResize="0"/>
          <p:nvPr/>
        </p:nvPicPr>
        <p:blipFill rotWithShape="1">
          <a:blip r:embed="rId3">
            <a:alphaModFix/>
          </a:blip>
          <a:srcRect b="0" l="0" r="0" t="0"/>
          <a:stretch/>
        </p:blipFill>
        <p:spPr>
          <a:xfrm>
            <a:off x="2688502" y="1480243"/>
            <a:ext cx="6814996" cy="5012631"/>
          </a:xfrm>
          <a:prstGeom prst="rect">
            <a:avLst/>
          </a:prstGeom>
          <a:noFill/>
          <a:ln>
            <a:noFill/>
          </a:ln>
        </p:spPr>
      </p:pic>
      <p:sp>
        <p:nvSpPr>
          <p:cNvPr id="211" name="Google Shape;211;p9"/>
          <p:cNvSpPr/>
          <p:nvPr/>
        </p:nvSpPr>
        <p:spPr>
          <a:xfrm>
            <a:off x="7750898" y="1108364"/>
            <a:ext cx="3505200" cy="1447800"/>
          </a:xfrm>
          <a:prstGeom prst="wedgeRoundRectCallout">
            <a:avLst>
              <a:gd fmla="val -42315" name="adj1"/>
              <a:gd fmla="val 8313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In this slide and the following ones, we broke down the sales into different segments (e.g. products, product categories,…). Feel free to delete the slides which are irrelevant for your Business, and / or add different segments by reusing the tables and charts located in the Excel document “Sales History &amp; Projection”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0"/>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Sales History per Region</a:t>
            </a:r>
            <a:br>
              <a:rPr lang="en-US"/>
            </a:br>
            <a:r>
              <a:rPr b="0" lang="en-US"/>
              <a:t>Replace this text with the key takeaway of this Powerpoint slide.</a:t>
            </a:r>
            <a:endParaRPr/>
          </a:p>
        </p:txBody>
      </p:sp>
      <p:sp>
        <p:nvSpPr>
          <p:cNvPr id="217" name="Google Shape;217;p10"/>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pic>
        <p:nvPicPr>
          <p:cNvPr id="218" name="Google Shape;218;p10"/>
          <p:cNvPicPr preferRelativeResize="0"/>
          <p:nvPr/>
        </p:nvPicPr>
        <p:blipFill rotWithShape="1">
          <a:blip r:embed="rId3">
            <a:alphaModFix/>
          </a:blip>
          <a:srcRect b="0" l="0" r="0" t="0"/>
          <a:stretch/>
        </p:blipFill>
        <p:spPr>
          <a:xfrm>
            <a:off x="2857500" y="1480243"/>
            <a:ext cx="6477000" cy="4764025"/>
          </a:xfrm>
          <a:prstGeom prst="rect">
            <a:avLst/>
          </a:prstGeom>
          <a:noFill/>
          <a:ln>
            <a:noFill/>
          </a:ln>
        </p:spPr>
      </p:pic>
      <p:sp>
        <p:nvSpPr>
          <p:cNvPr id="219" name="Google Shape;219;p10"/>
          <p:cNvSpPr/>
          <p:nvPr/>
        </p:nvSpPr>
        <p:spPr>
          <a:xfrm>
            <a:off x="8496300" y="1456444"/>
            <a:ext cx="2971800" cy="3581400"/>
          </a:xfrm>
          <a:prstGeom prst="wedgeRoundRectCallout">
            <a:avLst>
              <a:gd fmla="val -75733" name="adj1"/>
              <a:gd fmla="val 2550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If you need to illustrate your sales per region using a map, you can use the editable maps located in the Powerpoint presentation “Editable Maps Bundle”. </a:t>
            </a:r>
            <a:endParaRPr/>
          </a:p>
          <a:p>
            <a:pPr indent="0" lvl="0" marL="0" marR="0" rtl="0" algn="l">
              <a:spcBef>
                <a:spcPts val="600"/>
              </a:spcBef>
              <a:spcAft>
                <a:spcPts val="0"/>
              </a:spcAft>
              <a:buNone/>
            </a:pPr>
            <a:r>
              <a:t/>
            </a:r>
            <a:endParaRPr b="1" sz="1050">
              <a:solidFill>
                <a:srgbClr val="0C2870"/>
              </a:solidFill>
              <a:latin typeface="Arial"/>
              <a:ea typeface="Arial"/>
              <a:cs typeface="Arial"/>
              <a:sym typeface="Arial"/>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For example, if you are a global Organization, you may want to use a worldwide map and highlight with a different color the countries with the biggest sales.</a:t>
            </a:r>
            <a:endParaRPr/>
          </a:p>
          <a:p>
            <a:pPr indent="0" lvl="0" marL="0" marR="0" rtl="0" algn="l">
              <a:spcBef>
                <a:spcPts val="600"/>
              </a:spcBef>
              <a:spcAft>
                <a:spcPts val="0"/>
              </a:spcAft>
              <a:buNone/>
            </a:pPr>
            <a:r>
              <a:t/>
            </a:r>
            <a:endParaRPr b="1" sz="1050">
              <a:solidFill>
                <a:srgbClr val="0C2870"/>
              </a:solidFill>
              <a:latin typeface="Arial"/>
              <a:ea typeface="Arial"/>
              <a:cs typeface="Arial"/>
              <a:sym typeface="Arial"/>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Or if you are a national Organization located in the US, you may want to use a US map and highlight with a different color the States with the biggest sales.</a:t>
            </a:r>
            <a:endParaRPr/>
          </a:p>
          <a:p>
            <a:pPr indent="0" lvl="0" marL="0" marR="0" rtl="0" algn="l">
              <a:spcBef>
                <a:spcPts val="600"/>
              </a:spcBef>
              <a:spcAft>
                <a:spcPts val="0"/>
              </a:spcAft>
              <a:buNone/>
            </a:pPr>
            <a:r>
              <a:t/>
            </a:r>
            <a:endParaRPr b="1" sz="1050">
              <a:solidFill>
                <a:srgbClr val="0C287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1"/>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Sales History per Product</a:t>
            </a:r>
            <a:br>
              <a:rPr lang="en-US"/>
            </a:br>
            <a:r>
              <a:rPr b="0" lang="en-US"/>
              <a:t>Replace this text with the key takeaway of this Powerpoint slide.</a:t>
            </a:r>
            <a:endParaRPr/>
          </a:p>
        </p:txBody>
      </p:sp>
      <p:sp>
        <p:nvSpPr>
          <p:cNvPr id="225" name="Google Shape;225;p11"/>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pic>
        <p:nvPicPr>
          <p:cNvPr id="226" name="Google Shape;226;p11"/>
          <p:cNvPicPr preferRelativeResize="0"/>
          <p:nvPr/>
        </p:nvPicPr>
        <p:blipFill rotWithShape="1">
          <a:blip r:embed="rId3">
            <a:alphaModFix/>
          </a:blip>
          <a:srcRect b="0" l="0" r="0" t="0"/>
          <a:stretch/>
        </p:blipFill>
        <p:spPr>
          <a:xfrm>
            <a:off x="2979493" y="1480243"/>
            <a:ext cx="6233015" cy="45845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2"/>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a:t>Company Strengths &amp; Weaknesses</a:t>
            </a:r>
            <a:br>
              <a:rPr lang="en-US"/>
            </a:br>
            <a:r>
              <a:rPr b="0" lang="en-US"/>
              <a:t>Replace this text with the key takeaway of this Powerpoint slide.</a:t>
            </a:r>
            <a:endParaRPr/>
          </a:p>
        </p:txBody>
      </p:sp>
      <p:sp>
        <p:nvSpPr>
          <p:cNvPr id="232" name="Google Shape;232;p1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233" name="Google Shape;233;p12"/>
          <p:cNvSpPr/>
          <p:nvPr/>
        </p:nvSpPr>
        <p:spPr>
          <a:xfrm>
            <a:off x="618835" y="1676400"/>
            <a:ext cx="5308911" cy="477802"/>
          </a:xfrm>
          <a:prstGeom prst="rect">
            <a:avLst/>
          </a:prstGeom>
          <a:solidFill>
            <a:srgbClr val="CCF5C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Strengths</a:t>
            </a:r>
            <a:endParaRPr/>
          </a:p>
        </p:txBody>
      </p:sp>
      <p:sp>
        <p:nvSpPr>
          <p:cNvPr id="234" name="Google Shape;234;p12"/>
          <p:cNvSpPr/>
          <p:nvPr/>
        </p:nvSpPr>
        <p:spPr>
          <a:xfrm>
            <a:off x="618835" y="2154202"/>
            <a:ext cx="5308911" cy="4118358"/>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p:txBody>
      </p:sp>
      <p:sp>
        <p:nvSpPr>
          <p:cNvPr id="235" name="Google Shape;235;p12"/>
          <p:cNvSpPr/>
          <p:nvPr/>
        </p:nvSpPr>
        <p:spPr>
          <a:xfrm>
            <a:off x="6278252" y="1676400"/>
            <a:ext cx="5308911" cy="477802"/>
          </a:xfrm>
          <a:prstGeom prst="rect">
            <a:avLst/>
          </a:prstGeom>
          <a:solidFill>
            <a:srgbClr val="FFE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Weaknesses</a:t>
            </a:r>
            <a:endParaRPr/>
          </a:p>
        </p:txBody>
      </p:sp>
      <p:sp>
        <p:nvSpPr>
          <p:cNvPr id="236" name="Google Shape;236;p12"/>
          <p:cNvSpPr/>
          <p:nvPr/>
        </p:nvSpPr>
        <p:spPr>
          <a:xfrm>
            <a:off x="6278252" y="2154202"/>
            <a:ext cx="5308911" cy="4118358"/>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80963" lvl="0" marL="169863" marR="0" rtl="0" algn="l">
              <a:spcBef>
                <a:spcPts val="800"/>
              </a:spcBef>
              <a:spcAft>
                <a:spcPts val="0"/>
              </a:spcAft>
              <a:buClr>
                <a:schemeClr val="dk1"/>
              </a:buClr>
              <a:buSzPts val="1400"/>
              <a:buFont typeface="Arial"/>
              <a:buNone/>
            </a:pPr>
            <a:r>
              <a:t/>
            </a:r>
            <a:endParaRPr sz="1400">
              <a:solidFill>
                <a:srgbClr val="002776"/>
              </a:solidFill>
              <a:latin typeface="Arial"/>
              <a:ea typeface="Arial"/>
              <a:cs typeface="Arial"/>
              <a:sym typeface="Arial"/>
            </a:endParaRPr>
          </a:p>
        </p:txBody>
      </p:sp>
      <p:sp>
        <p:nvSpPr>
          <p:cNvPr id="237" name="Google Shape;237;p12"/>
          <p:cNvSpPr/>
          <p:nvPr/>
        </p:nvSpPr>
        <p:spPr>
          <a:xfrm>
            <a:off x="2763981" y="2950082"/>
            <a:ext cx="4267200" cy="1143000"/>
          </a:xfrm>
          <a:prstGeom prst="wedgeRoundRectCallout">
            <a:avLst>
              <a:gd fmla="val -52718" name="adj1"/>
              <a:gd fmla="val -80472"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Describe what your Organization excels at and what separates it from the competition: a strong brand, loyal customer base, a strong balance sheet, unique technology, etc.</a:t>
            </a:r>
            <a:endParaRPr/>
          </a:p>
        </p:txBody>
      </p:sp>
      <p:sp>
        <p:nvSpPr>
          <p:cNvPr id="238" name="Google Shape;238;p12"/>
          <p:cNvSpPr/>
          <p:nvPr/>
        </p:nvSpPr>
        <p:spPr>
          <a:xfrm>
            <a:off x="2763981" y="4610100"/>
            <a:ext cx="4267200" cy="1143000"/>
          </a:xfrm>
          <a:prstGeom prst="wedgeRoundRectCallout">
            <a:avLst>
              <a:gd fmla="val 60527" name="adj1"/>
              <a:gd fmla="val -5875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Describe what is stopping your Organization from performing at its optimum level: a weak brand, high levels of debt, an underperforming supply chain, etc.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3"/>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a:t>
            </a:r>
            <a:br>
              <a:rPr lang="en-US" sz="2400"/>
            </a:br>
            <a:r>
              <a:rPr b="0" lang="en-US" sz="2400"/>
              <a:t>2.External Analysis</a:t>
            </a:r>
            <a:endParaRPr/>
          </a:p>
        </p:txBody>
      </p:sp>
      <p:pic>
        <p:nvPicPr>
          <p:cNvPr descr="List" id="244" name="Google Shape;244;p13"/>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245" name="Google Shape;245;p1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246" name="Google Shape;246;p13"/>
          <p:cNvSpPr/>
          <p:nvPr/>
        </p:nvSpPr>
        <p:spPr>
          <a:xfrm>
            <a:off x="5378700" y="159528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txBox="1"/>
          <p:nvPr/>
        </p:nvSpPr>
        <p:spPr>
          <a:xfrm>
            <a:off x="5588793" y="180537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1.Internal Analysis</a:t>
            </a:r>
            <a:endParaRPr/>
          </a:p>
        </p:txBody>
      </p:sp>
      <p:grpSp>
        <p:nvGrpSpPr>
          <p:cNvPr id="248" name="Google Shape;248;p13"/>
          <p:cNvGrpSpPr/>
          <p:nvPr/>
        </p:nvGrpSpPr>
        <p:grpSpPr>
          <a:xfrm>
            <a:off x="6662510" y="2631708"/>
            <a:ext cx="594154" cy="616618"/>
            <a:chOff x="3532270" y="886369"/>
            <a:chExt cx="507902" cy="527105"/>
          </a:xfrm>
        </p:grpSpPr>
        <p:sp>
          <p:nvSpPr>
            <p:cNvPr id="249" name="Google Shape;249;p13"/>
            <p:cNvSpPr/>
            <p:nvPr/>
          </p:nvSpPr>
          <p:spPr>
            <a:xfrm rot="2160000">
              <a:off x="3622675" y="942976"/>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3"/>
            <p:cNvSpPr txBox="1"/>
            <p:nvPr/>
          </p:nvSpPr>
          <p:spPr>
            <a:xfrm rot="2160000">
              <a:off x="3632045" y="996915"/>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251" name="Google Shape;251;p13"/>
          <p:cNvSpPr/>
          <p:nvPr/>
        </p:nvSpPr>
        <p:spPr>
          <a:xfrm>
            <a:off x="7123396" y="2862879"/>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52" name="Google Shape;252;p13"/>
          <p:cNvSpPr txBox="1"/>
          <p:nvPr/>
        </p:nvSpPr>
        <p:spPr>
          <a:xfrm>
            <a:off x="7333489" y="3072972"/>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2.External Analysis</a:t>
            </a:r>
            <a:endParaRPr/>
          </a:p>
        </p:txBody>
      </p:sp>
      <p:grpSp>
        <p:nvGrpSpPr>
          <p:cNvPr id="253" name="Google Shape;253;p13"/>
          <p:cNvGrpSpPr/>
          <p:nvPr/>
        </p:nvGrpSpPr>
        <p:grpSpPr>
          <a:xfrm>
            <a:off x="7221474" y="4338624"/>
            <a:ext cx="578723" cy="513531"/>
            <a:chOff x="4010090" y="2345495"/>
            <a:chExt cx="494711" cy="438982"/>
          </a:xfrm>
        </p:grpSpPr>
        <p:sp>
          <p:nvSpPr>
            <p:cNvPr id="254" name="Google Shape;254;p13"/>
            <p:cNvSpPr/>
            <p:nvPr/>
          </p:nvSpPr>
          <p:spPr>
            <a:xfrm rot="6480000">
              <a:off x="4093900" y="235804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txBox="1"/>
            <p:nvPr/>
          </p:nvSpPr>
          <p:spPr>
            <a:xfrm rot="-4320000">
              <a:off x="4158126" y="239415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256" name="Google Shape;256;p13"/>
          <p:cNvSpPr/>
          <p:nvPr/>
        </p:nvSpPr>
        <p:spPr>
          <a:xfrm>
            <a:off x="6456981" y="491389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3"/>
          <p:cNvSpPr txBox="1"/>
          <p:nvPr/>
        </p:nvSpPr>
        <p:spPr>
          <a:xfrm>
            <a:off x="6667074"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3.Sales Strategy</a:t>
            </a:r>
            <a:endParaRPr/>
          </a:p>
        </p:txBody>
      </p:sp>
      <p:grpSp>
        <p:nvGrpSpPr>
          <p:cNvPr id="258" name="Google Shape;258;p13"/>
          <p:cNvGrpSpPr/>
          <p:nvPr/>
        </p:nvGrpSpPr>
        <p:grpSpPr>
          <a:xfrm>
            <a:off x="5915511" y="5389105"/>
            <a:ext cx="382639" cy="484178"/>
            <a:chOff x="2893711" y="3243481"/>
            <a:chExt cx="327092" cy="413891"/>
          </a:xfrm>
        </p:grpSpPr>
        <p:sp>
          <p:nvSpPr>
            <p:cNvPr id="259" name="Google Shape;259;p13"/>
            <p:cNvSpPr/>
            <p:nvPr/>
          </p:nvSpPr>
          <p:spPr>
            <a:xfrm rot="10800000">
              <a:off x="2893711" y="324348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3"/>
            <p:cNvSpPr txBox="1"/>
            <p:nvPr/>
          </p:nvSpPr>
          <p:spPr>
            <a:xfrm>
              <a:off x="2991839" y="3326259"/>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261" name="Google Shape;261;p13"/>
          <p:cNvSpPr/>
          <p:nvPr/>
        </p:nvSpPr>
        <p:spPr>
          <a:xfrm>
            <a:off x="4300418" y="491389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3"/>
          <p:cNvSpPr txBox="1"/>
          <p:nvPr/>
        </p:nvSpPr>
        <p:spPr>
          <a:xfrm>
            <a:off x="4510511"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4.Sales Plan</a:t>
            </a:r>
            <a:endParaRPr/>
          </a:p>
        </p:txBody>
      </p:sp>
      <p:grpSp>
        <p:nvGrpSpPr>
          <p:cNvPr id="263" name="Google Shape;263;p13"/>
          <p:cNvGrpSpPr/>
          <p:nvPr/>
        </p:nvGrpSpPr>
        <p:grpSpPr>
          <a:xfrm>
            <a:off x="4398496" y="4359222"/>
            <a:ext cx="578723" cy="513531"/>
            <a:chOff x="1596919" y="2363103"/>
            <a:chExt cx="494711" cy="438982"/>
          </a:xfrm>
        </p:grpSpPr>
        <p:sp>
          <p:nvSpPr>
            <p:cNvPr id="264" name="Google Shape;264;p13"/>
            <p:cNvSpPr/>
            <p:nvPr/>
          </p:nvSpPr>
          <p:spPr>
            <a:xfrm rot="-6480000">
              <a:off x="1680728" y="237564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3"/>
            <p:cNvSpPr txBox="1"/>
            <p:nvPr/>
          </p:nvSpPr>
          <p:spPr>
            <a:xfrm rot="4320000">
              <a:off x="1744954" y="2505090"/>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266" name="Google Shape;266;p13"/>
          <p:cNvSpPr/>
          <p:nvPr/>
        </p:nvSpPr>
        <p:spPr>
          <a:xfrm>
            <a:off x="3634003" y="2862879"/>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txBox="1"/>
          <p:nvPr/>
        </p:nvSpPr>
        <p:spPr>
          <a:xfrm>
            <a:off x="3718836" y="3072972"/>
            <a:ext cx="124584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5.Implemen-tation</a:t>
            </a:r>
            <a:endParaRPr/>
          </a:p>
        </p:txBody>
      </p:sp>
      <p:grpSp>
        <p:nvGrpSpPr>
          <p:cNvPr id="268" name="Google Shape;268;p13"/>
          <p:cNvGrpSpPr/>
          <p:nvPr/>
        </p:nvGrpSpPr>
        <p:grpSpPr>
          <a:xfrm>
            <a:off x="4879426" y="2554570"/>
            <a:ext cx="594154" cy="616618"/>
            <a:chOff x="2040848" y="897252"/>
            <a:chExt cx="507902" cy="527105"/>
          </a:xfrm>
        </p:grpSpPr>
        <p:sp>
          <p:nvSpPr>
            <p:cNvPr id="269" name="Google Shape;269;p13"/>
            <p:cNvSpPr/>
            <p:nvPr/>
          </p:nvSpPr>
          <p:spPr>
            <a:xfrm rot="-2160000">
              <a:off x="2131253" y="95385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3"/>
            <p:cNvSpPr txBox="1"/>
            <p:nvPr/>
          </p:nvSpPr>
          <p:spPr>
            <a:xfrm rot="-2160000">
              <a:off x="2140623" y="106547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271" name="Google Shape;271;p13"/>
          <p:cNvSpPr txBox="1"/>
          <p:nvPr/>
        </p:nvSpPr>
        <p:spPr>
          <a:xfrm>
            <a:off x="5203304" y="3503473"/>
            <a:ext cx="18447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Sales Strategy &amp; Plan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4"/>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277" name="Google Shape;277;p14"/>
          <p:cNvSpPr txBox="1"/>
          <p:nvPr>
            <p:ph idx="1" type="body"/>
          </p:nvPr>
        </p:nvSpPr>
        <p:spPr>
          <a:xfrm>
            <a:off x="1037492" y="1927644"/>
            <a:ext cx="9729788" cy="4555093"/>
          </a:xfrm>
          <a:prstGeom prst="rect">
            <a:avLst/>
          </a:prstGeom>
          <a:noFill/>
          <a:ln>
            <a:noFill/>
          </a:ln>
        </p:spPr>
        <p:txBody>
          <a:bodyPr anchorCtr="0" anchor="t" bIns="45700" lIns="91425" spcFirstLastPara="1" rIns="91425" wrap="square" tIns="45700">
            <a:spAutoFit/>
          </a:bodyPr>
          <a:lstStyle/>
          <a:p>
            <a:pPr indent="-342900" lvl="0" marL="457200" rtl="0" algn="l">
              <a:lnSpc>
                <a:spcPct val="100000"/>
              </a:lnSpc>
              <a:spcBef>
                <a:spcPts val="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Internal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b="1" lang="en-US">
                <a:solidFill>
                  <a:srgbClr val="002776"/>
                </a:solidFill>
                <a:latin typeface="Arial"/>
                <a:ea typeface="Arial"/>
                <a:cs typeface="Arial"/>
                <a:sym typeface="Arial"/>
              </a:rPr>
              <a:t>External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Strategy</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Plan</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Implementation</a:t>
            </a:r>
            <a:endParaRPr/>
          </a:p>
        </p:txBody>
      </p:sp>
      <p:sp>
        <p:nvSpPr>
          <p:cNvPr id="278" name="Google Shape;278;p14"/>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ist" id="279" name="Google Shape;279;p14"/>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280" name="Google Shape;280;p1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281" name="Google Shape;281;p14"/>
          <p:cNvSpPr/>
          <p:nvPr/>
        </p:nvSpPr>
        <p:spPr>
          <a:xfrm>
            <a:off x="5993713" y="2543866"/>
            <a:ext cx="3733800" cy="1143000"/>
          </a:xfrm>
          <a:prstGeom prst="wedgeRoundRectCallout">
            <a:avLst>
              <a:gd fmla="val -80574" name="adj1"/>
              <a:gd fmla="val 1706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Second option to formalize your table of contents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5"/>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PESTLE Analysis</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sp>
        <p:nvSpPr>
          <p:cNvPr id="287" name="Google Shape;287;p15"/>
          <p:cNvSpPr/>
          <p:nvPr/>
        </p:nvSpPr>
        <p:spPr>
          <a:xfrm>
            <a:off x="3844702" y="1820844"/>
            <a:ext cx="4284974" cy="4284973"/>
          </a:xfrm>
          <a:prstGeom prst="ellipse">
            <a:avLst/>
          </a:prstGeom>
          <a:solidFill>
            <a:srgbClr val="F2F2F2"/>
          </a:solidFill>
          <a:ln cap="flat" cmpd="sng" w="9525">
            <a:solidFill>
              <a:schemeClr val="accent5"/>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dk1"/>
                </a:solidFill>
                <a:latin typeface="Arial"/>
                <a:ea typeface="Arial"/>
                <a:cs typeface="Arial"/>
                <a:sym typeface="Arial"/>
              </a:rPr>
              <a:t>PESTLE</a:t>
            </a:r>
            <a:endParaRPr/>
          </a:p>
        </p:txBody>
      </p:sp>
      <p:sp>
        <p:nvSpPr>
          <p:cNvPr id="288" name="Google Shape;288;p15"/>
          <p:cNvSpPr/>
          <p:nvPr/>
        </p:nvSpPr>
        <p:spPr>
          <a:xfrm>
            <a:off x="4285214" y="5352985"/>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S</a:t>
            </a:r>
            <a:endParaRPr/>
          </a:p>
        </p:txBody>
      </p:sp>
      <p:sp>
        <p:nvSpPr>
          <p:cNvPr id="289" name="Google Shape;289;p15"/>
          <p:cNvSpPr/>
          <p:nvPr/>
        </p:nvSpPr>
        <p:spPr>
          <a:xfrm>
            <a:off x="3544164" y="3540097"/>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E</a:t>
            </a:r>
            <a:endParaRPr/>
          </a:p>
        </p:txBody>
      </p:sp>
      <p:sp>
        <p:nvSpPr>
          <p:cNvPr id="290" name="Google Shape;290;p15"/>
          <p:cNvSpPr/>
          <p:nvPr/>
        </p:nvSpPr>
        <p:spPr>
          <a:xfrm>
            <a:off x="7583747" y="3540097"/>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L</a:t>
            </a:r>
            <a:endParaRPr/>
          </a:p>
        </p:txBody>
      </p:sp>
      <p:sp>
        <p:nvSpPr>
          <p:cNvPr id="291" name="Google Shape;291;p15"/>
          <p:cNvSpPr txBox="1"/>
          <p:nvPr/>
        </p:nvSpPr>
        <p:spPr>
          <a:xfrm>
            <a:off x="8492554" y="3493971"/>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Legal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292" name="Google Shape;292;p15"/>
          <p:cNvSpPr txBox="1"/>
          <p:nvPr/>
        </p:nvSpPr>
        <p:spPr>
          <a:xfrm>
            <a:off x="7759201" y="5306859"/>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Environmental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293" name="Google Shape;293;p15"/>
          <p:cNvSpPr/>
          <p:nvPr/>
        </p:nvSpPr>
        <p:spPr>
          <a:xfrm>
            <a:off x="4285214" y="1863671"/>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P</a:t>
            </a:r>
            <a:endParaRPr/>
          </a:p>
        </p:txBody>
      </p:sp>
      <p:sp>
        <p:nvSpPr>
          <p:cNvPr id="294" name="Google Shape;294;p15"/>
          <p:cNvSpPr/>
          <p:nvPr/>
        </p:nvSpPr>
        <p:spPr>
          <a:xfrm>
            <a:off x="6842696" y="5352985"/>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E</a:t>
            </a:r>
            <a:endParaRPr/>
          </a:p>
        </p:txBody>
      </p:sp>
      <p:sp>
        <p:nvSpPr>
          <p:cNvPr id="295" name="Google Shape;295;p15"/>
          <p:cNvSpPr/>
          <p:nvPr/>
        </p:nvSpPr>
        <p:spPr>
          <a:xfrm>
            <a:off x="6842696" y="1863671"/>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T</a:t>
            </a:r>
            <a:endParaRPr/>
          </a:p>
        </p:txBody>
      </p:sp>
      <p:sp>
        <p:nvSpPr>
          <p:cNvPr id="296" name="Google Shape;296;p15"/>
          <p:cNvSpPr txBox="1"/>
          <p:nvPr/>
        </p:nvSpPr>
        <p:spPr>
          <a:xfrm>
            <a:off x="7759201" y="1817545"/>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Technological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297" name="Google Shape;297;p15"/>
          <p:cNvSpPr txBox="1"/>
          <p:nvPr/>
        </p:nvSpPr>
        <p:spPr>
          <a:xfrm>
            <a:off x="1080221" y="1817545"/>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Political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298" name="Google Shape;298;p15"/>
          <p:cNvSpPr txBox="1"/>
          <p:nvPr/>
        </p:nvSpPr>
        <p:spPr>
          <a:xfrm>
            <a:off x="604837" y="3493971"/>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Economical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299" name="Google Shape;299;p15"/>
          <p:cNvSpPr txBox="1"/>
          <p:nvPr/>
        </p:nvSpPr>
        <p:spPr>
          <a:xfrm>
            <a:off x="1080221" y="5306859"/>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Social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300" name="Google Shape;300;p1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01" name="Google Shape;301;p15"/>
          <p:cNvSpPr/>
          <p:nvPr/>
        </p:nvSpPr>
        <p:spPr>
          <a:xfrm>
            <a:off x="2373596" y="1094799"/>
            <a:ext cx="3965347" cy="938719"/>
          </a:xfrm>
          <a:prstGeom prst="wedgeRoundRectCallout">
            <a:avLst>
              <a:gd fmla="val -56070" name="adj1"/>
              <a:gd fmla="val 109037"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Insert here any political factors that impact or could potentially impact the Business. These political factors can be local, national or international.</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Examples: A new government, a new initiative, a change of policy, etc.</a:t>
            </a:r>
            <a:endParaRPr/>
          </a:p>
        </p:txBody>
      </p:sp>
      <p:sp>
        <p:nvSpPr>
          <p:cNvPr id="302" name="Google Shape;302;p15"/>
          <p:cNvSpPr/>
          <p:nvPr/>
        </p:nvSpPr>
        <p:spPr>
          <a:xfrm>
            <a:off x="2373596" y="2754282"/>
            <a:ext cx="3965347" cy="938719"/>
          </a:xfrm>
          <a:prstGeom prst="wedgeRoundRectCallout">
            <a:avLst>
              <a:gd fmla="val -57905" name="adj1"/>
              <a:gd fmla="val 100182"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Insert here any Economical factors that impact or could potentially impact the Business.</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Examples: A change in disposable income, an economic downturns, the availability of bank loans, etc.</a:t>
            </a:r>
            <a:endParaRPr/>
          </a:p>
        </p:txBody>
      </p:sp>
      <p:sp>
        <p:nvSpPr>
          <p:cNvPr id="303" name="Google Shape;303;p15"/>
          <p:cNvSpPr/>
          <p:nvPr/>
        </p:nvSpPr>
        <p:spPr>
          <a:xfrm>
            <a:off x="2373596" y="4432690"/>
            <a:ext cx="3965347" cy="938719"/>
          </a:xfrm>
          <a:prstGeom prst="wedgeRoundRectCallout">
            <a:avLst>
              <a:gd fmla="val -56612" name="adj1"/>
              <a:gd fmla="val 106376"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Insert here any Sociological factors that impact or could potentially impact the Business.</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Examples: The demographic change of a company’s customers, a change in the cultural habits of the population, a change in lifestyle, etc.</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6"/>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PESTLE Analysis</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sp>
        <p:nvSpPr>
          <p:cNvPr id="309" name="Google Shape;309;p16"/>
          <p:cNvSpPr/>
          <p:nvPr/>
        </p:nvSpPr>
        <p:spPr>
          <a:xfrm>
            <a:off x="3844702" y="1820844"/>
            <a:ext cx="4284974" cy="4284973"/>
          </a:xfrm>
          <a:prstGeom prst="ellipse">
            <a:avLst/>
          </a:prstGeom>
          <a:solidFill>
            <a:srgbClr val="F2F2F2"/>
          </a:solidFill>
          <a:ln cap="flat" cmpd="sng" w="9525">
            <a:solidFill>
              <a:schemeClr val="accent5"/>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dk1"/>
                </a:solidFill>
                <a:latin typeface="Arial"/>
                <a:ea typeface="Arial"/>
                <a:cs typeface="Arial"/>
                <a:sym typeface="Arial"/>
              </a:rPr>
              <a:t>PESTLE</a:t>
            </a:r>
            <a:endParaRPr/>
          </a:p>
        </p:txBody>
      </p:sp>
      <p:sp>
        <p:nvSpPr>
          <p:cNvPr id="310" name="Google Shape;310;p16"/>
          <p:cNvSpPr/>
          <p:nvPr/>
        </p:nvSpPr>
        <p:spPr>
          <a:xfrm>
            <a:off x="4285214" y="5352985"/>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S</a:t>
            </a:r>
            <a:endParaRPr/>
          </a:p>
        </p:txBody>
      </p:sp>
      <p:sp>
        <p:nvSpPr>
          <p:cNvPr id="311" name="Google Shape;311;p16"/>
          <p:cNvSpPr/>
          <p:nvPr/>
        </p:nvSpPr>
        <p:spPr>
          <a:xfrm>
            <a:off x="3544164" y="3540097"/>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E</a:t>
            </a:r>
            <a:endParaRPr/>
          </a:p>
        </p:txBody>
      </p:sp>
      <p:sp>
        <p:nvSpPr>
          <p:cNvPr id="312" name="Google Shape;312;p16"/>
          <p:cNvSpPr/>
          <p:nvPr/>
        </p:nvSpPr>
        <p:spPr>
          <a:xfrm>
            <a:off x="7583747" y="3540097"/>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L</a:t>
            </a:r>
            <a:endParaRPr/>
          </a:p>
        </p:txBody>
      </p:sp>
      <p:sp>
        <p:nvSpPr>
          <p:cNvPr id="313" name="Google Shape;313;p16"/>
          <p:cNvSpPr txBox="1"/>
          <p:nvPr/>
        </p:nvSpPr>
        <p:spPr>
          <a:xfrm>
            <a:off x="8492554" y="3493971"/>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Legal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314" name="Google Shape;314;p16"/>
          <p:cNvSpPr txBox="1"/>
          <p:nvPr/>
        </p:nvSpPr>
        <p:spPr>
          <a:xfrm>
            <a:off x="7759201" y="5306859"/>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Environmental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315" name="Google Shape;315;p16"/>
          <p:cNvSpPr/>
          <p:nvPr/>
        </p:nvSpPr>
        <p:spPr>
          <a:xfrm>
            <a:off x="4285214" y="1863671"/>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P</a:t>
            </a:r>
            <a:endParaRPr/>
          </a:p>
        </p:txBody>
      </p:sp>
      <p:sp>
        <p:nvSpPr>
          <p:cNvPr id="316" name="Google Shape;316;p16"/>
          <p:cNvSpPr/>
          <p:nvPr/>
        </p:nvSpPr>
        <p:spPr>
          <a:xfrm>
            <a:off x="6842696" y="5352985"/>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E</a:t>
            </a:r>
            <a:endParaRPr/>
          </a:p>
        </p:txBody>
      </p:sp>
      <p:sp>
        <p:nvSpPr>
          <p:cNvPr id="317" name="Google Shape;317;p16"/>
          <p:cNvSpPr/>
          <p:nvPr/>
        </p:nvSpPr>
        <p:spPr>
          <a:xfrm>
            <a:off x="6842696" y="1863671"/>
            <a:ext cx="846468" cy="846467"/>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101">
                <a:solidFill>
                  <a:schemeClr val="lt1"/>
                </a:solidFill>
                <a:latin typeface="Arial"/>
                <a:ea typeface="Arial"/>
                <a:cs typeface="Arial"/>
                <a:sym typeface="Arial"/>
              </a:rPr>
              <a:t>T</a:t>
            </a:r>
            <a:endParaRPr/>
          </a:p>
        </p:txBody>
      </p:sp>
      <p:sp>
        <p:nvSpPr>
          <p:cNvPr id="318" name="Google Shape;318;p16"/>
          <p:cNvSpPr txBox="1"/>
          <p:nvPr/>
        </p:nvSpPr>
        <p:spPr>
          <a:xfrm>
            <a:off x="7759201" y="1817545"/>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Technological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319" name="Google Shape;319;p16"/>
          <p:cNvSpPr txBox="1"/>
          <p:nvPr/>
        </p:nvSpPr>
        <p:spPr>
          <a:xfrm>
            <a:off x="1080221" y="1817545"/>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Political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320" name="Google Shape;320;p16"/>
          <p:cNvSpPr txBox="1"/>
          <p:nvPr/>
        </p:nvSpPr>
        <p:spPr>
          <a:xfrm>
            <a:off x="604837" y="3493971"/>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Economical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321" name="Google Shape;321;p16"/>
          <p:cNvSpPr txBox="1"/>
          <p:nvPr/>
        </p:nvSpPr>
        <p:spPr>
          <a:xfrm>
            <a:off x="1080221" y="5306859"/>
            <a:ext cx="3094609" cy="9387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Social</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a:p>
            <a:pPr indent="-114300" lvl="0" marL="114300" marR="0" rtl="0" algn="l">
              <a:spcBef>
                <a:spcPts val="0"/>
              </a:spcBef>
              <a:spcAft>
                <a:spcPts val="0"/>
              </a:spcAft>
              <a:buClr>
                <a:schemeClr val="dk1"/>
              </a:buClr>
              <a:buSzPts val="1100"/>
              <a:buFont typeface="Arial"/>
              <a:buChar char="•"/>
            </a:pPr>
            <a:r>
              <a:rPr lang="en-US" sz="1100">
                <a:solidFill>
                  <a:schemeClr val="dk1"/>
                </a:solidFill>
                <a:latin typeface="Arial"/>
                <a:ea typeface="Arial"/>
                <a:cs typeface="Arial"/>
                <a:sym typeface="Arial"/>
              </a:rPr>
              <a:t>Replace the text by your own text</a:t>
            </a:r>
            <a:endParaRPr/>
          </a:p>
        </p:txBody>
      </p:sp>
      <p:sp>
        <p:nvSpPr>
          <p:cNvPr id="322" name="Google Shape;322;p1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23" name="Google Shape;323;p16"/>
          <p:cNvSpPr/>
          <p:nvPr/>
        </p:nvSpPr>
        <p:spPr>
          <a:xfrm>
            <a:off x="3136597" y="1637890"/>
            <a:ext cx="4800600" cy="846467"/>
          </a:xfrm>
          <a:prstGeom prst="wedgeRoundRectCallout">
            <a:avLst>
              <a:gd fmla="val 59250" name="adj1"/>
              <a:gd fmla="val 3966"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Insert here any Technological factors that impact or could potentially impact the Business.</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Examples: A new software, device, patents, etc.</a:t>
            </a:r>
            <a:endParaRPr/>
          </a:p>
        </p:txBody>
      </p:sp>
      <p:sp>
        <p:nvSpPr>
          <p:cNvPr id="324" name="Google Shape;324;p16"/>
          <p:cNvSpPr/>
          <p:nvPr/>
        </p:nvSpPr>
        <p:spPr>
          <a:xfrm>
            <a:off x="3136597" y="3424782"/>
            <a:ext cx="4800600" cy="785083"/>
          </a:xfrm>
          <a:prstGeom prst="wedgeRoundRectCallout">
            <a:avLst>
              <a:gd fmla="val 62558" name="adj1"/>
              <a:gd fmla="val 47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Insert here any Legal factors that impact or could potentially impact the Business.</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Examples: International selling laws, health and safety requirement, Data protection, competitive regulations, employment law, etc.</a:t>
            </a:r>
            <a:endParaRPr/>
          </a:p>
        </p:txBody>
      </p:sp>
      <p:sp>
        <p:nvSpPr>
          <p:cNvPr id="325" name="Google Shape;325;p16"/>
          <p:cNvSpPr/>
          <p:nvPr/>
        </p:nvSpPr>
        <p:spPr>
          <a:xfrm>
            <a:off x="3136597" y="5438744"/>
            <a:ext cx="4800600" cy="785083"/>
          </a:xfrm>
          <a:prstGeom prst="wedgeRoundRectCallout">
            <a:avLst>
              <a:gd fmla="val 59618" name="adj1"/>
              <a:gd fmla="val -4696"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Insert here any Environmental factors that impact or could potentially impact the Business.</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Examples: the use of plastic bags for goods, the use of electrical cars, customer values, environmental regulations, etc.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7"/>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Target Market</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sp>
        <p:nvSpPr>
          <p:cNvPr id="331" name="Google Shape;331;p1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32" name="Google Shape;332;p17"/>
          <p:cNvSpPr/>
          <p:nvPr/>
        </p:nvSpPr>
        <p:spPr>
          <a:xfrm>
            <a:off x="618835" y="1676400"/>
            <a:ext cx="10968328" cy="477802"/>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Target Market description</a:t>
            </a:r>
            <a:endParaRPr/>
          </a:p>
        </p:txBody>
      </p:sp>
      <p:sp>
        <p:nvSpPr>
          <p:cNvPr id="333" name="Google Shape;333;p17"/>
          <p:cNvSpPr/>
          <p:nvPr/>
        </p:nvSpPr>
        <p:spPr>
          <a:xfrm>
            <a:off x="618835" y="2154202"/>
            <a:ext cx="10968328" cy="4118358"/>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400"/>
              <a:buFont typeface="Arial"/>
              <a:buChar char="•"/>
            </a:pPr>
            <a:r>
              <a:rPr lang="en-US" sz="1400">
                <a:solidFill>
                  <a:schemeClr val="dk1"/>
                </a:solidFill>
                <a:latin typeface="Arial"/>
                <a:ea typeface="Arial"/>
                <a:cs typeface="Arial"/>
                <a:sym typeface="Arial"/>
              </a:rPr>
              <a:t>Describe in this text block your target market(s), that is to say the group of customers that you want to market your products to.</a:t>
            </a:r>
            <a:endParaRPr/>
          </a:p>
          <a:p>
            <a:pPr indent="-138113" lvl="0" marL="138113" marR="0" rtl="0" algn="l">
              <a:spcBef>
                <a:spcPts val="800"/>
              </a:spcBef>
              <a:spcAft>
                <a:spcPts val="0"/>
              </a:spcAft>
              <a:buClr>
                <a:schemeClr val="dk1"/>
              </a:buClr>
              <a:buSzPts val="1400"/>
              <a:buFont typeface="Arial"/>
              <a:buChar char="•"/>
            </a:pPr>
            <a:r>
              <a:rPr lang="en-US" sz="1400">
                <a:solidFill>
                  <a:schemeClr val="dk1"/>
                </a:solidFill>
                <a:latin typeface="Arial"/>
                <a:ea typeface="Arial"/>
                <a:cs typeface="Arial"/>
                <a:sym typeface="Arial"/>
              </a:rPr>
              <a:t>To identify your target market(s), you can use customer segmentations such as:</a:t>
            </a:r>
            <a:endParaRPr/>
          </a:p>
          <a:p>
            <a:pPr indent="-215900" lvl="0" marL="354013" marR="0" rtl="0" algn="l">
              <a:spcBef>
                <a:spcPts val="800"/>
              </a:spcBef>
              <a:spcAft>
                <a:spcPts val="0"/>
              </a:spcAft>
              <a:buClr>
                <a:schemeClr val="dk1"/>
              </a:buClr>
              <a:buSzPts val="1400"/>
              <a:buFont typeface="Noto Sans Symbols"/>
              <a:buChar char="✔"/>
            </a:pPr>
            <a:r>
              <a:rPr lang="en-US" sz="1400">
                <a:solidFill>
                  <a:schemeClr val="dk1"/>
                </a:solidFill>
                <a:latin typeface="Arial"/>
                <a:ea typeface="Arial"/>
                <a:cs typeface="Arial"/>
                <a:sym typeface="Arial"/>
              </a:rPr>
              <a:t>Geographic segmentation</a:t>
            </a:r>
            <a:endParaRPr/>
          </a:p>
          <a:p>
            <a:pPr indent="-215900" lvl="0" marL="354013" marR="0" rtl="0" algn="l">
              <a:spcBef>
                <a:spcPts val="800"/>
              </a:spcBef>
              <a:spcAft>
                <a:spcPts val="0"/>
              </a:spcAft>
              <a:buClr>
                <a:schemeClr val="dk1"/>
              </a:buClr>
              <a:buSzPts val="1400"/>
              <a:buFont typeface="Noto Sans Symbols"/>
              <a:buChar char="✔"/>
            </a:pPr>
            <a:r>
              <a:rPr lang="en-US" sz="1400">
                <a:solidFill>
                  <a:schemeClr val="dk1"/>
                </a:solidFill>
                <a:latin typeface="Arial"/>
                <a:ea typeface="Arial"/>
                <a:cs typeface="Arial"/>
                <a:sym typeface="Arial"/>
              </a:rPr>
              <a:t>Demographic/socioeconomic segmentation: gender, age, income, occupation, education, household size, and stage in the family life cycle)</a:t>
            </a:r>
            <a:endParaRPr/>
          </a:p>
          <a:p>
            <a:pPr indent="-215900" lvl="0" marL="354013" marR="0" rtl="0" algn="l">
              <a:spcBef>
                <a:spcPts val="800"/>
              </a:spcBef>
              <a:spcAft>
                <a:spcPts val="0"/>
              </a:spcAft>
              <a:buClr>
                <a:schemeClr val="dk1"/>
              </a:buClr>
              <a:buSzPts val="1400"/>
              <a:buFont typeface="Noto Sans Symbols"/>
              <a:buChar char="✔"/>
            </a:pPr>
            <a:r>
              <a:rPr lang="en-US" sz="1400">
                <a:solidFill>
                  <a:schemeClr val="dk1"/>
                </a:solidFill>
                <a:latin typeface="Arial"/>
                <a:ea typeface="Arial"/>
                <a:cs typeface="Arial"/>
                <a:sym typeface="Arial"/>
              </a:rPr>
              <a:t>Attitudes</a:t>
            </a:r>
            <a:endParaRPr/>
          </a:p>
          <a:p>
            <a:pPr indent="-215900" lvl="0" marL="354013" marR="0" rtl="0" algn="l">
              <a:spcBef>
                <a:spcPts val="800"/>
              </a:spcBef>
              <a:spcAft>
                <a:spcPts val="0"/>
              </a:spcAft>
              <a:buClr>
                <a:schemeClr val="dk1"/>
              </a:buClr>
              <a:buSzPts val="1400"/>
              <a:buFont typeface="Noto Sans Symbols"/>
              <a:buChar char="✔"/>
            </a:pPr>
            <a:r>
              <a:rPr lang="en-US" sz="1400">
                <a:solidFill>
                  <a:schemeClr val="dk1"/>
                </a:solidFill>
                <a:latin typeface="Arial"/>
                <a:ea typeface="Arial"/>
                <a:cs typeface="Arial"/>
                <a:sym typeface="Arial"/>
              </a:rPr>
              <a:t>Psychological profiles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8"/>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Target Market Size &amp; Growth</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grpSp>
        <p:nvGrpSpPr>
          <p:cNvPr id="339" name="Google Shape;339;p18"/>
          <p:cNvGrpSpPr/>
          <p:nvPr/>
        </p:nvGrpSpPr>
        <p:grpSpPr>
          <a:xfrm>
            <a:off x="514350" y="1738745"/>
            <a:ext cx="4721260" cy="4606637"/>
            <a:chOff x="2743200" y="2025095"/>
            <a:chExt cx="2877674" cy="2807810"/>
          </a:xfrm>
        </p:grpSpPr>
        <p:grpSp>
          <p:nvGrpSpPr>
            <p:cNvPr id="340" name="Google Shape;340;p18"/>
            <p:cNvGrpSpPr/>
            <p:nvPr/>
          </p:nvGrpSpPr>
          <p:grpSpPr>
            <a:xfrm>
              <a:off x="2743200" y="2025095"/>
              <a:ext cx="2877674" cy="2807810"/>
              <a:chOff x="1323975" y="3575050"/>
              <a:chExt cx="2419350" cy="2360613"/>
            </a:xfrm>
          </p:grpSpPr>
          <p:sp>
            <p:nvSpPr>
              <p:cNvPr id="341" name="Google Shape;341;p18"/>
              <p:cNvSpPr/>
              <p:nvPr/>
            </p:nvSpPr>
            <p:spPr>
              <a:xfrm>
                <a:off x="1323975" y="3575050"/>
                <a:ext cx="2419350" cy="2360613"/>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p:txBody>
          </p:sp>
          <p:sp>
            <p:nvSpPr>
              <p:cNvPr id="342" name="Google Shape;342;p18"/>
              <p:cNvSpPr/>
              <p:nvPr/>
            </p:nvSpPr>
            <p:spPr>
              <a:xfrm>
                <a:off x="1655763" y="4205288"/>
                <a:ext cx="1755775" cy="1730375"/>
              </a:xfrm>
              <a:prstGeom prst="ellipse">
                <a:avLst/>
              </a:prstGeom>
              <a:solidFill>
                <a:srgbClr val="2F7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p:txBody>
          </p:sp>
        </p:grpSp>
        <p:sp>
          <p:nvSpPr>
            <p:cNvPr id="343" name="Google Shape;343;p18"/>
            <p:cNvSpPr/>
            <p:nvPr/>
          </p:nvSpPr>
          <p:spPr>
            <a:xfrm>
              <a:off x="3531964" y="2274703"/>
              <a:ext cx="1339850" cy="252749"/>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Total Available Market (TAM)</a:t>
              </a:r>
              <a:endParaRPr/>
            </a:p>
          </p:txBody>
        </p:sp>
        <p:sp>
          <p:nvSpPr>
            <p:cNvPr id="344" name="Google Shape;344;p18"/>
            <p:cNvSpPr/>
            <p:nvPr/>
          </p:nvSpPr>
          <p:spPr>
            <a:xfrm>
              <a:off x="3500066" y="2994089"/>
              <a:ext cx="1339850" cy="252749"/>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Serviceable Available Market (SAM)</a:t>
              </a:r>
              <a:endParaRPr/>
            </a:p>
          </p:txBody>
        </p:sp>
        <p:grpSp>
          <p:nvGrpSpPr>
            <p:cNvPr id="345" name="Google Shape;345;p18"/>
            <p:cNvGrpSpPr/>
            <p:nvPr/>
          </p:nvGrpSpPr>
          <p:grpSpPr>
            <a:xfrm>
              <a:off x="3494110" y="3335163"/>
              <a:ext cx="1463040" cy="1463040"/>
              <a:chOff x="3766919" y="2927923"/>
              <a:chExt cx="240448" cy="240448"/>
            </a:xfrm>
          </p:grpSpPr>
          <p:sp>
            <p:nvSpPr>
              <p:cNvPr id="346" name="Google Shape;346;p18"/>
              <p:cNvSpPr/>
              <p:nvPr/>
            </p:nvSpPr>
            <p:spPr>
              <a:xfrm>
                <a:off x="3766919" y="2927923"/>
                <a:ext cx="240448" cy="240448"/>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rgbClr val="000000"/>
                  </a:solidFill>
                  <a:latin typeface="Arial"/>
                  <a:ea typeface="Arial"/>
                  <a:cs typeface="Arial"/>
                  <a:sym typeface="Arial"/>
                </a:endParaRPr>
              </a:p>
            </p:txBody>
          </p:sp>
          <p:sp>
            <p:nvSpPr>
              <p:cNvPr id="347" name="Google Shape;347;p18"/>
              <p:cNvSpPr/>
              <p:nvPr/>
            </p:nvSpPr>
            <p:spPr>
              <a:xfrm>
                <a:off x="3766919" y="2930627"/>
                <a:ext cx="237744" cy="237744"/>
              </a:xfrm>
              <a:prstGeom prst="pie">
                <a:avLst>
                  <a:gd fmla="val 21112043" name="adj1"/>
                  <a:gd fmla="val 2893848" name="adj2"/>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rgbClr val="0559FF"/>
                  </a:solidFill>
                  <a:latin typeface="Arial"/>
                  <a:ea typeface="Arial"/>
                  <a:cs typeface="Arial"/>
                  <a:sym typeface="Arial"/>
                </a:endParaRPr>
              </a:p>
            </p:txBody>
          </p:sp>
        </p:grpSp>
        <p:sp>
          <p:nvSpPr>
            <p:cNvPr id="348" name="Google Shape;348;p18"/>
            <p:cNvSpPr/>
            <p:nvPr/>
          </p:nvSpPr>
          <p:spPr>
            <a:xfrm>
              <a:off x="3548542" y="3680847"/>
              <a:ext cx="1339850" cy="126375"/>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Target Market</a:t>
              </a:r>
              <a:endParaRPr/>
            </a:p>
          </p:txBody>
        </p:sp>
        <p:sp>
          <p:nvSpPr>
            <p:cNvPr id="349" name="Google Shape;349;p18"/>
            <p:cNvSpPr/>
            <p:nvPr/>
          </p:nvSpPr>
          <p:spPr>
            <a:xfrm>
              <a:off x="4221463" y="4063048"/>
              <a:ext cx="883437" cy="2660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400"/>
                <a:buFont typeface="Noto Sans Symbols"/>
                <a:buNone/>
              </a:pPr>
              <a:r>
                <a:rPr b="1" i="0" lang="en-US" sz="1400" u="none" cap="none" strike="noStrike">
                  <a:solidFill>
                    <a:schemeClr val="dk2"/>
                  </a:solidFill>
                  <a:latin typeface="Arial"/>
                  <a:ea typeface="Arial"/>
                  <a:cs typeface="Arial"/>
                  <a:sym typeface="Arial"/>
                </a:rPr>
                <a:t>Market </a:t>
              </a:r>
              <a:endParaRPr/>
            </a:p>
            <a:p>
              <a:pPr indent="0" lvl="0" marL="0" marR="0" rtl="0" algn="ctr">
                <a:lnSpc>
                  <a:spcPct val="100000"/>
                </a:lnSpc>
                <a:spcBef>
                  <a:spcPts val="0"/>
                </a:spcBef>
                <a:spcAft>
                  <a:spcPts val="0"/>
                </a:spcAft>
                <a:buClr>
                  <a:schemeClr val="dk1"/>
                </a:buClr>
                <a:buSzPts val="1400"/>
                <a:buFont typeface="Noto Sans Symbols"/>
                <a:buNone/>
              </a:pPr>
              <a:r>
                <a:rPr b="1" i="0" lang="en-US" sz="1400" u="none" cap="none" strike="noStrike">
                  <a:solidFill>
                    <a:schemeClr val="dk2"/>
                  </a:solidFill>
                  <a:latin typeface="Arial"/>
                  <a:ea typeface="Arial"/>
                  <a:cs typeface="Arial"/>
                  <a:sym typeface="Arial"/>
                </a:rPr>
                <a:t>Share</a:t>
              </a:r>
              <a:endParaRPr/>
            </a:p>
          </p:txBody>
        </p:sp>
      </p:grpSp>
      <p:sp>
        <p:nvSpPr>
          <p:cNvPr id="350" name="Google Shape;350;p18"/>
          <p:cNvSpPr/>
          <p:nvPr/>
        </p:nvSpPr>
        <p:spPr>
          <a:xfrm>
            <a:off x="5375563" y="1798780"/>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351" name="Google Shape;351;p18"/>
          <p:cNvSpPr/>
          <p:nvPr/>
        </p:nvSpPr>
        <p:spPr>
          <a:xfrm>
            <a:off x="5375563" y="2944566"/>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352" name="Google Shape;352;p18"/>
          <p:cNvSpPr/>
          <p:nvPr/>
        </p:nvSpPr>
        <p:spPr>
          <a:xfrm>
            <a:off x="5375563" y="4090351"/>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353" name="Google Shape;353;p18"/>
          <p:cNvSpPr/>
          <p:nvPr/>
        </p:nvSpPr>
        <p:spPr>
          <a:xfrm>
            <a:off x="5375563" y="5236137"/>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cxnSp>
        <p:nvCxnSpPr>
          <p:cNvPr id="354" name="Google Shape;354;p18"/>
          <p:cNvCxnSpPr/>
          <p:nvPr/>
        </p:nvCxnSpPr>
        <p:spPr>
          <a:xfrm>
            <a:off x="4351735" y="2562938"/>
            <a:ext cx="1023828" cy="0"/>
          </a:xfrm>
          <a:prstGeom prst="straightConnector1">
            <a:avLst/>
          </a:prstGeom>
          <a:noFill/>
          <a:ln cap="flat" cmpd="sng" w="22225">
            <a:solidFill>
              <a:srgbClr val="002060"/>
            </a:solidFill>
            <a:prstDash val="solid"/>
            <a:miter lim="800000"/>
            <a:headEnd len="sm" w="sm" type="none"/>
            <a:tailEnd len="sm" w="sm" type="none"/>
          </a:ln>
        </p:spPr>
      </p:cxnSp>
      <p:cxnSp>
        <p:nvCxnSpPr>
          <p:cNvPr id="355" name="Google Shape;355;p18"/>
          <p:cNvCxnSpPr/>
          <p:nvPr/>
        </p:nvCxnSpPr>
        <p:spPr>
          <a:xfrm>
            <a:off x="3954330" y="3541992"/>
            <a:ext cx="1421233" cy="0"/>
          </a:xfrm>
          <a:prstGeom prst="straightConnector1">
            <a:avLst/>
          </a:prstGeom>
          <a:noFill/>
          <a:ln cap="flat" cmpd="sng" w="22225">
            <a:solidFill>
              <a:srgbClr val="3075FF"/>
            </a:solidFill>
            <a:prstDash val="solid"/>
            <a:miter lim="800000"/>
            <a:headEnd len="sm" w="sm" type="none"/>
            <a:tailEnd len="sm" w="sm" type="none"/>
          </a:ln>
        </p:spPr>
      </p:cxnSp>
      <p:cxnSp>
        <p:nvCxnSpPr>
          <p:cNvPr id="356" name="Google Shape;356;p18"/>
          <p:cNvCxnSpPr/>
          <p:nvPr/>
        </p:nvCxnSpPr>
        <p:spPr>
          <a:xfrm>
            <a:off x="3954330" y="4616507"/>
            <a:ext cx="1421233" cy="0"/>
          </a:xfrm>
          <a:prstGeom prst="straightConnector1">
            <a:avLst/>
          </a:prstGeom>
          <a:noFill/>
          <a:ln cap="flat" cmpd="sng" w="22225">
            <a:solidFill>
              <a:srgbClr val="7F7F7F"/>
            </a:solidFill>
            <a:prstDash val="solid"/>
            <a:miter lim="800000"/>
            <a:headEnd len="sm" w="sm" type="none"/>
            <a:tailEnd len="sm" w="sm" type="none"/>
          </a:ln>
        </p:spPr>
      </p:cxnSp>
      <p:cxnSp>
        <p:nvCxnSpPr>
          <p:cNvPr id="357" name="Google Shape;357;p18"/>
          <p:cNvCxnSpPr/>
          <p:nvPr/>
        </p:nvCxnSpPr>
        <p:spPr>
          <a:xfrm>
            <a:off x="3814618" y="5762293"/>
            <a:ext cx="1560945" cy="0"/>
          </a:xfrm>
          <a:prstGeom prst="straightConnector1">
            <a:avLst/>
          </a:prstGeom>
          <a:noFill/>
          <a:ln cap="flat" cmpd="sng" w="22225">
            <a:solidFill>
              <a:srgbClr val="D5D5D5"/>
            </a:solidFill>
            <a:prstDash val="solid"/>
            <a:miter lim="800000"/>
            <a:headEnd len="sm" w="sm" type="none"/>
            <a:tailEnd len="sm" w="sm" type="none"/>
          </a:ln>
        </p:spPr>
      </p:cxnSp>
      <p:sp>
        <p:nvSpPr>
          <p:cNvPr id="358" name="Google Shape;358;p18"/>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59" name="Google Shape;359;p18"/>
          <p:cNvSpPr/>
          <p:nvPr/>
        </p:nvSpPr>
        <p:spPr>
          <a:xfrm>
            <a:off x="941078" y="1006597"/>
            <a:ext cx="4969941" cy="1074220"/>
          </a:xfrm>
          <a:prstGeom prst="wedgeRoundRectCallout">
            <a:avLst>
              <a:gd fmla="val 9282" name="adj1"/>
              <a:gd fmla="val 84797"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TAM refers to the global revenue opportunity available for a product or service</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Some sources of information such as government data, trade associations, financial data from major players and customer surveys should help you to provide a rough estimation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9"/>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Target Market Size &amp; Growth</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grpSp>
        <p:nvGrpSpPr>
          <p:cNvPr id="365" name="Google Shape;365;p19"/>
          <p:cNvGrpSpPr/>
          <p:nvPr/>
        </p:nvGrpSpPr>
        <p:grpSpPr>
          <a:xfrm>
            <a:off x="514350" y="1738745"/>
            <a:ext cx="4721260" cy="4606637"/>
            <a:chOff x="2743200" y="2025095"/>
            <a:chExt cx="2877674" cy="2807810"/>
          </a:xfrm>
        </p:grpSpPr>
        <p:grpSp>
          <p:nvGrpSpPr>
            <p:cNvPr id="366" name="Google Shape;366;p19"/>
            <p:cNvGrpSpPr/>
            <p:nvPr/>
          </p:nvGrpSpPr>
          <p:grpSpPr>
            <a:xfrm>
              <a:off x="2743200" y="2025095"/>
              <a:ext cx="2877674" cy="2807810"/>
              <a:chOff x="1323975" y="3575050"/>
              <a:chExt cx="2419350" cy="2360613"/>
            </a:xfrm>
          </p:grpSpPr>
          <p:sp>
            <p:nvSpPr>
              <p:cNvPr id="367" name="Google Shape;367;p19"/>
              <p:cNvSpPr/>
              <p:nvPr/>
            </p:nvSpPr>
            <p:spPr>
              <a:xfrm>
                <a:off x="1323975" y="3575050"/>
                <a:ext cx="2419350" cy="2360613"/>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p:txBody>
          </p:sp>
          <p:sp>
            <p:nvSpPr>
              <p:cNvPr id="368" name="Google Shape;368;p19"/>
              <p:cNvSpPr/>
              <p:nvPr/>
            </p:nvSpPr>
            <p:spPr>
              <a:xfrm>
                <a:off x="1655763" y="4205288"/>
                <a:ext cx="1755775" cy="1730375"/>
              </a:xfrm>
              <a:prstGeom prst="ellipse">
                <a:avLst/>
              </a:prstGeom>
              <a:solidFill>
                <a:srgbClr val="2F7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p:txBody>
          </p:sp>
        </p:grpSp>
        <p:sp>
          <p:nvSpPr>
            <p:cNvPr id="369" name="Google Shape;369;p19"/>
            <p:cNvSpPr/>
            <p:nvPr/>
          </p:nvSpPr>
          <p:spPr>
            <a:xfrm>
              <a:off x="3531964" y="2274703"/>
              <a:ext cx="1339850" cy="252749"/>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Total Available Market (TAM)</a:t>
              </a:r>
              <a:endParaRPr/>
            </a:p>
          </p:txBody>
        </p:sp>
        <p:sp>
          <p:nvSpPr>
            <p:cNvPr id="370" name="Google Shape;370;p19"/>
            <p:cNvSpPr/>
            <p:nvPr/>
          </p:nvSpPr>
          <p:spPr>
            <a:xfrm>
              <a:off x="3500066" y="2994089"/>
              <a:ext cx="1339850" cy="252749"/>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Serviceable Available Market (SAM)</a:t>
              </a:r>
              <a:endParaRPr/>
            </a:p>
          </p:txBody>
        </p:sp>
        <p:grpSp>
          <p:nvGrpSpPr>
            <p:cNvPr id="371" name="Google Shape;371;p19"/>
            <p:cNvGrpSpPr/>
            <p:nvPr/>
          </p:nvGrpSpPr>
          <p:grpSpPr>
            <a:xfrm>
              <a:off x="3494110" y="3335163"/>
              <a:ext cx="1463040" cy="1463040"/>
              <a:chOff x="3766919" y="2927923"/>
              <a:chExt cx="240448" cy="240448"/>
            </a:xfrm>
          </p:grpSpPr>
          <p:sp>
            <p:nvSpPr>
              <p:cNvPr id="372" name="Google Shape;372;p19"/>
              <p:cNvSpPr/>
              <p:nvPr/>
            </p:nvSpPr>
            <p:spPr>
              <a:xfrm>
                <a:off x="3766919" y="2927923"/>
                <a:ext cx="240448" cy="240448"/>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rgbClr val="000000"/>
                  </a:solidFill>
                  <a:latin typeface="Arial"/>
                  <a:ea typeface="Arial"/>
                  <a:cs typeface="Arial"/>
                  <a:sym typeface="Arial"/>
                </a:endParaRPr>
              </a:p>
            </p:txBody>
          </p:sp>
          <p:sp>
            <p:nvSpPr>
              <p:cNvPr id="373" name="Google Shape;373;p19"/>
              <p:cNvSpPr/>
              <p:nvPr/>
            </p:nvSpPr>
            <p:spPr>
              <a:xfrm>
                <a:off x="3766919" y="2930627"/>
                <a:ext cx="237744" cy="237744"/>
              </a:xfrm>
              <a:prstGeom prst="pie">
                <a:avLst>
                  <a:gd fmla="val 21112043" name="adj1"/>
                  <a:gd fmla="val 2893848" name="adj2"/>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rgbClr val="0559FF"/>
                  </a:solidFill>
                  <a:latin typeface="Arial"/>
                  <a:ea typeface="Arial"/>
                  <a:cs typeface="Arial"/>
                  <a:sym typeface="Arial"/>
                </a:endParaRPr>
              </a:p>
            </p:txBody>
          </p:sp>
        </p:grpSp>
        <p:sp>
          <p:nvSpPr>
            <p:cNvPr id="374" name="Google Shape;374;p19"/>
            <p:cNvSpPr/>
            <p:nvPr/>
          </p:nvSpPr>
          <p:spPr>
            <a:xfrm>
              <a:off x="3548542" y="3680847"/>
              <a:ext cx="1339850" cy="126375"/>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Target Market</a:t>
              </a:r>
              <a:endParaRPr/>
            </a:p>
          </p:txBody>
        </p:sp>
        <p:sp>
          <p:nvSpPr>
            <p:cNvPr id="375" name="Google Shape;375;p19"/>
            <p:cNvSpPr/>
            <p:nvPr/>
          </p:nvSpPr>
          <p:spPr>
            <a:xfrm>
              <a:off x="4221463" y="4063048"/>
              <a:ext cx="883437" cy="2660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400"/>
                <a:buFont typeface="Noto Sans Symbols"/>
                <a:buNone/>
              </a:pPr>
              <a:r>
                <a:rPr b="1" i="0" lang="en-US" sz="1400" u="none" cap="none" strike="noStrike">
                  <a:solidFill>
                    <a:schemeClr val="dk2"/>
                  </a:solidFill>
                  <a:latin typeface="Arial"/>
                  <a:ea typeface="Arial"/>
                  <a:cs typeface="Arial"/>
                  <a:sym typeface="Arial"/>
                </a:rPr>
                <a:t>Market </a:t>
              </a:r>
              <a:endParaRPr/>
            </a:p>
            <a:p>
              <a:pPr indent="0" lvl="0" marL="0" marR="0" rtl="0" algn="ctr">
                <a:lnSpc>
                  <a:spcPct val="100000"/>
                </a:lnSpc>
                <a:spcBef>
                  <a:spcPts val="0"/>
                </a:spcBef>
                <a:spcAft>
                  <a:spcPts val="0"/>
                </a:spcAft>
                <a:buClr>
                  <a:schemeClr val="dk1"/>
                </a:buClr>
                <a:buSzPts val="1400"/>
                <a:buFont typeface="Noto Sans Symbols"/>
                <a:buNone/>
              </a:pPr>
              <a:r>
                <a:rPr b="1" i="0" lang="en-US" sz="1400" u="none" cap="none" strike="noStrike">
                  <a:solidFill>
                    <a:schemeClr val="dk2"/>
                  </a:solidFill>
                  <a:latin typeface="Arial"/>
                  <a:ea typeface="Arial"/>
                  <a:cs typeface="Arial"/>
                  <a:sym typeface="Arial"/>
                </a:rPr>
                <a:t>Share</a:t>
              </a:r>
              <a:endParaRPr/>
            </a:p>
          </p:txBody>
        </p:sp>
      </p:grpSp>
      <p:sp>
        <p:nvSpPr>
          <p:cNvPr id="376" name="Google Shape;376;p19"/>
          <p:cNvSpPr/>
          <p:nvPr/>
        </p:nvSpPr>
        <p:spPr>
          <a:xfrm>
            <a:off x="5375563" y="1798780"/>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377" name="Google Shape;377;p19"/>
          <p:cNvSpPr/>
          <p:nvPr/>
        </p:nvSpPr>
        <p:spPr>
          <a:xfrm>
            <a:off x="5375563" y="2944566"/>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378" name="Google Shape;378;p19"/>
          <p:cNvSpPr/>
          <p:nvPr/>
        </p:nvSpPr>
        <p:spPr>
          <a:xfrm>
            <a:off x="5375563" y="4090351"/>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379" name="Google Shape;379;p19"/>
          <p:cNvSpPr/>
          <p:nvPr/>
        </p:nvSpPr>
        <p:spPr>
          <a:xfrm>
            <a:off x="5375563" y="5236137"/>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cxnSp>
        <p:nvCxnSpPr>
          <p:cNvPr id="380" name="Google Shape;380;p19"/>
          <p:cNvCxnSpPr/>
          <p:nvPr/>
        </p:nvCxnSpPr>
        <p:spPr>
          <a:xfrm>
            <a:off x="4351735" y="2562938"/>
            <a:ext cx="1023828" cy="0"/>
          </a:xfrm>
          <a:prstGeom prst="straightConnector1">
            <a:avLst/>
          </a:prstGeom>
          <a:noFill/>
          <a:ln cap="flat" cmpd="sng" w="22225">
            <a:solidFill>
              <a:srgbClr val="002060"/>
            </a:solidFill>
            <a:prstDash val="solid"/>
            <a:miter lim="800000"/>
            <a:headEnd len="sm" w="sm" type="none"/>
            <a:tailEnd len="sm" w="sm" type="none"/>
          </a:ln>
        </p:spPr>
      </p:cxnSp>
      <p:cxnSp>
        <p:nvCxnSpPr>
          <p:cNvPr id="381" name="Google Shape;381;p19"/>
          <p:cNvCxnSpPr/>
          <p:nvPr/>
        </p:nvCxnSpPr>
        <p:spPr>
          <a:xfrm>
            <a:off x="3954330" y="3541992"/>
            <a:ext cx="1421233" cy="0"/>
          </a:xfrm>
          <a:prstGeom prst="straightConnector1">
            <a:avLst/>
          </a:prstGeom>
          <a:noFill/>
          <a:ln cap="flat" cmpd="sng" w="22225">
            <a:solidFill>
              <a:srgbClr val="3075FF"/>
            </a:solidFill>
            <a:prstDash val="solid"/>
            <a:miter lim="800000"/>
            <a:headEnd len="sm" w="sm" type="none"/>
            <a:tailEnd len="sm" w="sm" type="none"/>
          </a:ln>
        </p:spPr>
      </p:cxnSp>
      <p:cxnSp>
        <p:nvCxnSpPr>
          <p:cNvPr id="382" name="Google Shape;382;p19"/>
          <p:cNvCxnSpPr/>
          <p:nvPr/>
        </p:nvCxnSpPr>
        <p:spPr>
          <a:xfrm>
            <a:off x="3954330" y="4616507"/>
            <a:ext cx="1421233" cy="0"/>
          </a:xfrm>
          <a:prstGeom prst="straightConnector1">
            <a:avLst/>
          </a:prstGeom>
          <a:noFill/>
          <a:ln cap="flat" cmpd="sng" w="22225">
            <a:solidFill>
              <a:srgbClr val="7F7F7F"/>
            </a:solidFill>
            <a:prstDash val="solid"/>
            <a:miter lim="800000"/>
            <a:headEnd len="sm" w="sm" type="none"/>
            <a:tailEnd len="sm" w="sm" type="none"/>
          </a:ln>
        </p:spPr>
      </p:cxnSp>
      <p:cxnSp>
        <p:nvCxnSpPr>
          <p:cNvPr id="383" name="Google Shape;383;p19"/>
          <p:cNvCxnSpPr/>
          <p:nvPr/>
        </p:nvCxnSpPr>
        <p:spPr>
          <a:xfrm>
            <a:off x="3814618" y="5762293"/>
            <a:ext cx="1560945" cy="0"/>
          </a:xfrm>
          <a:prstGeom prst="straightConnector1">
            <a:avLst/>
          </a:prstGeom>
          <a:noFill/>
          <a:ln cap="flat" cmpd="sng" w="22225">
            <a:solidFill>
              <a:srgbClr val="D5D5D5"/>
            </a:solidFill>
            <a:prstDash val="solid"/>
            <a:miter lim="800000"/>
            <a:headEnd len="sm" w="sm" type="none"/>
            <a:tailEnd len="sm" w="sm" type="none"/>
          </a:ln>
        </p:spPr>
      </p:cxnSp>
      <p:sp>
        <p:nvSpPr>
          <p:cNvPr id="384" name="Google Shape;384;p19"/>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385" name="Google Shape;385;p19"/>
          <p:cNvSpPr/>
          <p:nvPr/>
        </p:nvSpPr>
        <p:spPr>
          <a:xfrm>
            <a:off x="753800" y="2377712"/>
            <a:ext cx="4621763" cy="714109"/>
          </a:xfrm>
          <a:prstGeom prst="wedgeRoundRectCallout">
            <a:avLst>
              <a:gd fmla="val 14509" name="adj1"/>
              <a:gd fmla="val 8383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SAM refers to the percentage of the Total Available Market (TAM) that you can actually serve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0"/>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Target Market Size &amp; Growth</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grpSp>
        <p:nvGrpSpPr>
          <p:cNvPr id="391" name="Google Shape;391;p20"/>
          <p:cNvGrpSpPr/>
          <p:nvPr/>
        </p:nvGrpSpPr>
        <p:grpSpPr>
          <a:xfrm>
            <a:off x="514350" y="1738745"/>
            <a:ext cx="4721260" cy="4606637"/>
            <a:chOff x="2743200" y="2025095"/>
            <a:chExt cx="2877674" cy="2807810"/>
          </a:xfrm>
        </p:grpSpPr>
        <p:grpSp>
          <p:nvGrpSpPr>
            <p:cNvPr id="392" name="Google Shape;392;p20"/>
            <p:cNvGrpSpPr/>
            <p:nvPr/>
          </p:nvGrpSpPr>
          <p:grpSpPr>
            <a:xfrm>
              <a:off x="2743200" y="2025095"/>
              <a:ext cx="2877674" cy="2807810"/>
              <a:chOff x="1323975" y="3575050"/>
              <a:chExt cx="2419350" cy="2360613"/>
            </a:xfrm>
          </p:grpSpPr>
          <p:sp>
            <p:nvSpPr>
              <p:cNvPr id="393" name="Google Shape;393;p20"/>
              <p:cNvSpPr/>
              <p:nvPr/>
            </p:nvSpPr>
            <p:spPr>
              <a:xfrm>
                <a:off x="1323975" y="3575050"/>
                <a:ext cx="2419350" cy="2360613"/>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p:txBody>
          </p:sp>
          <p:sp>
            <p:nvSpPr>
              <p:cNvPr id="394" name="Google Shape;394;p20"/>
              <p:cNvSpPr/>
              <p:nvPr/>
            </p:nvSpPr>
            <p:spPr>
              <a:xfrm>
                <a:off x="1655763" y="4205288"/>
                <a:ext cx="1755775" cy="1730375"/>
              </a:xfrm>
              <a:prstGeom prst="ellipse">
                <a:avLst/>
              </a:prstGeom>
              <a:solidFill>
                <a:srgbClr val="2F7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p:txBody>
          </p:sp>
        </p:grpSp>
        <p:sp>
          <p:nvSpPr>
            <p:cNvPr id="395" name="Google Shape;395;p20"/>
            <p:cNvSpPr/>
            <p:nvPr/>
          </p:nvSpPr>
          <p:spPr>
            <a:xfrm>
              <a:off x="3531964" y="2274703"/>
              <a:ext cx="1339850" cy="252749"/>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Total Available Market (TAM)</a:t>
              </a:r>
              <a:endParaRPr/>
            </a:p>
          </p:txBody>
        </p:sp>
        <p:sp>
          <p:nvSpPr>
            <p:cNvPr id="396" name="Google Shape;396;p20"/>
            <p:cNvSpPr/>
            <p:nvPr/>
          </p:nvSpPr>
          <p:spPr>
            <a:xfrm>
              <a:off x="3500066" y="2994089"/>
              <a:ext cx="1339850" cy="252749"/>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Serviceable Available Market (SAM)</a:t>
              </a:r>
              <a:endParaRPr/>
            </a:p>
          </p:txBody>
        </p:sp>
        <p:grpSp>
          <p:nvGrpSpPr>
            <p:cNvPr id="397" name="Google Shape;397;p20"/>
            <p:cNvGrpSpPr/>
            <p:nvPr/>
          </p:nvGrpSpPr>
          <p:grpSpPr>
            <a:xfrm>
              <a:off x="3494110" y="3335163"/>
              <a:ext cx="1463040" cy="1463040"/>
              <a:chOff x="3766919" y="2927923"/>
              <a:chExt cx="240448" cy="240448"/>
            </a:xfrm>
          </p:grpSpPr>
          <p:sp>
            <p:nvSpPr>
              <p:cNvPr id="398" name="Google Shape;398;p20"/>
              <p:cNvSpPr/>
              <p:nvPr/>
            </p:nvSpPr>
            <p:spPr>
              <a:xfrm>
                <a:off x="3766919" y="2927923"/>
                <a:ext cx="240448" cy="240448"/>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rgbClr val="000000"/>
                  </a:solidFill>
                  <a:latin typeface="Arial"/>
                  <a:ea typeface="Arial"/>
                  <a:cs typeface="Arial"/>
                  <a:sym typeface="Arial"/>
                </a:endParaRPr>
              </a:p>
            </p:txBody>
          </p:sp>
          <p:sp>
            <p:nvSpPr>
              <p:cNvPr id="399" name="Google Shape;399;p20"/>
              <p:cNvSpPr/>
              <p:nvPr/>
            </p:nvSpPr>
            <p:spPr>
              <a:xfrm>
                <a:off x="3766919" y="2930627"/>
                <a:ext cx="237744" cy="237744"/>
              </a:xfrm>
              <a:prstGeom prst="pie">
                <a:avLst>
                  <a:gd fmla="val 21112043" name="adj1"/>
                  <a:gd fmla="val 2893848" name="adj2"/>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rgbClr val="0559FF"/>
                  </a:solidFill>
                  <a:latin typeface="Arial"/>
                  <a:ea typeface="Arial"/>
                  <a:cs typeface="Arial"/>
                  <a:sym typeface="Arial"/>
                </a:endParaRPr>
              </a:p>
            </p:txBody>
          </p:sp>
        </p:grpSp>
        <p:sp>
          <p:nvSpPr>
            <p:cNvPr id="400" name="Google Shape;400;p20"/>
            <p:cNvSpPr/>
            <p:nvPr/>
          </p:nvSpPr>
          <p:spPr>
            <a:xfrm>
              <a:off x="3548542" y="3680847"/>
              <a:ext cx="1339850" cy="126375"/>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Target Market</a:t>
              </a:r>
              <a:endParaRPr/>
            </a:p>
          </p:txBody>
        </p:sp>
        <p:sp>
          <p:nvSpPr>
            <p:cNvPr id="401" name="Google Shape;401;p20"/>
            <p:cNvSpPr/>
            <p:nvPr/>
          </p:nvSpPr>
          <p:spPr>
            <a:xfrm>
              <a:off x="4221463" y="4063048"/>
              <a:ext cx="883437" cy="2660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400"/>
                <a:buFont typeface="Noto Sans Symbols"/>
                <a:buNone/>
              </a:pPr>
              <a:r>
                <a:rPr b="1" i="0" lang="en-US" sz="1400" u="none" cap="none" strike="noStrike">
                  <a:solidFill>
                    <a:schemeClr val="dk2"/>
                  </a:solidFill>
                  <a:latin typeface="Arial"/>
                  <a:ea typeface="Arial"/>
                  <a:cs typeface="Arial"/>
                  <a:sym typeface="Arial"/>
                </a:rPr>
                <a:t>Market </a:t>
              </a:r>
              <a:endParaRPr/>
            </a:p>
            <a:p>
              <a:pPr indent="0" lvl="0" marL="0" marR="0" rtl="0" algn="ctr">
                <a:lnSpc>
                  <a:spcPct val="100000"/>
                </a:lnSpc>
                <a:spcBef>
                  <a:spcPts val="0"/>
                </a:spcBef>
                <a:spcAft>
                  <a:spcPts val="0"/>
                </a:spcAft>
                <a:buClr>
                  <a:schemeClr val="dk1"/>
                </a:buClr>
                <a:buSzPts val="1400"/>
                <a:buFont typeface="Noto Sans Symbols"/>
                <a:buNone/>
              </a:pPr>
              <a:r>
                <a:rPr b="1" i="0" lang="en-US" sz="1400" u="none" cap="none" strike="noStrike">
                  <a:solidFill>
                    <a:schemeClr val="dk2"/>
                  </a:solidFill>
                  <a:latin typeface="Arial"/>
                  <a:ea typeface="Arial"/>
                  <a:cs typeface="Arial"/>
                  <a:sym typeface="Arial"/>
                </a:rPr>
                <a:t>Share</a:t>
              </a:r>
              <a:endParaRPr/>
            </a:p>
          </p:txBody>
        </p:sp>
      </p:grpSp>
      <p:sp>
        <p:nvSpPr>
          <p:cNvPr id="402" name="Google Shape;402;p20"/>
          <p:cNvSpPr/>
          <p:nvPr/>
        </p:nvSpPr>
        <p:spPr>
          <a:xfrm>
            <a:off x="5375563" y="1798780"/>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403" name="Google Shape;403;p20"/>
          <p:cNvSpPr/>
          <p:nvPr/>
        </p:nvSpPr>
        <p:spPr>
          <a:xfrm>
            <a:off x="5375563" y="2944566"/>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404" name="Google Shape;404;p20"/>
          <p:cNvSpPr/>
          <p:nvPr/>
        </p:nvSpPr>
        <p:spPr>
          <a:xfrm>
            <a:off x="5375563" y="4090351"/>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405" name="Google Shape;405;p20"/>
          <p:cNvSpPr/>
          <p:nvPr/>
        </p:nvSpPr>
        <p:spPr>
          <a:xfrm>
            <a:off x="5375563" y="5236137"/>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cxnSp>
        <p:nvCxnSpPr>
          <p:cNvPr id="406" name="Google Shape;406;p20"/>
          <p:cNvCxnSpPr/>
          <p:nvPr/>
        </p:nvCxnSpPr>
        <p:spPr>
          <a:xfrm>
            <a:off x="4351735" y="2562938"/>
            <a:ext cx="1023828" cy="0"/>
          </a:xfrm>
          <a:prstGeom prst="straightConnector1">
            <a:avLst/>
          </a:prstGeom>
          <a:noFill/>
          <a:ln cap="flat" cmpd="sng" w="22225">
            <a:solidFill>
              <a:srgbClr val="002060"/>
            </a:solidFill>
            <a:prstDash val="solid"/>
            <a:miter lim="800000"/>
            <a:headEnd len="sm" w="sm" type="none"/>
            <a:tailEnd len="sm" w="sm" type="none"/>
          </a:ln>
        </p:spPr>
      </p:cxnSp>
      <p:cxnSp>
        <p:nvCxnSpPr>
          <p:cNvPr id="407" name="Google Shape;407;p20"/>
          <p:cNvCxnSpPr/>
          <p:nvPr/>
        </p:nvCxnSpPr>
        <p:spPr>
          <a:xfrm>
            <a:off x="3954330" y="3541992"/>
            <a:ext cx="1421233" cy="0"/>
          </a:xfrm>
          <a:prstGeom prst="straightConnector1">
            <a:avLst/>
          </a:prstGeom>
          <a:noFill/>
          <a:ln cap="flat" cmpd="sng" w="22225">
            <a:solidFill>
              <a:srgbClr val="3075FF"/>
            </a:solidFill>
            <a:prstDash val="solid"/>
            <a:miter lim="800000"/>
            <a:headEnd len="sm" w="sm" type="none"/>
            <a:tailEnd len="sm" w="sm" type="none"/>
          </a:ln>
        </p:spPr>
      </p:cxnSp>
      <p:cxnSp>
        <p:nvCxnSpPr>
          <p:cNvPr id="408" name="Google Shape;408;p20"/>
          <p:cNvCxnSpPr/>
          <p:nvPr/>
        </p:nvCxnSpPr>
        <p:spPr>
          <a:xfrm>
            <a:off x="3954330" y="4616507"/>
            <a:ext cx="1421233" cy="0"/>
          </a:xfrm>
          <a:prstGeom prst="straightConnector1">
            <a:avLst/>
          </a:prstGeom>
          <a:noFill/>
          <a:ln cap="flat" cmpd="sng" w="22225">
            <a:solidFill>
              <a:srgbClr val="7F7F7F"/>
            </a:solidFill>
            <a:prstDash val="solid"/>
            <a:miter lim="800000"/>
            <a:headEnd len="sm" w="sm" type="none"/>
            <a:tailEnd len="sm" w="sm" type="none"/>
          </a:ln>
        </p:spPr>
      </p:cxnSp>
      <p:cxnSp>
        <p:nvCxnSpPr>
          <p:cNvPr id="409" name="Google Shape;409;p20"/>
          <p:cNvCxnSpPr/>
          <p:nvPr/>
        </p:nvCxnSpPr>
        <p:spPr>
          <a:xfrm>
            <a:off x="3814618" y="5762293"/>
            <a:ext cx="1560945" cy="0"/>
          </a:xfrm>
          <a:prstGeom prst="straightConnector1">
            <a:avLst/>
          </a:prstGeom>
          <a:noFill/>
          <a:ln cap="flat" cmpd="sng" w="22225">
            <a:solidFill>
              <a:srgbClr val="D5D5D5"/>
            </a:solidFill>
            <a:prstDash val="solid"/>
            <a:miter lim="800000"/>
            <a:headEnd len="sm" w="sm" type="none"/>
            <a:tailEnd len="sm" w="sm" type="none"/>
          </a:ln>
        </p:spPr>
      </p:cxnSp>
      <p:sp>
        <p:nvSpPr>
          <p:cNvPr id="410" name="Google Shape;410;p20"/>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411" name="Google Shape;411;p20"/>
          <p:cNvSpPr/>
          <p:nvPr/>
        </p:nvSpPr>
        <p:spPr>
          <a:xfrm>
            <a:off x="298548" y="3127478"/>
            <a:ext cx="4621763" cy="714109"/>
          </a:xfrm>
          <a:prstGeom prst="wedgeRoundRectCallout">
            <a:avLst>
              <a:gd fmla="val 14509" name="adj1"/>
              <a:gd fmla="val 8383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Target market refers to the group of customers that you want to market your products to</a:t>
            </a:r>
            <a:endParaRPr/>
          </a:p>
        </p:txBody>
      </p:sp>
      <p:sp>
        <p:nvSpPr>
          <p:cNvPr id="412" name="Google Shape;412;p20"/>
          <p:cNvSpPr/>
          <p:nvPr/>
        </p:nvSpPr>
        <p:spPr>
          <a:xfrm>
            <a:off x="298548" y="6036962"/>
            <a:ext cx="4621763" cy="714109"/>
          </a:xfrm>
          <a:prstGeom prst="wedgeRoundRectCallout">
            <a:avLst>
              <a:gd fmla="val 20929" name="adj1"/>
              <a:gd fmla="val -159545"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Your market share refers to a percentage of your target market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1"/>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Target Market Size &amp; Growth</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grpSp>
        <p:nvGrpSpPr>
          <p:cNvPr id="418" name="Google Shape;418;p21"/>
          <p:cNvGrpSpPr/>
          <p:nvPr/>
        </p:nvGrpSpPr>
        <p:grpSpPr>
          <a:xfrm>
            <a:off x="514350" y="1738745"/>
            <a:ext cx="4721260" cy="4606637"/>
            <a:chOff x="2743200" y="2025095"/>
            <a:chExt cx="2877674" cy="2807810"/>
          </a:xfrm>
        </p:grpSpPr>
        <p:grpSp>
          <p:nvGrpSpPr>
            <p:cNvPr id="419" name="Google Shape;419;p21"/>
            <p:cNvGrpSpPr/>
            <p:nvPr/>
          </p:nvGrpSpPr>
          <p:grpSpPr>
            <a:xfrm>
              <a:off x="2743200" y="2025095"/>
              <a:ext cx="2877674" cy="2807810"/>
              <a:chOff x="1323975" y="3575050"/>
              <a:chExt cx="2419350" cy="2360613"/>
            </a:xfrm>
          </p:grpSpPr>
          <p:sp>
            <p:nvSpPr>
              <p:cNvPr id="420" name="Google Shape;420;p21"/>
              <p:cNvSpPr/>
              <p:nvPr/>
            </p:nvSpPr>
            <p:spPr>
              <a:xfrm>
                <a:off x="1323975" y="3575050"/>
                <a:ext cx="2419350" cy="2360613"/>
              </a:xfrm>
              <a:prstGeom prst="ellipse">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p:txBody>
          </p:sp>
          <p:sp>
            <p:nvSpPr>
              <p:cNvPr id="421" name="Google Shape;421;p21"/>
              <p:cNvSpPr/>
              <p:nvPr/>
            </p:nvSpPr>
            <p:spPr>
              <a:xfrm>
                <a:off x="1655763" y="4205288"/>
                <a:ext cx="1755775" cy="1730375"/>
              </a:xfrm>
              <a:prstGeom prst="ellipse">
                <a:avLst/>
              </a:prstGeom>
              <a:solidFill>
                <a:srgbClr val="2F75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Arial"/>
                  <a:ea typeface="Arial"/>
                  <a:cs typeface="Arial"/>
                  <a:sym typeface="Arial"/>
                </a:endParaRPr>
              </a:p>
            </p:txBody>
          </p:sp>
        </p:grpSp>
        <p:sp>
          <p:nvSpPr>
            <p:cNvPr id="422" name="Google Shape;422;p21"/>
            <p:cNvSpPr/>
            <p:nvPr/>
          </p:nvSpPr>
          <p:spPr>
            <a:xfrm>
              <a:off x="3531964" y="2274703"/>
              <a:ext cx="1339850" cy="252749"/>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Total Available Market (TAM)</a:t>
              </a:r>
              <a:endParaRPr/>
            </a:p>
          </p:txBody>
        </p:sp>
        <p:sp>
          <p:nvSpPr>
            <p:cNvPr id="423" name="Google Shape;423;p21"/>
            <p:cNvSpPr/>
            <p:nvPr/>
          </p:nvSpPr>
          <p:spPr>
            <a:xfrm>
              <a:off x="3500066" y="2994089"/>
              <a:ext cx="1339850" cy="252749"/>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Serviceable Available Market (SAM)</a:t>
              </a:r>
              <a:endParaRPr/>
            </a:p>
          </p:txBody>
        </p:sp>
        <p:grpSp>
          <p:nvGrpSpPr>
            <p:cNvPr id="424" name="Google Shape;424;p21"/>
            <p:cNvGrpSpPr/>
            <p:nvPr/>
          </p:nvGrpSpPr>
          <p:grpSpPr>
            <a:xfrm>
              <a:off x="3494110" y="3335163"/>
              <a:ext cx="1463040" cy="1463040"/>
              <a:chOff x="3766919" y="2927923"/>
              <a:chExt cx="240448" cy="240448"/>
            </a:xfrm>
          </p:grpSpPr>
          <p:sp>
            <p:nvSpPr>
              <p:cNvPr id="425" name="Google Shape;425;p21"/>
              <p:cNvSpPr/>
              <p:nvPr/>
            </p:nvSpPr>
            <p:spPr>
              <a:xfrm>
                <a:off x="3766919" y="2927923"/>
                <a:ext cx="240448" cy="240448"/>
              </a:xfrm>
              <a:prstGeom prst="ellipse">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rgbClr val="000000"/>
                  </a:solidFill>
                  <a:latin typeface="Arial"/>
                  <a:ea typeface="Arial"/>
                  <a:cs typeface="Arial"/>
                  <a:sym typeface="Arial"/>
                </a:endParaRPr>
              </a:p>
            </p:txBody>
          </p:sp>
          <p:sp>
            <p:nvSpPr>
              <p:cNvPr id="426" name="Google Shape;426;p21"/>
              <p:cNvSpPr/>
              <p:nvPr/>
            </p:nvSpPr>
            <p:spPr>
              <a:xfrm>
                <a:off x="3766919" y="2930627"/>
                <a:ext cx="237744" cy="237744"/>
              </a:xfrm>
              <a:prstGeom prst="pie">
                <a:avLst>
                  <a:gd fmla="val 21112043" name="adj1"/>
                  <a:gd fmla="val 2893848" name="adj2"/>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1" i="0" sz="2000" u="none" cap="none" strike="noStrike">
                  <a:solidFill>
                    <a:srgbClr val="0559FF"/>
                  </a:solidFill>
                  <a:latin typeface="Arial"/>
                  <a:ea typeface="Arial"/>
                  <a:cs typeface="Arial"/>
                  <a:sym typeface="Arial"/>
                </a:endParaRPr>
              </a:p>
            </p:txBody>
          </p:sp>
        </p:grpSp>
        <p:sp>
          <p:nvSpPr>
            <p:cNvPr id="427" name="Google Shape;427;p21"/>
            <p:cNvSpPr/>
            <p:nvPr/>
          </p:nvSpPr>
          <p:spPr>
            <a:xfrm>
              <a:off x="3548542" y="3680847"/>
              <a:ext cx="1339850" cy="126375"/>
            </a:xfrm>
            <a:prstGeom prst="rect">
              <a:avLst/>
            </a:prstGeom>
            <a:noFill/>
            <a:ln>
              <a:noFill/>
            </a:ln>
          </p:spPr>
          <p:txBody>
            <a:bodyPr anchorCtr="0" anchor="t" bIns="0" lIns="0" spcFirstLastPara="1" rIns="0" wrap="square" tIns="0">
              <a:spAutoFit/>
            </a:bodyPr>
            <a:lstStyle/>
            <a:p>
              <a:pPr indent="0" lvl="0" marL="0" marR="0" rtl="0" algn="ctr">
                <a:lnSpc>
                  <a:spcPct val="95000"/>
                </a:lnSpc>
                <a:spcBef>
                  <a:spcPts val="0"/>
                </a:spcBef>
                <a:spcAft>
                  <a:spcPts val="0"/>
                </a:spcAft>
                <a:buClr>
                  <a:schemeClr val="dk1"/>
                </a:buClr>
                <a:buSzPts val="1400"/>
                <a:buFont typeface="Noto Sans Symbols"/>
                <a:buNone/>
              </a:pPr>
              <a:r>
                <a:rPr b="1" i="0" lang="en-US" sz="1400" u="none" cap="none" strike="noStrike">
                  <a:solidFill>
                    <a:schemeClr val="lt1"/>
                  </a:solidFill>
                  <a:latin typeface="Arial"/>
                  <a:ea typeface="Arial"/>
                  <a:cs typeface="Arial"/>
                  <a:sym typeface="Arial"/>
                </a:rPr>
                <a:t>Target Market</a:t>
              </a:r>
              <a:endParaRPr/>
            </a:p>
          </p:txBody>
        </p:sp>
        <p:sp>
          <p:nvSpPr>
            <p:cNvPr id="428" name="Google Shape;428;p21"/>
            <p:cNvSpPr/>
            <p:nvPr/>
          </p:nvSpPr>
          <p:spPr>
            <a:xfrm>
              <a:off x="4221463" y="4063048"/>
              <a:ext cx="883437" cy="2660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1400"/>
                <a:buFont typeface="Noto Sans Symbols"/>
                <a:buNone/>
              </a:pPr>
              <a:r>
                <a:rPr b="1" i="0" lang="en-US" sz="1400" u="none" cap="none" strike="noStrike">
                  <a:solidFill>
                    <a:schemeClr val="dk2"/>
                  </a:solidFill>
                  <a:latin typeface="Arial"/>
                  <a:ea typeface="Arial"/>
                  <a:cs typeface="Arial"/>
                  <a:sym typeface="Arial"/>
                </a:rPr>
                <a:t>Market </a:t>
              </a:r>
              <a:endParaRPr/>
            </a:p>
            <a:p>
              <a:pPr indent="0" lvl="0" marL="0" marR="0" rtl="0" algn="ctr">
                <a:lnSpc>
                  <a:spcPct val="100000"/>
                </a:lnSpc>
                <a:spcBef>
                  <a:spcPts val="0"/>
                </a:spcBef>
                <a:spcAft>
                  <a:spcPts val="0"/>
                </a:spcAft>
                <a:buClr>
                  <a:schemeClr val="dk1"/>
                </a:buClr>
                <a:buSzPts val="1400"/>
                <a:buFont typeface="Noto Sans Symbols"/>
                <a:buNone/>
              </a:pPr>
              <a:r>
                <a:rPr b="1" i="0" lang="en-US" sz="1400" u="none" cap="none" strike="noStrike">
                  <a:solidFill>
                    <a:schemeClr val="dk2"/>
                  </a:solidFill>
                  <a:latin typeface="Arial"/>
                  <a:ea typeface="Arial"/>
                  <a:cs typeface="Arial"/>
                  <a:sym typeface="Arial"/>
                </a:rPr>
                <a:t>Share</a:t>
              </a:r>
              <a:endParaRPr/>
            </a:p>
          </p:txBody>
        </p:sp>
      </p:grpSp>
      <p:sp>
        <p:nvSpPr>
          <p:cNvPr id="429" name="Google Shape;429;p21"/>
          <p:cNvSpPr/>
          <p:nvPr/>
        </p:nvSpPr>
        <p:spPr>
          <a:xfrm>
            <a:off x="5375563" y="1798780"/>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430" name="Google Shape;430;p21"/>
          <p:cNvSpPr/>
          <p:nvPr/>
        </p:nvSpPr>
        <p:spPr>
          <a:xfrm>
            <a:off x="5375563" y="2944566"/>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431" name="Google Shape;431;p21"/>
          <p:cNvSpPr/>
          <p:nvPr/>
        </p:nvSpPr>
        <p:spPr>
          <a:xfrm>
            <a:off x="5375563" y="4090351"/>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sp>
        <p:nvSpPr>
          <p:cNvPr id="432" name="Google Shape;432;p21"/>
          <p:cNvSpPr/>
          <p:nvPr/>
        </p:nvSpPr>
        <p:spPr>
          <a:xfrm>
            <a:off x="5375563" y="5236137"/>
            <a:ext cx="6211599" cy="105231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just">
              <a:spcBef>
                <a:spcPts val="0"/>
              </a:spcBef>
              <a:spcAft>
                <a:spcPts val="0"/>
              </a:spcAft>
              <a:buNone/>
            </a:pPr>
            <a:r>
              <a:rPr b="1" lang="en-US" sz="1200">
                <a:solidFill>
                  <a:schemeClr val="dk1"/>
                </a:solidFill>
                <a:latin typeface="Arial"/>
                <a:ea typeface="Arial"/>
                <a:cs typeface="Arial"/>
                <a:sym typeface="Arial"/>
              </a:rPr>
              <a:t>Description: </a:t>
            </a:r>
            <a:r>
              <a:rPr lang="en-US" sz="1200">
                <a:solidFill>
                  <a:schemeClr val="dk1"/>
                </a:solidFill>
                <a:latin typeface="Arial"/>
                <a:ea typeface="Arial"/>
                <a:cs typeface="Arial"/>
                <a:sym typeface="Arial"/>
              </a:rPr>
              <a:t>Insert your own text</a:t>
            </a:r>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Size: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a:p>
            <a:pPr indent="0" lvl="0" marL="0" marR="0" rtl="0" algn="just">
              <a:spcBef>
                <a:spcPts val="200"/>
              </a:spcBef>
              <a:spcAft>
                <a:spcPts val="0"/>
              </a:spcAft>
              <a:buNone/>
            </a:pPr>
            <a:r>
              <a:rPr b="1" lang="en-US" sz="1200">
                <a:solidFill>
                  <a:schemeClr val="dk1"/>
                </a:solidFill>
                <a:latin typeface="Arial"/>
                <a:ea typeface="Arial"/>
                <a:cs typeface="Arial"/>
                <a:sym typeface="Arial"/>
              </a:rPr>
              <a:t>Growth: </a:t>
            </a:r>
            <a:r>
              <a:rPr lang="en-US" sz="1200">
                <a:solidFill>
                  <a:schemeClr val="dk1"/>
                </a:solidFill>
                <a:latin typeface="Arial"/>
                <a:ea typeface="Arial"/>
                <a:cs typeface="Arial"/>
                <a:sym typeface="Arial"/>
              </a:rPr>
              <a:t>Insert your own text</a:t>
            </a:r>
            <a:endParaRPr sz="1200">
              <a:solidFill>
                <a:schemeClr val="dk1"/>
              </a:solidFill>
              <a:latin typeface="Arial"/>
              <a:ea typeface="Arial"/>
              <a:cs typeface="Arial"/>
              <a:sym typeface="Arial"/>
            </a:endParaRPr>
          </a:p>
        </p:txBody>
      </p:sp>
      <p:cxnSp>
        <p:nvCxnSpPr>
          <p:cNvPr id="433" name="Google Shape;433;p21"/>
          <p:cNvCxnSpPr/>
          <p:nvPr/>
        </p:nvCxnSpPr>
        <p:spPr>
          <a:xfrm>
            <a:off x="4351735" y="2562938"/>
            <a:ext cx="1023828" cy="0"/>
          </a:xfrm>
          <a:prstGeom prst="straightConnector1">
            <a:avLst/>
          </a:prstGeom>
          <a:noFill/>
          <a:ln cap="flat" cmpd="sng" w="22225">
            <a:solidFill>
              <a:srgbClr val="002060"/>
            </a:solidFill>
            <a:prstDash val="solid"/>
            <a:miter lim="800000"/>
            <a:headEnd len="sm" w="sm" type="none"/>
            <a:tailEnd len="sm" w="sm" type="none"/>
          </a:ln>
        </p:spPr>
      </p:cxnSp>
      <p:cxnSp>
        <p:nvCxnSpPr>
          <p:cNvPr id="434" name="Google Shape;434;p21"/>
          <p:cNvCxnSpPr/>
          <p:nvPr/>
        </p:nvCxnSpPr>
        <p:spPr>
          <a:xfrm>
            <a:off x="3954330" y="3541992"/>
            <a:ext cx="1421233" cy="0"/>
          </a:xfrm>
          <a:prstGeom prst="straightConnector1">
            <a:avLst/>
          </a:prstGeom>
          <a:noFill/>
          <a:ln cap="flat" cmpd="sng" w="22225">
            <a:solidFill>
              <a:srgbClr val="3075FF"/>
            </a:solidFill>
            <a:prstDash val="solid"/>
            <a:miter lim="800000"/>
            <a:headEnd len="sm" w="sm" type="none"/>
            <a:tailEnd len="sm" w="sm" type="none"/>
          </a:ln>
        </p:spPr>
      </p:cxnSp>
      <p:cxnSp>
        <p:nvCxnSpPr>
          <p:cNvPr id="435" name="Google Shape;435;p21"/>
          <p:cNvCxnSpPr/>
          <p:nvPr/>
        </p:nvCxnSpPr>
        <p:spPr>
          <a:xfrm>
            <a:off x="3954330" y="4616507"/>
            <a:ext cx="1421233" cy="0"/>
          </a:xfrm>
          <a:prstGeom prst="straightConnector1">
            <a:avLst/>
          </a:prstGeom>
          <a:noFill/>
          <a:ln cap="flat" cmpd="sng" w="22225">
            <a:solidFill>
              <a:srgbClr val="7F7F7F"/>
            </a:solidFill>
            <a:prstDash val="solid"/>
            <a:miter lim="800000"/>
            <a:headEnd len="sm" w="sm" type="none"/>
            <a:tailEnd len="sm" w="sm" type="none"/>
          </a:ln>
        </p:spPr>
      </p:cxnSp>
      <p:cxnSp>
        <p:nvCxnSpPr>
          <p:cNvPr id="436" name="Google Shape;436;p21"/>
          <p:cNvCxnSpPr/>
          <p:nvPr/>
        </p:nvCxnSpPr>
        <p:spPr>
          <a:xfrm>
            <a:off x="3814618" y="5762293"/>
            <a:ext cx="1560945" cy="0"/>
          </a:xfrm>
          <a:prstGeom prst="straightConnector1">
            <a:avLst/>
          </a:prstGeom>
          <a:noFill/>
          <a:ln cap="flat" cmpd="sng" w="22225">
            <a:solidFill>
              <a:srgbClr val="D5D5D5"/>
            </a:solidFill>
            <a:prstDash val="solid"/>
            <a:miter lim="800000"/>
            <a:headEnd len="sm" w="sm" type="none"/>
            <a:tailEnd len="sm" w="sm" type="none"/>
          </a:ln>
        </p:spPr>
      </p:cxnSp>
      <p:sp>
        <p:nvSpPr>
          <p:cNvPr id="437" name="Google Shape;437;p21"/>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438" name="Google Shape;438;p21"/>
          <p:cNvSpPr/>
          <p:nvPr/>
        </p:nvSpPr>
        <p:spPr>
          <a:xfrm>
            <a:off x="683823" y="1619820"/>
            <a:ext cx="4621763" cy="960256"/>
          </a:xfrm>
          <a:prstGeom prst="wedgeRoundRectCallout">
            <a:avLst>
              <a:gd fmla="val 59189" name="adj1"/>
              <a:gd fmla="val 3731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A simple way of forecasting the market growth is to extrapolate historical data into the future  </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A more accurate way is to study growth drivers such as demographic information and sales growth in complementary products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2"/>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Market Profitability</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sp>
        <p:nvSpPr>
          <p:cNvPr id="444" name="Google Shape;444;p2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445" name="Google Shape;445;p22"/>
          <p:cNvSpPr/>
          <p:nvPr/>
        </p:nvSpPr>
        <p:spPr>
          <a:xfrm>
            <a:off x="4289613" y="3429326"/>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Rivalry among firms</a:t>
            </a:r>
            <a:endParaRPr/>
          </a:p>
        </p:txBody>
      </p:sp>
      <p:sp>
        <p:nvSpPr>
          <p:cNvPr id="446" name="Google Shape;446;p22"/>
          <p:cNvSpPr/>
          <p:nvPr/>
        </p:nvSpPr>
        <p:spPr>
          <a:xfrm>
            <a:off x="4287360" y="3731565"/>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47" name="Google Shape;447;p22"/>
          <p:cNvSpPr/>
          <p:nvPr/>
        </p:nvSpPr>
        <p:spPr>
          <a:xfrm>
            <a:off x="592187" y="3429326"/>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Bargaining power of Suppliers</a:t>
            </a:r>
            <a:endParaRPr/>
          </a:p>
        </p:txBody>
      </p:sp>
      <p:sp>
        <p:nvSpPr>
          <p:cNvPr id="448" name="Google Shape;448;p22"/>
          <p:cNvSpPr/>
          <p:nvPr/>
        </p:nvSpPr>
        <p:spPr>
          <a:xfrm>
            <a:off x="589935" y="3731565"/>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49" name="Google Shape;449;p22"/>
          <p:cNvSpPr/>
          <p:nvPr/>
        </p:nvSpPr>
        <p:spPr>
          <a:xfrm>
            <a:off x="7987038" y="3429326"/>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Bargaining power of Buyers</a:t>
            </a:r>
            <a:endParaRPr/>
          </a:p>
        </p:txBody>
      </p:sp>
      <p:sp>
        <p:nvSpPr>
          <p:cNvPr id="450" name="Google Shape;450;p22"/>
          <p:cNvSpPr/>
          <p:nvPr/>
        </p:nvSpPr>
        <p:spPr>
          <a:xfrm>
            <a:off x="7984786" y="3731565"/>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51" name="Google Shape;451;p22"/>
          <p:cNvSpPr/>
          <p:nvPr/>
        </p:nvSpPr>
        <p:spPr>
          <a:xfrm>
            <a:off x="4289613" y="1911286"/>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Threat of new entrants</a:t>
            </a:r>
            <a:endParaRPr/>
          </a:p>
        </p:txBody>
      </p:sp>
      <p:sp>
        <p:nvSpPr>
          <p:cNvPr id="452" name="Google Shape;452;p22"/>
          <p:cNvSpPr/>
          <p:nvPr/>
        </p:nvSpPr>
        <p:spPr>
          <a:xfrm>
            <a:off x="4287360" y="2213525"/>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53" name="Google Shape;453;p22"/>
          <p:cNvSpPr/>
          <p:nvPr/>
        </p:nvSpPr>
        <p:spPr>
          <a:xfrm>
            <a:off x="4289613" y="4958012"/>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Threat of Substitute products</a:t>
            </a:r>
            <a:endParaRPr/>
          </a:p>
        </p:txBody>
      </p:sp>
      <p:sp>
        <p:nvSpPr>
          <p:cNvPr id="454" name="Google Shape;454;p22"/>
          <p:cNvSpPr/>
          <p:nvPr/>
        </p:nvSpPr>
        <p:spPr>
          <a:xfrm>
            <a:off x="4287360" y="5260252"/>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55" name="Google Shape;455;p22"/>
          <p:cNvSpPr/>
          <p:nvPr/>
        </p:nvSpPr>
        <p:spPr>
          <a:xfrm>
            <a:off x="4397769" y="1584543"/>
            <a:ext cx="3383812" cy="276999"/>
          </a:xfrm>
          <a:prstGeom prst="rect">
            <a:avLst/>
          </a:prstGeom>
          <a:noFill/>
          <a:ln>
            <a:noFill/>
          </a:ln>
        </p:spPr>
        <p:txBody>
          <a:bodyPr anchorCtr="1" anchor="ctr" bIns="0" lIns="72000" spcFirstLastPara="1" rIns="72000" wrap="square" tIns="0">
            <a:spAutoFit/>
          </a:bodyPr>
          <a:lstStyle/>
          <a:p>
            <a:pPr indent="0" lvl="0" marL="0" marR="0" rtl="0" algn="ctr">
              <a:spcBef>
                <a:spcPts val="0"/>
              </a:spcBef>
              <a:spcAft>
                <a:spcPts val="0"/>
              </a:spcAft>
              <a:buNone/>
            </a:pPr>
            <a:r>
              <a:rPr b="1" lang="en-US" sz="1800">
                <a:solidFill>
                  <a:schemeClr val="dk2"/>
                </a:solidFill>
                <a:latin typeface="Arial"/>
                <a:ea typeface="Arial"/>
                <a:cs typeface="Arial"/>
                <a:sym typeface="Arial"/>
              </a:rPr>
              <a:t>Porter’s 5 Forces</a:t>
            </a:r>
            <a:endParaRPr/>
          </a:p>
        </p:txBody>
      </p:sp>
      <p:sp>
        <p:nvSpPr>
          <p:cNvPr id="456" name="Google Shape;456;p22"/>
          <p:cNvSpPr/>
          <p:nvPr/>
        </p:nvSpPr>
        <p:spPr>
          <a:xfrm>
            <a:off x="1729687" y="2317090"/>
            <a:ext cx="4621763" cy="960256"/>
          </a:xfrm>
          <a:prstGeom prst="wedgeRoundRectCallout">
            <a:avLst>
              <a:gd fmla="val 20692" name="adj1"/>
              <a:gd fmla="val -107438"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The Porter’s Five Forces tool is helpful to assess the attractiveness and profitability of a market or industry by analyzing the forces acting upon it</a:t>
            </a:r>
            <a:endParaRPr/>
          </a:p>
        </p:txBody>
      </p:sp>
      <p:sp>
        <p:nvSpPr>
          <p:cNvPr id="457" name="Google Shape;457;p22"/>
          <p:cNvSpPr/>
          <p:nvPr/>
        </p:nvSpPr>
        <p:spPr>
          <a:xfrm>
            <a:off x="7644911" y="5464498"/>
            <a:ext cx="2534049" cy="960256"/>
          </a:xfrm>
          <a:prstGeom prst="wedgeRoundRectCallout">
            <a:avLst>
              <a:gd fmla="val -92240" name="adj1"/>
              <a:gd fmla="val -129167"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 within the airline industry: British Airways, British Midland, Virgin Atlantic</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3"/>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Market Profitability</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sp>
        <p:nvSpPr>
          <p:cNvPr id="463" name="Google Shape;463;p2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464" name="Google Shape;464;p23"/>
          <p:cNvSpPr/>
          <p:nvPr/>
        </p:nvSpPr>
        <p:spPr>
          <a:xfrm>
            <a:off x="4289613" y="3429326"/>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Rivalry among firms</a:t>
            </a:r>
            <a:endParaRPr/>
          </a:p>
        </p:txBody>
      </p:sp>
      <p:sp>
        <p:nvSpPr>
          <p:cNvPr id="465" name="Google Shape;465;p23"/>
          <p:cNvSpPr/>
          <p:nvPr/>
        </p:nvSpPr>
        <p:spPr>
          <a:xfrm>
            <a:off x="4287360" y="3731565"/>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66" name="Google Shape;466;p23"/>
          <p:cNvSpPr/>
          <p:nvPr/>
        </p:nvSpPr>
        <p:spPr>
          <a:xfrm>
            <a:off x="592187" y="3429326"/>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Bargaining power of Suppliers</a:t>
            </a:r>
            <a:endParaRPr/>
          </a:p>
        </p:txBody>
      </p:sp>
      <p:sp>
        <p:nvSpPr>
          <p:cNvPr id="467" name="Google Shape;467;p23"/>
          <p:cNvSpPr/>
          <p:nvPr/>
        </p:nvSpPr>
        <p:spPr>
          <a:xfrm>
            <a:off x="589935" y="3731565"/>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68" name="Google Shape;468;p23"/>
          <p:cNvSpPr/>
          <p:nvPr/>
        </p:nvSpPr>
        <p:spPr>
          <a:xfrm>
            <a:off x="7987038" y="3429326"/>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Bargaining power of Buyers</a:t>
            </a:r>
            <a:endParaRPr/>
          </a:p>
        </p:txBody>
      </p:sp>
      <p:sp>
        <p:nvSpPr>
          <p:cNvPr id="469" name="Google Shape;469;p23"/>
          <p:cNvSpPr/>
          <p:nvPr/>
        </p:nvSpPr>
        <p:spPr>
          <a:xfrm>
            <a:off x="7984786" y="3731565"/>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70" name="Google Shape;470;p23"/>
          <p:cNvSpPr/>
          <p:nvPr/>
        </p:nvSpPr>
        <p:spPr>
          <a:xfrm>
            <a:off x="4289613" y="1911286"/>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Threat of new entrants</a:t>
            </a:r>
            <a:endParaRPr/>
          </a:p>
        </p:txBody>
      </p:sp>
      <p:sp>
        <p:nvSpPr>
          <p:cNvPr id="471" name="Google Shape;471;p23"/>
          <p:cNvSpPr/>
          <p:nvPr/>
        </p:nvSpPr>
        <p:spPr>
          <a:xfrm>
            <a:off x="4287360" y="2213525"/>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72" name="Google Shape;472;p23"/>
          <p:cNvSpPr/>
          <p:nvPr/>
        </p:nvSpPr>
        <p:spPr>
          <a:xfrm>
            <a:off x="4289613" y="4958012"/>
            <a:ext cx="3600125" cy="31408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Threat of Substitute products</a:t>
            </a:r>
            <a:endParaRPr/>
          </a:p>
        </p:txBody>
      </p:sp>
      <p:sp>
        <p:nvSpPr>
          <p:cNvPr id="473" name="Google Shape;473;p23"/>
          <p:cNvSpPr/>
          <p:nvPr/>
        </p:nvSpPr>
        <p:spPr>
          <a:xfrm>
            <a:off x="4287360" y="5260252"/>
            <a:ext cx="3600125" cy="1160213"/>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a:p>
            <a:pPr indent="-138113" lvl="0" marL="138113"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you own text</a:t>
            </a:r>
            <a:endParaRPr/>
          </a:p>
        </p:txBody>
      </p:sp>
      <p:sp>
        <p:nvSpPr>
          <p:cNvPr id="474" name="Google Shape;474;p23"/>
          <p:cNvSpPr/>
          <p:nvPr/>
        </p:nvSpPr>
        <p:spPr>
          <a:xfrm>
            <a:off x="4397769" y="1584543"/>
            <a:ext cx="3383812" cy="276999"/>
          </a:xfrm>
          <a:prstGeom prst="rect">
            <a:avLst/>
          </a:prstGeom>
          <a:noFill/>
          <a:ln>
            <a:noFill/>
          </a:ln>
        </p:spPr>
        <p:txBody>
          <a:bodyPr anchorCtr="1" anchor="ctr" bIns="0" lIns="72000" spcFirstLastPara="1" rIns="72000" wrap="square" tIns="0">
            <a:spAutoFit/>
          </a:bodyPr>
          <a:lstStyle/>
          <a:p>
            <a:pPr indent="0" lvl="0" marL="0" marR="0" rtl="0" algn="ctr">
              <a:spcBef>
                <a:spcPts val="0"/>
              </a:spcBef>
              <a:spcAft>
                <a:spcPts val="0"/>
              </a:spcAft>
              <a:buNone/>
            </a:pPr>
            <a:r>
              <a:rPr b="1" lang="en-US" sz="1800">
                <a:solidFill>
                  <a:schemeClr val="dk2"/>
                </a:solidFill>
                <a:latin typeface="Arial"/>
                <a:ea typeface="Arial"/>
                <a:cs typeface="Arial"/>
                <a:sym typeface="Arial"/>
              </a:rPr>
              <a:t>Porter’s 5 Forces</a:t>
            </a:r>
            <a:endParaRPr/>
          </a:p>
        </p:txBody>
      </p:sp>
      <p:sp>
        <p:nvSpPr>
          <p:cNvPr id="475" name="Google Shape;475;p23"/>
          <p:cNvSpPr/>
          <p:nvPr/>
        </p:nvSpPr>
        <p:spPr>
          <a:xfrm>
            <a:off x="1438742" y="2317090"/>
            <a:ext cx="2534049" cy="960256"/>
          </a:xfrm>
          <a:prstGeom prst="wedgeRoundRectCallout">
            <a:avLst>
              <a:gd fmla="val 73366" name="adj1"/>
              <a:gd fmla="val -49077"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 within the airline industry: New foreign airlines or domestic airlines </a:t>
            </a:r>
            <a:endParaRPr/>
          </a:p>
        </p:txBody>
      </p:sp>
      <p:sp>
        <p:nvSpPr>
          <p:cNvPr id="476" name="Google Shape;476;p23"/>
          <p:cNvSpPr/>
          <p:nvPr/>
        </p:nvSpPr>
        <p:spPr>
          <a:xfrm>
            <a:off x="1438742" y="5277300"/>
            <a:ext cx="2534049" cy="960256"/>
          </a:xfrm>
          <a:prstGeom prst="wedgeRoundRectCallout">
            <a:avLst>
              <a:gd fmla="val 38476" name="adj1"/>
              <a:gd fmla="val -98266"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 within the airline industry: Fuel companies, Aircraft companies or Catering suppliers</a:t>
            </a:r>
            <a:endParaRPr/>
          </a:p>
          <a:p>
            <a:pPr indent="0" lvl="0" marL="0" marR="0" rtl="0" algn="l">
              <a:spcBef>
                <a:spcPts val="600"/>
              </a:spcBef>
              <a:spcAft>
                <a:spcPts val="0"/>
              </a:spcAft>
              <a:buNone/>
            </a:pPr>
            <a:r>
              <a:t/>
            </a:r>
            <a:endParaRPr b="1" sz="1050">
              <a:solidFill>
                <a:srgbClr val="0C2870"/>
              </a:solidFill>
              <a:latin typeface="Arial"/>
              <a:ea typeface="Arial"/>
              <a:cs typeface="Arial"/>
              <a:sym typeface="Arial"/>
            </a:endParaRPr>
          </a:p>
        </p:txBody>
      </p:sp>
      <p:sp>
        <p:nvSpPr>
          <p:cNvPr id="477" name="Google Shape;477;p23"/>
          <p:cNvSpPr/>
          <p:nvPr/>
        </p:nvSpPr>
        <p:spPr>
          <a:xfrm>
            <a:off x="8620990" y="2317090"/>
            <a:ext cx="2534049" cy="960256"/>
          </a:xfrm>
          <a:prstGeom prst="wedgeRoundRectCallout">
            <a:avLst>
              <a:gd fmla="val 10517" name="adj1"/>
              <a:gd fmla="val 121192"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 within the airline industry: Business travelers or Pleasure travelers</a:t>
            </a:r>
            <a:endParaRPr/>
          </a:p>
          <a:p>
            <a:pPr indent="0" lvl="0" marL="0" marR="0" rtl="0" algn="l">
              <a:spcBef>
                <a:spcPts val="600"/>
              </a:spcBef>
              <a:spcAft>
                <a:spcPts val="0"/>
              </a:spcAft>
              <a:buNone/>
            </a:pPr>
            <a:r>
              <a:t/>
            </a:r>
            <a:endParaRPr b="1" sz="1050">
              <a:solidFill>
                <a:srgbClr val="0C2870"/>
              </a:solidFill>
              <a:latin typeface="Arial"/>
              <a:ea typeface="Arial"/>
              <a:cs typeface="Arial"/>
              <a:sym typeface="Arial"/>
            </a:endParaRPr>
          </a:p>
        </p:txBody>
      </p:sp>
      <p:sp>
        <p:nvSpPr>
          <p:cNvPr id="478" name="Google Shape;478;p23"/>
          <p:cNvSpPr/>
          <p:nvPr/>
        </p:nvSpPr>
        <p:spPr>
          <a:xfrm>
            <a:off x="7353966" y="5464498"/>
            <a:ext cx="2534049" cy="960256"/>
          </a:xfrm>
          <a:prstGeom prst="wedgeRoundRectCallout">
            <a:avLst>
              <a:gd fmla="val -79097" name="adj1"/>
              <a:gd fmla="val 36057"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Example within the airline industry: Bus, Rail, Car</a:t>
            </a:r>
            <a:endParaRPr/>
          </a:p>
          <a:p>
            <a:pPr indent="0" lvl="0" marL="0" marR="0" rtl="0" algn="l">
              <a:spcBef>
                <a:spcPts val="600"/>
              </a:spcBef>
              <a:spcAft>
                <a:spcPts val="0"/>
              </a:spcAft>
              <a:buNone/>
            </a:pPr>
            <a:r>
              <a:rPr b="1" lang="en-US" sz="1050">
                <a:solidFill>
                  <a:srgbClr val="0C2870"/>
                </a:solidFill>
                <a:latin typeface="Arial"/>
                <a:ea typeface="Arial"/>
                <a:cs typeface="Arial"/>
                <a:sym typeface="Arial"/>
              </a:rPr>
              <a:t>Video conferencing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24"/>
          <p:cNvSpPr/>
          <p:nvPr/>
        </p:nvSpPr>
        <p:spPr>
          <a:xfrm>
            <a:off x="618835" y="1676400"/>
            <a:ext cx="5197464" cy="36054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1. Key National Competitors</a:t>
            </a:r>
            <a:endParaRPr/>
          </a:p>
        </p:txBody>
      </p:sp>
      <p:sp>
        <p:nvSpPr>
          <p:cNvPr id="484" name="Google Shape;484;p24"/>
          <p:cNvSpPr/>
          <p:nvPr/>
        </p:nvSpPr>
        <p:spPr>
          <a:xfrm>
            <a:off x="6389699" y="1676400"/>
            <a:ext cx="5197464" cy="36054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2. Key International Competitors</a:t>
            </a:r>
            <a:endParaRPr/>
          </a:p>
        </p:txBody>
      </p:sp>
      <p:sp>
        <p:nvSpPr>
          <p:cNvPr id="485" name="Google Shape;485;p24"/>
          <p:cNvSpPr/>
          <p:nvPr/>
        </p:nvSpPr>
        <p:spPr>
          <a:xfrm>
            <a:off x="618835" y="2036949"/>
            <a:ext cx="5197464" cy="185156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Competitor A</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B</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C</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D</a:t>
            </a:r>
            <a:endParaRPr/>
          </a:p>
        </p:txBody>
      </p:sp>
      <p:sp>
        <p:nvSpPr>
          <p:cNvPr id="486" name="Google Shape;486;p24"/>
          <p:cNvSpPr/>
          <p:nvPr/>
        </p:nvSpPr>
        <p:spPr>
          <a:xfrm>
            <a:off x="6389699" y="2036949"/>
            <a:ext cx="5197464" cy="185156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Competitor E</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F</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G</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H</a:t>
            </a:r>
            <a:endParaRPr sz="1600">
              <a:solidFill>
                <a:schemeClr val="dk1"/>
              </a:solidFill>
              <a:latin typeface="Arial"/>
              <a:ea typeface="Arial"/>
              <a:cs typeface="Arial"/>
              <a:sym typeface="Arial"/>
            </a:endParaRPr>
          </a:p>
        </p:txBody>
      </p:sp>
      <p:sp>
        <p:nvSpPr>
          <p:cNvPr id="487" name="Google Shape;487;p24"/>
          <p:cNvSpPr/>
          <p:nvPr/>
        </p:nvSpPr>
        <p:spPr>
          <a:xfrm>
            <a:off x="618835" y="4060451"/>
            <a:ext cx="5197464" cy="36054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3. Substitutes</a:t>
            </a:r>
            <a:endParaRPr/>
          </a:p>
        </p:txBody>
      </p:sp>
      <p:sp>
        <p:nvSpPr>
          <p:cNvPr id="488" name="Google Shape;488;p24"/>
          <p:cNvSpPr/>
          <p:nvPr/>
        </p:nvSpPr>
        <p:spPr>
          <a:xfrm>
            <a:off x="6389699" y="4060451"/>
            <a:ext cx="5197464" cy="36054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4. New Entrants</a:t>
            </a:r>
            <a:endParaRPr/>
          </a:p>
        </p:txBody>
      </p:sp>
      <p:sp>
        <p:nvSpPr>
          <p:cNvPr id="489" name="Google Shape;489;p24"/>
          <p:cNvSpPr/>
          <p:nvPr/>
        </p:nvSpPr>
        <p:spPr>
          <a:xfrm>
            <a:off x="618835" y="4421000"/>
            <a:ext cx="5197464" cy="185156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Competitor I</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J</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K</a:t>
            </a:r>
            <a:endParaRPr sz="1600">
              <a:solidFill>
                <a:schemeClr val="dk1"/>
              </a:solidFill>
              <a:latin typeface="Arial"/>
              <a:ea typeface="Arial"/>
              <a:cs typeface="Arial"/>
              <a:sym typeface="Arial"/>
            </a:endParaRPr>
          </a:p>
        </p:txBody>
      </p:sp>
      <p:sp>
        <p:nvSpPr>
          <p:cNvPr id="490" name="Google Shape;490;p24"/>
          <p:cNvSpPr/>
          <p:nvPr/>
        </p:nvSpPr>
        <p:spPr>
          <a:xfrm>
            <a:off x="6389699" y="4421000"/>
            <a:ext cx="5197464" cy="185156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Competitor L</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M</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N</a:t>
            </a:r>
            <a:endParaRPr/>
          </a:p>
          <a:p>
            <a:pPr indent="0" lvl="0" marL="0" marR="0" rtl="0" algn="l">
              <a:spcBef>
                <a:spcPts val="800"/>
              </a:spcBef>
              <a:spcAft>
                <a:spcPts val="0"/>
              </a:spcAft>
              <a:buNone/>
            </a:pPr>
            <a:r>
              <a:rPr lang="en-US" sz="1600">
                <a:solidFill>
                  <a:schemeClr val="dk1"/>
                </a:solidFill>
                <a:latin typeface="Arial"/>
                <a:ea typeface="Arial"/>
                <a:cs typeface="Arial"/>
                <a:sym typeface="Arial"/>
              </a:rPr>
              <a:t>Competitor O</a:t>
            </a:r>
            <a:endParaRPr sz="1600">
              <a:solidFill>
                <a:schemeClr val="dk1"/>
              </a:solidFill>
              <a:latin typeface="Arial"/>
              <a:ea typeface="Arial"/>
              <a:cs typeface="Arial"/>
              <a:sym typeface="Arial"/>
            </a:endParaRPr>
          </a:p>
        </p:txBody>
      </p:sp>
      <p:sp>
        <p:nvSpPr>
          <p:cNvPr id="491" name="Google Shape;491;p2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492" name="Google Shape;492;p24"/>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lang="en-US">
                <a:solidFill>
                  <a:schemeClr val="dk2"/>
                </a:solidFill>
                <a:latin typeface="Arial"/>
                <a:ea typeface="Arial"/>
                <a:cs typeface="Arial"/>
                <a:sym typeface="Arial"/>
              </a:rPr>
              <a:t>Competitor Identification</a:t>
            </a:r>
            <a:br>
              <a:rPr lang="en-US" sz="2200">
                <a:solidFill>
                  <a:schemeClr val="dk2"/>
                </a:solidFill>
                <a:latin typeface="Arial"/>
                <a:ea typeface="Arial"/>
                <a:cs typeface="Arial"/>
                <a:sym typeface="Arial"/>
              </a:rPr>
            </a:br>
            <a:r>
              <a:rPr b="0" lang="en-US">
                <a:solidFill>
                  <a:schemeClr val="dk2"/>
                </a:solidFill>
                <a:latin typeface="Arial"/>
                <a:ea typeface="Arial"/>
                <a:cs typeface="Arial"/>
                <a:sym typeface="Arial"/>
              </a:rPr>
              <a:t>Replace this text with the key takeaway of this Powerpoint slide.</a:t>
            </a:r>
            <a:endParaRPr b="0">
              <a:solidFill>
                <a:schemeClr val="dk2"/>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5"/>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Competitor Comparison (1/2)</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graphicFrame>
        <p:nvGraphicFramePr>
          <p:cNvPr id="498" name="Google Shape;498;p25"/>
          <p:cNvGraphicFramePr/>
          <p:nvPr/>
        </p:nvGraphicFramePr>
        <p:xfrm>
          <a:off x="618835" y="1677188"/>
          <a:ext cx="3000000" cy="3000000"/>
        </p:xfrm>
        <a:graphic>
          <a:graphicData uri="http://schemas.openxmlformats.org/drawingml/2006/table">
            <a:tbl>
              <a:tblPr>
                <a:noFill/>
                <a:tableStyleId>{148D8925-725D-496F-A5EC-AC3963D42A22}</a:tableStyleId>
              </a:tblPr>
              <a:tblGrid>
                <a:gridCol w="2002925"/>
                <a:gridCol w="1280775"/>
                <a:gridCol w="1280775"/>
                <a:gridCol w="1280775"/>
                <a:gridCol w="1280775"/>
                <a:gridCol w="1280775"/>
                <a:gridCol w="1280775"/>
                <a:gridCol w="1280775"/>
              </a:tblGrid>
              <a:tr h="702075">
                <a:tc>
                  <a:txBody>
                    <a:bodyPr/>
                    <a:lstStyle/>
                    <a:p>
                      <a:pPr indent="0" lvl="0" marL="0" marR="0" rtl="0" algn="ctr">
                        <a:lnSpc>
                          <a:spcPct val="106000"/>
                        </a:lnSpc>
                        <a:spcBef>
                          <a:spcPts val="0"/>
                        </a:spcBef>
                        <a:spcAft>
                          <a:spcPts val="0"/>
                        </a:spcAft>
                        <a:buClr>
                          <a:schemeClr val="dk1"/>
                        </a:buClr>
                        <a:buSzPts val="1200"/>
                        <a:buFont typeface="Noto Sans Symbols"/>
                        <a:buNone/>
                      </a:pPr>
                      <a:r>
                        <a:t/>
                      </a:r>
                      <a:endParaRPr b="1" i="0" sz="1200" u="none" cap="none" strike="noStrike">
                        <a:solidFill>
                          <a:schemeClr val="lt1"/>
                        </a:solidFill>
                        <a:latin typeface="Arial"/>
                        <a:ea typeface="Arial"/>
                        <a:cs typeface="Arial"/>
                        <a:sym typeface="Arial"/>
                      </a:endParaRPr>
                    </a:p>
                  </a:txBody>
                  <a:tcPr marT="36000" marB="36000" marR="66450" marL="66450" anchor="ctr">
                    <a:lnL cap="flat" cmpd="sng" w="9525">
                      <a:solidFill>
                        <a:srgbClr val="000000">
                          <a:alpha val="0"/>
                        </a:srgbClr>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1000"/>
                        <a:buFont typeface="Noto Sans Symbols"/>
                        <a:buNone/>
                      </a:pPr>
                      <a:r>
                        <a:rPr b="1" lang="en-US" sz="1000" u="none" cap="none" strike="noStrike">
                          <a:solidFill>
                            <a:schemeClr val="lt1"/>
                          </a:solidFill>
                          <a:latin typeface="Arial"/>
                          <a:ea typeface="Arial"/>
                          <a:cs typeface="Arial"/>
                          <a:sym typeface="Arial"/>
                        </a:rPr>
                        <a:t>Revenue</a:t>
                      </a:r>
                      <a:endParaRPr/>
                    </a:p>
                  </a:txBody>
                  <a:tcPr marT="36000" marB="36000" marR="66450" marL="66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00"/>
                        <a:buFont typeface="Noto Sans Symbols"/>
                        <a:buNone/>
                      </a:pPr>
                      <a:r>
                        <a:rPr b="1" lang="en-US" sz="1000" u="none" cap="none" strike="noStrike">
                          <a:solidFill>
                            <a:schemeClr val="lt1"/>
                          </a:solidFill>
                          <a:latin typeface="Arial"/>
                          <a:ea typeface="Arial"/>
                          <a:cs typeface="Arial"/>
                          <a:sym typeface="Arial"/>
                        </a:rPr>
                        <a:t>Profit</a:t>
                      </a:r>
                      <a:endParaRPr/>
                    </a:p>
                  </a:txBody>
                  <a:tcPr marT="36000" marB="36000" marR="66450" marL="66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00"/>
                        <a:buFont typeface="Noto Sans Symbols"/>
                        <a:buNone/>
                      </a:pPr>
                      <a:r>
                        <a:rPr b="1" lang="en-US" sz="1000" u="none" cap="none" strike="noStrike">
                          <a:solidFill>
                            <a:schemeClr val="lt1"/>
                          </a:solidFill>
                        </a:rPr>
                        <a:t>Market share</a:t>
                      </a:r>
                      <a:endParaRPr b="1" i="0" sz="1000" u="none" cap="none" strike="noStrike">
                        <a:solidFill>
                          <a:schemeClr val="lt1"/>
                        </a:solidFill>
                        <a:latin typeface="Arial"/>
                        <a:ea typeface="Arial"/>
                        <a:cs typeface="Arial"/>
                        <a:sym typeface="Arial"/>
                      </a:endParaRPr>
                    </a:p>
                  </a:txBody>
                  <a:tcPr marT="36000" marB="36000" marR="66450" marL="66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00"/>
                        <a:buFont typeface="Noto Sans Symbols"/>
                        <a:buNone/>
                      </a:pPr>
                      <a:r>
                        <a:rPr b="1" i="0" lang="en-US" sz="1000" u="none" cap="none" strike="noStrike">
                          <a:solidFill>
                            <a:schemeClr val="lt1"/>
                          </a:solidFill>
                          <a:latin typeface="Arial"/>
                          <a:ea typeface="Arial"/>
                          <a:cs typeface="Arial"/>
                          <a:sym typeface="Arial"/>
                        </a:rPr>
                        <a:t>Main activity</a:t>
                      </a:r>
                      <a:endParaRPr b="1" i="0" sz="1000" u="none" cap="none" strike="noStrike">
                        <a:solidFill>
                          <a:schemeClr val="lt1"/>
                        </a:solidFill>
                        <a:latin typeface="Arial"/>
                        <a:ea typeface="Arial"/>
                        <a:cs typeface="Arial"/>
                        <a:sym typeface="Arial"/>
                      </a:endParaRPr>
                    </a:p>
                  </a:txBody>
                  <a:tcPr marT="36000" marB="36000" marR="66450" marL="66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00"/>
                        <a:buFont typeface="Noto Sans Symbols"/>
                        <a:buNone/>
                      </a:pPr>
                      <a:r>
                        <a:rPr b="1" lang="en-US" sz="1000" u="none" cap="none" strike="noStrike">
                          <a:solidFill>
                            <a:schemeClr val="lt1"/>
                          </a:solidFill>
                        </a:rPr>
                        <a:t>Number of employee</a:t>
                      </a:r>
                      <a:endParaRPr b="1" i="0" sz="1000" u="none" cap="none" strike="noStrike">
                        <a:solidFill>
                          <a:schemeClr val="lt1"/>
                        </a:solidFill>
                        <a:latin typeface="Arial"/>
                        <a:ea typeface="Arial"/>
                        <a:cs typeface="Arial"/>
                        <a:sym typeface="Arial"/>
                      </a:endParaRPr>
                    </a:p>
                  </a:txBody>
                  <a:tcPr marT="36000" marB="36000" marR="66450" marL="66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00"/>
                        <a:buFont typeface="Noto Sans Symbols"/>
                        <a:buNone/>
                      </a:pPr>
                      <a:r>
                        <a:rPr b="1" i="0" lang="en-US" sz="1000" u="none" cap="none" strike="noStrike">
                          <a:solidFill>
                            <a:schemeClr val="lt1"/>
                          </a:solidFill>
                          <a:latin typeface="Arial"/>
                          <a:ea typeface="Arial"/>
                          <a:cs typeface="Arial"/>
                          <a:sym typeface="Arial"/>
                        </a:rPr>
                        <a:t>Product quality</a:t>
                      </a:r>
                      <a:endParaRPr b="1" i="0" sz="1000" u="none" cap="none" strike="noStrike">
                        <a:solidFill>
                          <a:schemeClr val="lt1"/>
                        </a:solidFill>
                        <a:latin typeface="Arial"/>
                        <a:ea typeface="Arial"/>
                        <a:cs typeface="Arial"/>
                        <a:sym typeface="Arial"/>
                      </a:endParaRPr>
                    </a:p>
                  </a:txBody>
                  <a:tcPr marT="36000" marB="36000" marR="66450" marL="66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00"/>
                        <a:buFont typeface="Noto Sans Symbols"/>
                        <a:buNone/>
                      </a:pPr>
                      <a:r>
                        <a:rPr b="1" lang="en-US" sz="1000" u="none" cap="none" strike="noStrike">
                          <a:solidFill>
                            <a:schemeClr val="lt1"/>
                          </a:solidFill>
                          <a:latin typeface="Arial"/>
                          <a:ea typeface="Arial"/>
                          <a:cs typeface="Arial"/>
                          <a:sym typeface="Arial"/>
                        </a:rPr>
                        <a:t>Insert your own text</a:t>
                      </a:r>
                      <a:endParaRPr/>
                    </a:p>
                  </a:txBody>
                  <a:tcPr marT="36000" marB="36000" marR="66450" marL="66450" anchor="ctr">
                    <a:lnL cap="flat" cmpd="sng" w="12700">
                      <a:solidFill>
                        <a:schemeClr val="lt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2"/>
                    </a:solidFill>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Competitor A</a:t>
                      </a:r>
                      <a:endParaRPr b="1" sz="1000" u="none" cap="none" strike="noStrike">
                        <a:solidFill>
                          <a:schemeClr val="dk1"/>
                        </a:solidFill>
                        <a:latin typeface="Arial"/>
                        <a:ea typeface="Arial"/>
                        <a:cs typeface="Arial"/>
                        <a:sym typeface="Arial"/>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Competitor B</a:t>
                      </a:r>
                      <a:endParaRPr b="1" sz="1000" u="none" cap="none" strike="noStrike">
                        <a:solidFill>
                          <a:schemeClr val="dk1"/>
                        </a:solidFill>
                        <a:latin typeface="Arial"/>
                        <a:ea typeface="Arial"/>
                        <a:cs typeface="Arial"/>
                        <a:sym typeface="Arial"/>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Competitor D</a:t>
                      </a:r>
                      <a:endParaRPr b="1" sz="1000" u="none" cap="none" strike="noStrike">
                        <a:solidFill>
                          <a:schemeClr val="dk1"/>
                        </a:solidFill>
                        <a:latin typeface="Arial"/>
                        <a:ea typeface="Arial"/>
                        <a:cs typeface="Arial"/>
                        <a:sym typeface="Arial"/>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396600">
                <a:tc>
                  <a:txBody>
                    <a:bodyPr/>
                    <a:lstStyle/>
                    <a:p>
                      <a:pPr indent="0" lvl="0" marL="0" marR="0" rtl="0" algn="l">
                        <a:lnSpc>
                          <a:spcPct val="106000"/>
                        </a:lnSpc>
                        <a:spcBef>
                          <a:spcPts val="0"/>
                        </a:spcBef>
                        <a:spcAft>
                          <a:spcPts val="0"/>
                        </a:spcAft>
                        <a:buClr>
                          <a:schemeClr val="dk1"/>
                        </a:buClr>
                        <a:buSzPts val="1000"/>
                        <a:buFont typeface="Arial"/>
                        <a:buNone/>
                      </a:pPr>
                      <a:r>
                        <a:rPr b="1" lang="en-US" sz="10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12700">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800"/>
                        <a:buFont typeface="Noto Sans Symbols"/>
                        <a:buNone/>
                      </a:pPr>
                      <a:r>
                        <a:rPr b="0" lang="en-US" sz="800" u="none" cap="none" strike="noStrike">
                          <a:solidFill>
                            <a:schemeClr val="dk1"/>
                          </a:solidFill>
                          <a:latin typeface="Arial"/>
                          <a:ea typeface="Arial"/>
                          <a:cs typeface="Arial"/>
                          <a:sym typeface="Arial"/>
                        </a:rPr>
                        <a:t>Insert your own text</a:t>
                      </a:r>
                      <a:endParaRPr/>
                    </a:p>
                  </a:txBody>
                  <a:tcPr marT="36000" marB="36000" marR="66450" marL="66450" anchor="ctr">
                    <a:lnL cap="flat" cmpd="sng" w="9525">
                      <a:solidFill>
                        <a:srgbClr val="BFBFBF"/>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499" name="Google Shape;499;p2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marR="0" rtl="0" algn="r">
              <a:lnSpc>
                <a:spcPct val="100000"/>
              </a:lnSpc>
              <a:spcBef>
                <a:spcPts val="0"/>
              </a:spcBef>
              <a:spcAft>
                <a:spcPts val="0"/>
              </a:spcAft>
              <a:buClr>
                <a:srgbClr val="ADAFBB"/>
              </a:buClr>
              <a:buSzPts val="1000"/>
              <a:buFont typeface="Arial"/>
              <a:buNone/>
            </a:pPr>
            <a:fld id="{00000000-1234-1234-1234-123412341234}" type="slidenum">
              <a:rPr b="0" i="0" lang="en-US" sz="1000" u="none" cap="none" strike="noStrike">
                <a:solidFill>
                  <a:srgbClr val="ADAFBB"/>
                </a:solidFill>
                <a:latin typeface="Arial"/>
                <a:ea typeface="Arial"/>
                <a:cs typeface="Arial"/>
                <a:sym typeface="Arial"/>
              </a:rPr>
              <a:t>‹#›</a:t>
            </a:fld>
            <a:endParaRPr b="0" i="0" sz="1000" u="none" cap="none" strike="noStrike">
              <a:solidFill>
                <a:srgbClr val="ADAFBB"/>
              </a:solidFill>
              <a:latin typeface="Arial"/>
              <a:ea typeface="Arial"/>
              <a:cs typeface="Arial"/>
              <a:sym typeface="Arial"/>
            </a:endParaRPr>
          </a:p>
        </p:txBody>
      </p:sp>
      <p:sp>
        <p:nvSpPr>
          <p:cNvPr id="500" name="Google Shape;500;p25"/>
          <p:cNvSpPr/>
          <p:nvPr/>
        </p:nvSpPr>
        <p:spPr>
          <a:xfrm>
            <a:off x="5119254" y="2840182"/>
            <a:ext cx="2534049" cy="960256"/>
          </a:xfrm>
          <a:prstGeom prst="wedgeRoundRectCallout">
            <a:avLst>
              <a:gd fmla="val -22222" name="adj1"/>
              <a:gd fmla="val -119707"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Compare your competitors with relevant criteria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6"/>
          <p:cNvSpPr txBox="1"/>
          <p:nvPr>
            <p:ph type="title"/>
          </p:nvPr>
        </p:nvSpPr>
        <p:spPr>
          <a:xfrm>
            <a:off x="514350" y="365125"/>
            <a:ext cx="11072813" cy="109061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2"/>
              </a:buClr>
              <a:buSzPts val="2400"/>
              <a:buFont typeface="Arial"/>
              <a:buNone/>
            </a:pPr>
            <a:r>
              <a:rPr b="1" i="0" lang="en-US" sz="2400" u="none" cap="none" strike="noStrike">
                <a:solidFill>
                  <a:schemeClr val="dk2"/>
                </a:solidFill>
                <a:latin typeface="Arial"/>
                <a:ea typeface="Arial"/>
                <a:cs typeface="Arial"/>
                <a:sym typeface="Arial"/>
              </a:rPr>
              <a:t>Competitor Comparison (2/2)</a:t>
            </a:r>
            <a:br>
              <a:rPr b="1" i="0" lang="en-US" sz="2400" u="none" cap="none" strike="noStrike">
                <a:solidFill>
                  <a:schemeClr val="dk2"/>
                </a:solidFill>
                <a:latin typeface="Arial"/>
                <a:ea typeface="Arial"/>
                <a:cs typeface="Arial"/>
                <a:sym typeface="Arial"/>
              </a:rPr>
            </a:br>
            <a:r>
              <a:rPr b="0" i="0" lang="en-US" sz="2400" u="none" cap="none" strike="noStrike">
                <a:solidFill>
                  <a:schemeClr val="dk2"/>
                </a:solidFill>
                <a:latin typeface="Arial"/>
                <a:ea typeface="Arial"/>
                <a:cs typeface="Arial"/>
                <a:sym typeface="Arial"/>
              </a:rPr>
              <a:t>Replace this text with the key takeaway of this Powerpoint slide.</a:t>
            </a:r>
            <a:endParaRPr/>
          </a:p>
        </p:txBody>
      </p:sp>
      <p:sp>
        <p:nvSpPr>
          <p:cNvPr id="506" name="Google Shape;506;p26"/>
          <p:cNvSpPr/>
          <p:nvPr/>
        </p:nvSpPr>
        <p:spPr>
          <a:xfrm>
            <a:off x="2955552" y="2470945"/>
            <a:ext cx="6442075" cy="3232150"/>
          </a:xfrm>
          <a:prstGeom prst="rect">
            <a:avLst/>
          </a:prstGeom>
          <a:no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cxnSp>
        <p:nvCxnSpPr>
          <p:cNvPr id="507" name="Google Shape;507;p26"/>
          <p:cNvCxnSpPr/>
          <p:nvPr/>
        </p:nvCxnSpPr>
        <p:spPr>
          <a:xfrm>
            <a:off x="2961902" y="3753645"/>
            <a:ext cx="6448425" cy="0"/>
          </a:xfrm>
          <a:prstGeom prst="straightConnector1">
            <a:avLst/>
          </a:prstGeom>
          <a:noFill/>
          <a:ln cap="flat" cmpd="sng" w="12700">
            <a:solidFill>
              <a:schemeClr val="dk2"/>
            </a:solidFill>
            <a:prstDash val="dash"/>
            <a:round/>
            <a:headEnd len="sm" w="sm" type="none"/>
            <a:tailEnd len="sm" w="sm" type="none"/>
          </a:ln>
        </p:spPr>
      </p:cxnSp>
      <p:sp>
        <p:nvSpPr>
          <p:cNvPr id="508" name="Google Shape;508;p26"/>
          <p:cNvSpPr/>
          <p:nvPr/>
        </p:nvSpPr>
        <p:spPr>
          <a:xfrm>
            <a:off x="2514712" y="2304258"/>
            <a:ext cx="442429" cy="369974"/>
          </a:xfrm>
          <a:prstGeom prst="rect">
            <a:avLst/>
          </a:prstGeom>
          <a:noFill/>
          <a:ln>
            <a:noFill/>
          </a:ln>
        </p:spPr>
        <p:txBody>
          <a:bodyPr anchorCtr="0" anchor="t" bIns="46025" lIns="92075" spcFirstLastPara="1" rIns="92075" wrap="square" tIns="46025">
            <a:spAutoFit/>
          </a:bodyPr>
          <a:lstStyle/>
          <a:p>
            <a:pPr indent="0" lvl="0" marL="0" marR="0" rtl="0" algn="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20</a:t>
            </a:r>
            <a:endParaRPr/>
          </a:p>
        </p:txBody>
      </p:sp>
      <p:sp>
        <p:nvSpPr>
          <p:cNvPr id="509" name="Google Shape;509;p26"/>
          <p:cNvSpPr/>
          <p:nvPr/>
        </p:nvSpPr>
        <p:spPr>
          <a:xfrm>
            <a:off x="2514712" y="2951958"/>
            <a:ext cx="442429" cy="369974"/>
          </a:xfrm>
          <a:prstGeom prst="rect">
            <a:avLst/>
          </a:prstGeom>
          <a:noFill/>
          <a:ln>
            <a:noFill/>
          </a:ln>
        </p:spPr>
        <p:txBody>
          <a:bodyPr anchorCtr="0" anchor="t" bIns="46025" lIns="92075" spcFirstLastPara="1" rIns="92075" wrap="square" tIns="46025">
            <a:spAutoFit/>
          </a:bodyPr>
          <a:lstStyle/>
          <a:p>
            <a:pPr indent="0" lvl="0" marL="0" marR="0" rtl="0" algn="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15</a:t>
            </a:r>
            <a:endParaRPr/>
          </a:p>
        </p:txBody>
      </p:sp>
      <p:sp>
        <p:nvSpPr>
          <p:cNvPr id="510" name="Google Shape;510;p26"/>
          <p:cNvSpPr/>
          <p:nvPr/>
        </p:nvSpPr>
        <p:spPr>
          <a:xfrm>
            <a:off x="2514712" y="3637758"/>
            <a:ext cx="442429" cy="369974"/>
          </a:xfrm>
          <a:prstGeom prst="rect">
            <a:avLst/>
          </a:prstGeom>
          <a:noFill/>
          <a:ln>
            <a:noFill/>
          </a:ln>
        </p:spPr>
        <p:txBody>
          <a:bodyPr anchorCtr="0" anchor="t" bIns="46025" lIns="92075" spcFirstLastPara="1" rIns="92075" wrap="square" tIns="46025">
            <a:spAutoFit/>
          </a:bodyPr>
          <a:lstStyle/>
          <a:p>
            <a:pPr indent="0" lvl="0" marL="0" marR="0" rtl="0" algn="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10</a:t>
            </a:r>
            <a:endParaRPr/>
          </a:p>
        </p:txBody>
      </p:sp>
      <p:sp>
        <p:nvSpPr>
          <p:cNvPr id="511" name="Google Shape;511;p26"/>
          <p:cNvSpPr/>
          <p:nvPr/>
        </p:nvSpPr>
        <p:spPr>
          <a:xfrm>
            <a:off x="2642952" y="4285458"/>
            <a:ext cx="314189" cy="369974"/>
          </a:xfrm>
          <a:prstGeom prst="rect">
            <a:avLst/>
          </a:prstGeom>
          <a:noFill/>
          <a:ln>
            <a:noFill/>
          </a:ln>
        </p:spPr>
        <p:txBody>
          <a:bodyPr anchorCtr="0" anchor="t" bIns="46025" lIns="92075" spcFirstLastPara="1" rIns="92075" wrap="square" tIns="46025">
            <a:spAutoFit/>
          </a:bodyPr>
          <a:lstStyle/>
          <a:p>
            <a:pPr indent="0" lvl="0" marL="0" marR="0" rtl="0" algn="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5</a:t>
            </a:r>
            <a:endParaRPr/>
          </a:p>
        </p:txBody>
      </p:sp>
      <p:sp>
        <p:nvSpPr>
          <p:cNvPr id="512" name="Google Shape;512;p26"/>
          <p:cNvSpPr/>
          <p:nvPr/>
        </p:nvSpPr>
        <p:spPr>
          <a:xfrm>
            <a:off x="2642952" y="4923633"/>
            <a:ext cx="314189" cy="369974"/>
          </a:xfrm>
          <a:prstGeom prst="rect">
            <a:avLst/>
          </a:prstGeom>
          <a:noFill/>
          <a:ln>
            <a:noFill/>
          </a:ln>
        </p:spPr>
        <p:txBody>
          <a:bodyPr anchorCtr="0" anchor="t" bIns="46025" lIns="92075" spcFirstLastPara="1" rIns="92075" wrap="square" tIns="46025">
            <a:spAutoFit/>
          </a:bodyPr>
          <a:lstStyle/>
          <a:p>
            <a:pPr indent="0" lvl="0" marL="0" marR="0" rtl="0" algn="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a:t>
            </a:r>
            <a:endParaRPr/>
          </a:p>
        </p:txBody>
      </p:sp>
      <p:sp>
        <p:nvSpPr>
          <p:cNvPr id="513" name="Google Shape;513;p26"/>
          <p:cNvSpPr/>
          <p:nvPr/>
        </p:nvSpPr>
        <p:spPr>
          <a:xfrm>
            <a:off x="2566007" y="5571333"/>
            <a:ext cx="391133" cy="369974"/>
          </a:xfrm>
          <a:prstGeom prst="rect">
            <a:avLst/>
          </a:prstGeom>
          <a:noFill/>
          <a:ln>
            <a:noFill/>
          </a:ln>
        </p:spPr>
        <p:txBody>
          <a:bodyPr anchorCtr="0" anchor="t" bIns="46025" lIns="92075" spcFirstLastPara="1" rIns="92075" wrap="square" tIns="46025">
            <a:spAutoFit/>
          </a:bodyPr>
          <a:lstStyle/>
          <a:p>
            <a:pPr indent="0" lvl="0" marL="0" marR="0" rtl="0" algn="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-5</a:t>
            </a:r>
            <a:endParaRPr/>
          </a:p>
        </p:txBody>
      </p:sp>
      <p:sp>
        <p:nvSpPr>
          <p:cNvPr id="514" name="Google Shape;514;p26"/>
          <p:cNvSpPr/>
          <p:nvPr/>
        </p:nvSpPr>
        <p:spPr>
          <a:xfrm>
            <a:off x="5104891" y="2821696"/>
            <a:ext cx="2148024" cy="339196"/>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Gaining market share</a:t>
            </a:r>
            <a:endParaRPr/>
          </a:p>
        </p:txBody>
      </p:sp>
      <p:sp>
        <p:nvSpPr>
          <p:cNvPr id="515" name="Google Shape;515;p26"/>
          <p:cNvSpPr/>
          <p:nvPr/>
        </p:nvSpPr>
        <p:spPr>
          <a:xfrm>
            <a:off x="5205251" y="4269496"/>
            <a:ext cx="2045432" cy="339196"/>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Losing market share</a:t>
            </a:r>
            <a:endParaRPr/>
          </a:p>
        </p:txBody>
      </p:sp>
      <p:sp>
        <p:nvSpPr>
          <p:cNvPr id="516" name="Google Shape;516;p26"/>
          <p:cNvSpPr/>
          <p:nvPr/>
        </p:nvSpPr>
        <p:spPr>
          <a:xfrm>
            <a:off x="9451603" y="3561969"/>
            <a:ext cx="110844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Average market</a:t>
            </a:r>
            <a:endParaRPr/>
          </a:p>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growth</a:t>
            </a:r>
            <a:endParaRPr/>
          </a:p>
        </p:txBody>
      </p:sp>
      <p:sp>
        <p:nvSpPr>
          <p:cNvPr id="517" name="Google Shape;517;p26"/>
          <p:cNvSpPr/>
          <p:nvPr/>
        </p:nvSpPr>
        <p:spPr>
          <a:xfrm>
            <a:off x="2853565" y="5723733"/>
            <a:ext cx="314190" cy="369974"/>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0</a:t>
            </a:r>
            <a:endParaRPr/>
          </a:p>
        </p:txBody>
      </p:sp>
      <p:sp>
        <p:nvSpPr>
          <p:cNvPr id="518" name="Google Shape;518;p26"/>
          <p:cNvSpPr/>
          <p:nvPr/>
        </p:nvSpPr>
        <p:spPr>
          <a:xfrm>
            <a:off x="3776440" y="5723733"/>
            <a:ext cx="442430" cy="369974"/>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10</a:t>
            </a:r>
            <a:endParaRPr/>
          </a:p>
        </p:txBody>
      </p:sp>
      <p:sp>
        <p:nvSpPr>
          <p:cNvPr id="519" name="Google Shape;519;p26"/>
          <p:cNvSpPr/>
          <p:nvPr/>
        </p:nvSpPr>
        <p:spPr>
          <a:xfrm>
            <a:off x="4827555" y="5723733"/>
            <a:ext cx="442430" cy="369974"/>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20</a:t>
            </a:r>
            <a:endParaRPr/>
          </a:p>
        </p:txBody>
      </p:sp>
      <p:sp>
        <p:nvSpPr>
          <p:cNvPr id="520" name="Google Shape;520;p26"/>
          <p:cNvSpPr/>
          <p:nvPr/>
        </p:nvSpPr>
        <p:spPr>
          <a:xfrm>
            <a:off x="5878670" y="5723733"/>
            <a:ext cx="442430" cy="369974"/>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30</a:t>
            </a:r>
            <a:endParaRPr/>
          </a:p>
        </p:txBody>
      </p:sp>
      <p:sp>
        <p:nvSpPr>
          <p:cNvPr id="521" name="Google Shape;521;p26"/>
          <p:cNvSpPr/>
          <p:nvPr/>
        </p:nvSpPr>
        <p:spPr>
          <a:xfrm>
            <a:off x="6929785" y="5723733"/>
            <a:ext cx="442430" cy="369974"/>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40</a:t>
            </a:r>
            <a:endParaRPr/>
          </a:p>
        </p:txBody>
      </p:sp>
      <p:sp>
        <p:nvSpPr>
          <p:cNvPr id="522" name="Google Shape;522;p26"/>
          <p:cNvSpPr/>
          <p:nvPr/>
        </p:nvSpPr>
        <p:spPr>
          <a:xfrm>
            <a:off x="7980900" y="5723733"/>
            <a:ext cx="442430" cy="369974"/>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50</a:t>
            </a:r>
            <a:endParaRPr/>
          </a:p>
        </p:txBody>
      </p:sp>
      <p:sp>
        <p:nvSpPr>
          <p:cNvPr id="523" name="Google Shape;523;p26"/>
          <p:cNvSpPr/>
          <p:nvPr/>
        </p:nvSpPr>
        <p:spPr>
          <a:xfrm rot="-5400000">
            <a:off x="1090780" y="3738717"/>
            <a:ext cx="2186496" cy="394980"/>
          </a:xfrm>
          <a:prstGeom prst="rect">
            <a:avLst/>
          </a:prstGeom>
          <a:noFill/>
          <a:ln>
            <a:noFill/>
          </a:ln>
        </p:spPr>
        <p:txBody>
          <a:bodyPr anchorCtr="0" anchor="t" bIns="88900" lIns="180975" spcFirstLastPara="1" rIns="180975" wrap="square" tIns="88900">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Company Growth (%)</a:t>
            </a:r>
            <a:endParaRPr/>
          </a:p>
        </p:txBody>
      </p:sp>
      <p:sp>
        <p:nvSpPr>
          <p:cNvPr id="524" name="Google Shape;524;p26"/>
          <p:cNvSpPr/>
          <p:nvPr/>
        </p:nvSpPr>
        <p:spPr>
          <a:xfrm>
            <a:off x="5266886" y="6062052"/>
            <a:ext cx="1819409" cy="394980"/>
          </a:xfrm>
          <a:prstGeom prst="rect">
            <a:avLst/>
          </a:prstGeom>
          <a:noFill/>
          <a:ln>
            <a:noFill/>
          </a:ln>
        </p:spPr>
        <p:txBody>
          <a:bodyPr anchorCtr="0" anchor="t" bIns="88900" lIns="180975" spcFirstLastPara="1" rIns="180975" wrap="square" tIns="88900">
            <a:spAutoFit/>
          </a:bodyPr>
          <a:lstStyle/>
          <a:p>
            <a:pPr indent="0" lvl="0" marL="0" marR="0" rtl="0" algn="ctr">
              <a:lnSpc>
                <a:spcPct val="100000"/>
              </a:lnSpc>
              <a:spcBef>
                <a:spcPts val="0"/>
              </a:spcBef>
              <a:spcAft>
                <a:spcPts val="0"/>
              </a:spcAft>
              <a:buClr>
                <a:schemeClr val="dk1"/>
              </a:buClr>
              <a:buSzPts val="1400"/>
              <a:buFont typeface="Arial"/>
              <a:buNone/>
            </a:pPr>
            <a:r>
              <a:rPr b="1" i="0" lang="en-US" sz="1400" u="none" cap="none" strike="noStrike">
                <a:solidFill>
                  <a:schemeClr val="dk1"/>
                </a:solidFill>
                <a:latin typeface="Arial"/>
                <a:ea typeface="Arial"/>
                <a:cs typeface="Arial"/>
                <a:sym typeface="Arial"/>
              </a:rPr>
              <a:t>Market Share (%)</a:t>
            </a:r>
            <a:endParaRPr/>
          </a:p>
        </p:txBody>
      </p:sp>
      <p:sp>
        <p:nvSpPr>
          <p:cNvPr id="525" name="Google Shape;525;p26"/>
          <p:cNvSpPr/>
          <p:nvPr/>
        </p:nvSpPr>
        <p:spPr>
          <a:xfrm>
            <a:off x="1986538" y="1644542"/>
            <a:ext cx="8573512" cy="338554"/>
          </a:xfrm>
          <a:prstGeom prst="rect">
            <a:avLst/>
          </a:prstGeom>
          <a:solidFill>
            <a:schemeClr val="dk1"/>
          </a:solidFill>
          <a:ln>
            <a:noFill/>
          </a:ln>
        </p:spPr>
        <p:txBody>
          <a:bodyPr anchorCtr="1" anchor="ctr"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Insert title</a:t>
            </a:r>
            <a:endParaRPr/>
          </a:p>
        </p:txBody>
      </p:sp>
      <p:sp>
        <p:nvSpPr>
          <p:cNvPr id="526" name="Google Shape;526;p26"/>
          <p:cNvSpPr/>
          <p:nvPr/>
        </p:nvSpPr>
        <p:spPr>
          <a:xfrm>
            <a:off x="9032013" y="5723733"/>
            <a:ext cx="442430" cy="369974"/>
          </a:xfrm>
          <a:prstGeom prst="rect">
            <a:avLst/>
          </a:prstGeom>
          <a:noFill/>
          <a:ln>
            <a:noFill/>
          </a:ln>
        </p:spPr>
        <p:txBody>
          <a:bodyPr anchorCtr="0" anchor="t" bIns="46025" lIns="92075" spcFirstLastPara="1" rIns="92075" wrap="square" tIns="46025">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60</a:t>
            </a:r>
            <a:endParaRPr/>
          </a:p>
        </p:txBody>
      </p:sp>
      <p:sp>
        <p:nvSpPr>
          <p:cNvPr id="527" name="Google Shape;527;p26"/>
          <p:cNvSpPr/>
          <p:nvPr/>
        </p:nvSpPr>
        <p:spPr>
          <a:xfrm rot="-5400000">
            <a:off x="5916316" y="3037281"/>
            <a:ext cx="586319" cy="798346"/>
          </a:xfrm>
          <a:prstGeom prst="stripedRightArrow">
            <a:avLst>
              <a:gd fmla="val 50000" name="adj1"/>
              <a:gd fmla="val 50000" name="adj2"/>
            </a:avLst>
          </a:prstGeom>
          <a:solidFill>
            <a:schemeClr val="dk1"/>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chemeClr val="dk1"/>
              </a:solidFill>
              <a:latin typeface="Arial"/>
              <a:ea typeface="Arial"/>
              <a:cs typeface="Arial"/>
              <a:sym typeface="Arial"/>
            </a:endParaRPr>
          </a:p>
        </p:txBody>
      </p:sp>
      <p:sp>
        <p:nvSpPr>
          <p:cNvPr id="528" name="Google Shape;528;p26"/>
          <p:cNvSpPr/>
          <p:nvPr/>
        </p:nvSpPr>
        <p:spPr>
          <a:xfrm rot="5400000">
            <a:off x="5916317" y="3642337"/>
            <a:ext cx="586319" cy="798346"/>
          </a:xfrm>
          <a:prstGeom prst="stripedRightArrow">
            <a:avLst>
              <a:gd fmla="val 50000" name="adj1"/>
              <a:gd fmla="val 50000" name="adj2"/>
            </a:avLst>
          </a:prstGeom>
          <a:solidFill>
            <a:schemeClr val="dk1"/>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b="0" i="0" sz="1200" u="none" cap="none" strike="noStrike">
              <a:solidFill>
                <a:schemeClr val="dk1"/>
              </a:solidFill>
              <a:latin typeface="Arial"/>
              <a:ea typeface="Arial"/>
              <a:cs typeface="Arial"/>
              <a:sym typeface="Arial"/>
            </a:endParaRPr>
          </a:p>
        </p:txBody>
      </p:sp>
      <p:sp>
        <p:nvSpPr>
          <p:cNvPr id="529" name="Google Shape;529;p26"/>
          <p:cNvSpPr/>
          <p:nvPr/>
        </p:nvSpPr>
        <p:spPr>
          <a:xfrm>
            <a:off x="7602677" y="2247945"/>
            <a:ext cx="482600" cy="482600"/>
          </a:xfrm>
          <a:prstGeom prst="ellipse">
            <a:avLst/>
          </a:prstGeom>
          <a:solidFill>
            <a:schemeClr val="accent5"/>
          </a:solid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0" name="Google Shape;530;p26"/>
          <p:cNvSpPr/>
          <p:nvPr/>
        </p:nvSpPr>
        <p:spPr>
          <a:xfrm>
            <a:off x="7097590" y="1983046"/>
            <a:ext cx="1538883" cy="26225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company name</a:t>
            </a:r>
            <a:endParaRPr/>
          </a:p>
        </p:txBody>
      </p:sp>
      <p:sp>
        <p:nvSpPr>
          <p:cNvPr id="531" name="Google Shape;531;p26"/>
          <p:cNvSpPr/>
          <p:nvPr/>
        </p:nvSpPr>
        <p:spPr>
          <a:xfrm>
            <a:off x="7432673" y="3769715"/>
            <a:ext cx="1538883" cy="26225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company name</a:t>
            </a:r>
            <a:endParaRPr/>
          </a:p>
        </p:txBody>
      </p:sp>
      <p:sp>
        <p:nvSpPr>
          <p:cNvPr id="532" name="Google Shape;532;p26"/>
          <p:cNvSpPr/>
          <p:nvPr/>
        </p:nvSpPr>
        <p:spPr>
          <a:xfrm>
            <a:off x="2909515" y="3285167"/>
            <a:ext cx="1538883" cy="26225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company name</a:t>
            </a:r>
            <a:endParaRPr/>
          </a:p>
        </p:txBody>
      </p:sp>
      <p:sp>
        <p:nvSpPr>
          <p:cNvPr id="533" name="Google Shape;533;p26"/>
          <p:cNvSpPr/>
          <p:nvPr/>
        </p:nvSpPr>
        <p:spPr>
          <a:xfrm>
            <a:off x="3812774" y="4539300"/>
            <a:ext cx="1538883" cy="262252"/>
          </a:xfrm>
          <a:prstGeom prst="rect">
            <a:avLst/>
          </a:prstGeom>
          <a:noFill/>
          <a:ln>
            <a:noFill/>
          </a:ln>
        </p:spPr>
        <p:txBody>
          <a:bodyPr anchorCtr="0" anchor="t" bIns="46025" lIns="92075" spcFirstLastPara="1" rIns="92075" wrap="square" tIns="46025">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Insert company name</a:t>
            </a:r>
            <a:endParaRPr/>
          </a:p>
        </p:txBody>
      </p:sp>
      <p:sp>
        <p:nvSpPr>
          <p:cNvPr id="534" name="Google Shape;534;p26"/>
          <p:cNvSpPr/>
          <p:nvPr/>
        </p:nvSpPr>
        <p:spPr>
          <a:xfrm>
            <a:off x="3355707" y="3563384"/>
            <a:ext cx="482600" cy="482600"/>
          </a:xfrm>
          <a:prstGeom prst="ellipse">
            <a:avLst/>
          </a:prstGeom>
          <a:solidFill>
            <a:schemeClr val="accent5"/>
          </a:solid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5" name="Google Shape;535;p26"/>
          <p:cNvSpPr/>
          <p:nvPr/>
        </p:nvSpPr>
        <p:spPr>
          <a:xfrm>
            <a:off x="4340915" y="4783252"/>
            <a:ext cx="482600" cy="482600"/>
          </a:xfrm>
          <a:prstGeom prst="ellipse">
            <a:avLst/>
          </a:prstGeom>
          <a:solidFill>
            <a:schemeClr val="accent5"/>
          </a:solid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6" name="Google Shape;536;p26"/>
          <p:cNvSpPr/>
          <p:nvPr/>
        </p:nvSpPr>
        <p:spPr>
          <a:xfrm>
            <a:off x="7921271" y="4018441"/>
            <a:ext cx="482600" cy="482600"/>
          </a:xfrm>
          <a:prstGeom prst="ellipse">
            <a:avLst/>
          </a:prstGeom>
          <a:solidFill>
            <a:schemeClr val="accent5"/>
          </a:solid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37" name="Google Shape;537;p2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marR="0" rtl="0" algn="r">
              <a:lnSpc>
                <a:spcPct val="100000"/>
              </a:lnSpc>
              <a:spcBef>
                <a:spcPts val="0"/>
              </a:spcBef>
              <a:spcAft>
                <a:spcPts val="0"/>
              </a:spcAft>
              <a:buClr>
                <a:srgbClr val="ADAFBB"/>
              </a:buClr>
              <a:buSzPts val="1000"/>
              <a:buFont typeface="Arial"/>
              <a:buNone/>
            </a:pPr>
            <a:fld id="{00000000-1234-1234-1234-123412341234}" type="slidenum">
              <a:rPr b="0" i="0" lang="en-US" sz="1000" u="none" cap="none" strike="noStrike">
                <a:solidFill>
                  <a:srgbClr val="ADAFBB"/>
                </a:solidFill>
                <a:latin typeface="Arial"/>
                <a:ea typeface="Arial"/>
                <a:cs typeface="Arial"/>
                <a:sym typeface="Arial"/>
              </a:rPr>
              <a:t>‹#›</a:t>
            </a:fld>
            <a:endParaRPr b="0" i="0" sz="1000" u="none" cap="none" strike="noStrike">
              <a:solidFill>
                <a:srgbClr val="ADAFBB"/>
              </a:solidFill>
              <a:latin typeface="Arial"/>
              <a:ea typeface="Arial"/>
              <a:cs typeface="Arial"/>
              <a:sym typeface="Arial"/>
            </a:endParaRPr>
          </a:p>
        </p:txBody>
      </p:sp>
      <p:sp>
        <p:nvSpPr>
          <p:cNvPr id="538" name="Google Shape;538;p26"/>
          <p:cNvSpPr/>
          <p:nvPr/>
        </p:nvSpPr>
        <p:spPr>
          <a:xfrm>
            <a:off x="2244437" y="1622738"/>
            <a:ext cx="3371044" cy="1102833"/>
          </a:xfrm>
          <a:prstGeom prst="wedgeRoundRectCallout">
            <a:avLst>
              <a:gd fmla="val 24314" name="adj1"/>
              <a:gd fmla="val 9527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This matrix will help you to visually compare your competitors. The matrix usually uses market share (x axis) and company growth (y axis).However, depending on your situation, you may decide to use different criteria for your x axis and y axis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27"/>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Company Opportunities &amp; Threats</a:t>
            </a:r>
            <a:br>
              <a:rPr lang="en-US"/>
            </a:br>
            <a:r>
              <a:rPr b="0" lang="en-US"/>
              <a:t>Replace this text with the key takeaway of this Powerpoint slide.</a:t>
            </a:r>
            <a:endParaRPr/>
          </a:p>
        </p:txBody>
      </p:sp>
      <p:sp>
        <p:nvSpPr>
          <p:cNvPr id="544" name="Google Shape;544;p2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545" name="Google Shape;545;p27"/>
          <p:cNvSpPr/>
          <p:nvPr/>
        </p:nvSpPr>
        <p:spPr>
          <a:xfrm>
            <a:off x="618835" y="1676400"/>
            <a:ext cx="5308911" cy="477802"/>
          </a:xfrm>
          <a:prstGeom prst="rect">
            <a:avLst/>
          </a:prstGeom>
          <a:solidFill>
            <a:srgbClr val="CCF5C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Opportunities</a:t>
            </a:r>
            <a:endParaRPr/>
          </a:p>
        </p:txBody>
      </p:sp>
      <p:sp>
        <p:nvSpPr>
          <p:cNvPr id="546" name="Google Shape;546;p27"/>
          <p:cNvSpPr/>
          <p:nvPr/>
        </p:nvSpPr>
        <p:spPr>
          <a:xfrm>
            <a:off x="618835" y="2154202"/>
            <a:ext cx="5308911" cy="4118358"/>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p:txBody>
      </p:sp>
      <p:sp>
        <p:nvSpPr>
          <p:cNvPr id="547" name="Google Shape;547;p27"/>
          <p:cNvSpPr/>
          <p:nvPr/>
        </p:nvSpPr>
        <p:spPr>
          <a:xfrm>
            <a:off x="6278252" y="1676400"/>
            <a:ext cx="5308911" cy="477802"/>
          </a:xfrm>
          <a:prstGeom prst="rect">
            <a:avLst/>
          </a:prstGeom>
          <a:solidFill>
            <a:srgbClr val="FFE6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Threats</a:t>
            </a:r>
            <a:endParaRPr/>
          </a:p>
        </p:txBody>
      </p:sp>
      <p:sp>
        <p:nvSpPr>
          <p:cNvPr id="548" name="Google Shape;548;p27"/>
          <p:cNvSpPr/>
          <p:nvPr/>
        </p:nvSpPr>
        <p:spPr>
          <a:xfrm>
            <a:off x="6278252" y="2154202"/>
            <a:ext cx="5308911" cy="4118358"/>
          </a:xfrm>
          <a:prstGeom prst="rect">
            <a:avLst/>
          </a:prstGeom>
          <a:solidFill>
            <a:schemeClr val="lt1"/>
          </a:solidFill>
          <a:ln>
            <a:noFill/>
          </a:ln>
        </p:spPr>
        <p:txBody>
          <a:bodyPr anchorCtr="0" anchor="t" bIns="45700" lIns="91425" spcFirstLastPara="1" rIns="91425" wrap="square" tIns="45700">
            <a:noAutofit/>
          </a:bodyPr>
          <a:lstStyle/>
          <a:p>
            <a:pPr indent="-138113" lvl="0" marL="138113" marR="0" rtl="0" algn="l">
              <a:spcBef>
                <a:spcPts val="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138113" lvl="0" marL="138113" marR="0" rtl="0" algn="l">
              <a:spcBef>
                <a:spcPts val="800"/>
              </a:spcBef>
              <a:spcAft>
                <a:spcPts val="0"/>
              </a:spcAft>
              <a:buClr>
                <a:srgbClr val="002776"/>
              </a:buClr>
              <a:buSzPts val="1400"/>
              <a:buFont typeface="Arial"/>
              <a:buChar char="•"/>
            </a:pPr>
            <a:r>
              <a:rPr lang="en-US" sz="1400">
                <a:solidFill>
                  <a:srgbClr val="002776"/>
                </a:solidFill>
                <a:latin typeface="Arial"/>
                <a:ea typeface="Arial"/>
                <a:cs typeface="Arial"/>
                <a:sym typeface="Arial"/>
              </a:rPr>
              <a:t>Insert you own text</a:t>
            </a:r>
            <a:endParaRPr/>
          </a:p>
          <a:p>
            <a:pPr indent="-80963" lvl="0" marL="169863" marR="0" rtl="0" algn="l">
              <a:spcBef>
                <a:spcPts val="800"/>
              </a:spcBef>
              <a:spcAft>
                <a:spcPts val="0"/>
              </a:spcAft>
              <a:buClr>
                <a:schemeClr val="dk1"/>
              </a:buClr>
              <a:buSzPts val="1400"/>
              <a:buFont typeface="Arial"/>
              <a:buNone/>
            </a:pPr>
            <a:r>
              <a:t/>
            </a:r>
            <a:endParaRPr sz="1400">
              <a:solidFill>
                <a:srgbClr val="002776"/>
              </a:solidFill>
              <a:latin typeface="Arial"/>
              <a:ea typeface="Arial"/>
              <a:cs typeface="Arial"/>
              <a:sym typeface="Arial"/>
            </a:endParaRPr>
          </a:p>
        </p:txBody>
      </p:sp>
      <p:sp>
        <p:nvSpPr>
          <p:cNvPr id="549" name="Google Shape;549;p27"/>
          <p:cNvSpPr/>
          <p:nvPr/>
        </p:nvSpPr>
        <p:spPr>
          <a:xfrm>
            <a:off x="3002973" y="3340450"/>
            <a:ext cx="4267200" cy="1143000"/>
          </a:xfrm>
          <a:prstGeom prst="wedgeRoundRectCallout">
            <a:avLst>
              <a:gd fmla="val -52718" name="adj1"/>
              <a:gd fmla="val -80472"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Describe favorable external factors that could give your organization a competitive advantage. For example, if a country cuts tariffs, a car manufacturer can export its cars into a new market</a:t>
            </a:r>
            <a:endParaRPr/>
          </a:p>
        </p:txBody>
      </p:sp>
      <p:sp>
        <p:nvSpPr>
          <p:cNvPr id="550" name="Google Shape;550;p27"/>
          <p:cNvSpPr/>
          <p:nvPr/>
        </p:nvSpPr>
        <p:spPr>
          <a:xfrm>
            <a:off x="3002973" y="5000468"/>
            <a:ext cx="4267200" cy="1143000"/>
          </a:xfrm>
          <a:prstGeom prst="wedgeRoundRectCallout">
            <a:avLst>
              <a:gd fmla="val 60527" name="adj1"/>
              <a:gd fmla="val -5875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Describe factors that have the potential to harm your Organization. For example, a drought is a threat to a wheat-producing company, as it may destroy or reduce the crop yield. Other common threats include things like rising costs for materials, increasing competition, tight labor supply, etc.</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28"/>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a:t>
            </a:r>
            <a:br>
              <a:rPr lang="en-US" sz="2400"/>
            </a:br>
            <a:r>
              <a:rPr b="0" lang="en-US" sz="2400"/>
              <a:t>3.Sales Strategy</a:t>
            </a:r>
            <a:endParaRPr/>
          </a:p>
        </p:txBody>
      </p:sp>
      <p:pic>
        <p:nvPicPr>
          <p:cNvPr descr="List" id="556" name="Google Shape;556;p28"/>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557" name="Google Shape;557;p28"/>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558" name="Google Shape;558;p28"/>
          <p:cNvSpPr/>
          <p:nvPr/>
        </p:nvSpPr>
        <p:spPr>
          <a:xfrm>
            <a:off x="5378700" y="159528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28"/>
          <p:cNvSpPr txBox="1"/>
          <p:nvPr/>
        </p:nvSpPr>
        <p:spPr>
          <a:xfrm>
            <a:off x="5588793" y="180537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1.Internal Analysis</a:t>
            </a:r>
            <a:endParaRPr/>
          </a:p>
        </p:txBody>
      </p:sp>
      <p:grpSp>
        <p:nvGrpSpPr>
          <p:cNvPr id="560" name="Google Shape;560;p28"/>
          <p:cNvGrpSpPr/>
          <p:nvPr/>
        </p:nvGrpSpPr>
        <p:grpSpPr>
          <a:xfrm>
            <a:off x="6662510" y="2631708"/>
            <a:ext cx="594154" cy="616618"/>
            <a:chOff x="3532270" y="886369"/>
            <a:chExt cx="507902" cy="527105"/>
          </a:xfrm>
        </p:grpSpPr>
        <p:sp>
          <p:nvSpPr>
            <p:cNvPr id="561" name="Google Shape;561;p28"/>
            <p:cNvSpPr/>
            <p:nvPr/>
          </p:nvSpPr>
          <p:spPr>
            <a:xfrm rot="2160000">
              <a:off x="3622675" y="942976"/>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8"/>
            <p:cNvSpPr txBox="1"/>
            <p:nvPr/>
          </p:nvSpPr>
          <p:spPr>
            <a:xfrm rot="2160000">
              <a:off x="3632045" y="996915"/>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563" name="Google Shape;563;p28"/>
          <p:cNvSpPr/>
          <p:nvPr/>
        </p:nvSpPr>
        <p:spPr>
          <a:xfrm>
            <a:off x="7123396" y="2862879"/>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564" name="Google Shape;564;p28"/>
          <p:cNvSpPr txBox="1"/>
          <p:nvPr/>
        </p:nvSpPr>
        <p:spPr>
          <a:xfrm>
            <a:off x="7333489" y="3072972"/>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2.External Analysis</a:t>
            </a:r>
            <a:endParaRPr/>
          </a:p>
        </p:txBody>
      </p:sp>
      <p:grpSp>
        <p:nvGrpSpPr>
          <p:cNvPr id="565" name="Google Shape;565;p28"/>
          <p:cNvGrpSpPr/>
          <p:nvPr/>
        </p:nvGrpSpPr>
        <p:grpSpPr>
          <a:xfrm>
            <a:off x="7221474" y="4338624"/>
            <a:ext cx="578723" cy="513531"/>
            <a:chOff x="4010090" y="2345495"/>
            <a:chExt cx="494711" cy="438982"/>
          </a:xfrm>
        </p:grpSpPr>
        <p:sp>
          <p:nvSpPr>
            <p:cNvPr id="566" name="Google Shape;566;p28"/>
            <p:cNvSpPr/>
            <p:nvPr/>
          </p:nvSpPr>
          <p:spPr>
            <a:xfrm rot="6480000">
              <a:off x="4093900" y="235804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8"/>
            <p:cNvSpPr txBox="1"/>
            <p:nvPr/>
          </p:nvSpPr>
          <p:spPr>
            <a:xfrm rot="-4320000">
              <a:off x="4158126" y="239415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568" name="Google Shape;568;p28"/>
          <p:cNvSpPr/>
          <p:nvPr/>
        </p:nvSpPr>
        <p:spPr>
          <a:xfrm>
            <a:off x="6456981" y="4913894"/>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8"/>
          <p:cNvSpPr txBox="1"/>
          <p:nvPr/>
        </p:nvSpPr>
        <p:spPr>
          <a:xfrm>
            <a:off x="6667074"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3.Sales Strategy</a:t>
            </a:r>
            <a:endParaRPr/>
          </a:p>
        </p:txBody>
      </p:sp>
      <p:grpSp>
        <p:nvGrpSpPr>
          <p:cNvPr id="570" name="Google Shape;570;p28"/>
          <p:cNvGrpSpPr/>
          <p:nvPr/>
        </p:nvGrpSpPr>
        <p:grpSpPr>
          <a:xfrm>
            <a:off x="5915511" y="5389105"/>
            <a:ext cx="382639" cy="484178"/>
            <a:chOff x="2893711" y="3243481"/>
            <a:chExt cx="327092" cy="413891"/>
          </a:xfrm>
        </p:grpSpPr>
        <p:sp>
          <p:nvSpPr>
            <p:cNvPr id="571" name="Google Shape;571;p28"/>
            <p:cNvSpPr/>
            <p:nvPr/>
          </p:nvSpPr>
          <p:spPr>
            <a:xfrm rot="10800000">
              <a:off x="2893711" y="324348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8"/>
            <p:cNvSpPr txBox="1"/>
            <p:nvPr/>
          </p:nvSpPr>
          <p:spPr>
            <a:xfrm>
              <a:off x="2991839" y="3326259"/>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573" name="Google Shape;573;p28"/>
          <p:cNvSpPr/>
          <p:nvPr/>
        </p:nvSpPr>
        <p:spPr>
          <a:xfrm>
            <a:off x="4300418" y="491389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8"/>
          <p:cNvSpPr txBox="1"/>
          <p:nvPr/>
        </p:nvSpPr>
        <p:spPr>
          <a:xfrm>
            <a:off x="4510511"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4.Sales Plan</a:t>
            </a:r>
            <a:endParaRPr/>
          </a:p>
        </p:txBody>
      </p:sp>
      <p:grpSp>
        <p:nvGrpSpPr>
          <p:cNvPr id="575" name="Google Shape;575;p28"/>
          <p:cNvGrpSpPr/>
          <p:nvPr/>
        </p:nvGrpSpPr>
        <p:grpSpPr>
          <a:xfrm>
            <a:off x="4398496" y="4359222"/>
            <a:ext cx="578723" cy="513531"/>
            <a:chOff x="1596919" y="2363103"/>
            <a:chExt cx="494711" cy="438982"/>
          </a:xfrm>
        </p:grpSpPr>
        <p:sp>
          <p:nvSpPr>
            <p:cNvPr id="576" name="Google Shape;576;p28"/>
            <p:cNvSpPr/>
            <p:nvPr/>
          </p:nvSpPr>
          <p:spPr>
            <a:xfrm rot="-6480000">
              <a:off x="1680728" y="237564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8"/>
            <p:cNvSpPr txBox="1"/>
            <p:nvPr/>
          </p:nvSpPr>
          <p:spPr>
            <a:xfrm rot="4320000">
              <a:off x="1744954" y="2505090"/>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578" name="Google Shape;578;p28"/>
          <p:cNvSpPr/>
          <p:nvPr/>
        </p:nvSpPr>
        <p:spPr>
          <a:xfrm>
            <a:off x="3634003" y="2862879"/>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28"/>
          <p:cNvSpPr txBox="1"/>
          <p:nvPr/>
        </p:nvSpPr>
        <p:spPr>
          <a:xfrm>
            <a:off x="3718836" y="3072972"/>
            <a:ext cx="124584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5.Implemen-tation</a:t>
            </a:r>
            <a:endParaRPr/>
          </a:p>
        </p:txBody>
      </p:sp>
      <p:grpSp>
        <p:nvGrpSpPr>
          <p:cNvPr id="580" name="Google Shape;580;p28"/>
          <p:cNvGrpSpPr/>
          <p:nvPr/>
        </p:nvGrpSpPr>
        <p:grpSpPr>
          <a:xfrm>
            <a:off x="4879426" y="2554570"/>
            <a:ext cx="594154" cy="616618"/>
            <a:chOff x="2040848" y="897252"/>
            <a:chExt cx="507902" cy="527105"/>
          </a:xfrm>
        </p:grpSpPr>
        <p:sp>
          <p:nvSpPr>
            <p:cNvPr id="581" name="Google Shape;581;p28"/>
            <p:cNvSpPr/>
            <p:nvPr/>
          </p:nvSpPr>
          <p:spPr>
            <a:xfrm rot="-2160000">
              <a:off x="2131253" y="95385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28"/>
            <p:cNvSpPr txBox="1"/>
            <p:nvPr/>
          </p:nvSpPr>
          <p:spPr>
            <a:xfrm rot="-2160000">
              <a:off x="2140623" y="106547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583" name="Google Shape;583;p28"/>
          <p:cNvSpPr txBox="1"/>
          <p:nvPr/>
        </p:nvSpPr>
        <p:spPr>
          <a:xfrm>
            <a:off x="5203304" y="3503473"/>
            <a:ext cx="18447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Sales Strategy &amp; Plan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29"/>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589" name="Google Shape;589;p29"/>
          <p:cNvSpPr txBox="1"/>
          <p:nvPr>
            <p:ph idx="1" type="body"/>
          </p:nvPr>
        </p:nvSpPr>
        <p:spPr>
          <a:xfrm>
            <a:off x="1037492" y="1927644"/>
            <a:ext cx="9729788" cy="4555093"/>
          </a:xfrm>
          <a:prstGeom prst="rect">
            <a:avLst/>
          </a:prstGeom>
          <a:noFill/>
          <a:ln>
            <a:noFill/>
          </a:ln>
        </p:spPr>
        <p:txBody>
          <a:bodyPr anchorCtr="0" anchor="t" bIns="45700" lIns="91425" spcFirstLastPara="1" rIns="91425" wrap="square" tIns="45700">
            <a:spAutoFit/>
          </a:bodyPr>
          <a:lstStyle/>
          <a:p>
            <a:pPr indent="-342900" lvl="0" marL="457200" rtl="0" algn="l">
              <a:lnSpc>
                <a:spcPct val="100000"/>
              </a:lnSpc>
              <a:spcBef>
                <a:spcPts val="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Internal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External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b="1" lang="en-US">
                <a:solidFill>
                  <a:srgbClr val="002776"/>
                </a:solidFill>
                <a:latin typeface="Arial"/>
                <a:ea typeface="Arial"/>
                <a:cs typeface="Arial"/>
                <a:sym typeface="Arial"/>
              </a:rPr>
              <a:t>Sales Strategy</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Plan</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Implementation</a:t>
            </a:r>
            <a:endParaRPr/>
          </a:p>
        </p:txBody>
      </p:sp>
      <p:sp>
        <p:nvSpPr>
          <p:cNvPr id="590" name="Google Shape;590;p29"/>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ist" id="591" name="Google Shape;591;p29"/>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592" name="Google Shape;592;p29"/>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593" name="Google Shape;593;p29"/>
          <p:cNvSpPr/>
          <p:nvPr/>
        </p:nvSpPr>
        <p:spPr>
          <a:xfrm>
            <a:off x="5993713" y="2543866"/>
            <a:ext cx="3733800" cy="1143000"/>
          </a:xfrm>
          <a:prstGeom prst="wedgeRoundRectCallout">
            <a:avLst>
              <a:gd fmla="val -80574" name="adj1"/>
              <a:gd fmla="val 1706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Second option to formalize your table of contents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0"/>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Mission, Vision &amp; Sales Strategic Objectives</a:t>
            </a:r>
            <a:br>
              <a:rPr lang="en-US"/>
            </a:br>
            <a:r>
              <a:rPr b="0" lang="en-US"/>
              <a:t>Replace this text with the key takeaway of this Powerpoint slide.</a:t>
            </a:r>
            <a:endParaRPr/>
          </a:p>
        </p:txBody>
      </p:sp>
      <p:sp>
        <p:nvSpPr>
          <p:cNvPr id="599" name="Google Shape;599;p30"/>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00" name="Google Shape;600;p30"/>
          <p:cNvSpPr/>
          <p:nvPr/>
        </p:nvSpPr>
        <p:spPr>
          <a:xfrm>
            <a:off x="614149" y="1706804"/>
            <a:ext cx="1810259" cy="15238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Mission</a:t>
            </a:r>
            <a:endParaRPr/>
          </a:p>
        </p:txBody>
      </p:sp>
      <p:sp>
        <p:nvSpPr>
          <p:cNvPr id="601" name="Google Shape;601;p30"/>
          <p:cNvSpPr/>
          <p:nvPr/>
        </p:nvSpPr>
        <p:spPr>
          <a:xfrm>
            <a:off x="614149" y="4883322"/>
            <a:ext cx="1810259" cy="152149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Sales Strategic Objectives</a:t>
            </a:r>
            <a:endParaRPr/>
          </a:p>
        </p:txBody>
      </p:sp>
      <p:sp>
        <p:nvSpPr>
          <p:cNvPr id="602" name="Google Shape;602;p30"/>
          <p:cNvSpPr/>
          <p:nvPr/>
        </p:nvSpPr>
        <p:spPr>
          <a:xfrm>
            <a:off x="2491900" y="1706804"/>
            <a:ext cx="9095263" cy="152383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2"/>
                </a:solidFill>
                <a:latin typeface="Arial"/>
                <a:ea typeface="Arial"/>
                <a:cs typeface="Arial"/>
                <a:sym typeface="Arial"/>
              </a:rPr>
              <a:t>Insert your Mission statement in this grey box</a:t>
            </a:r>
            <a:endParaRPr/>
          </a:p>
        </p:txBody>
      </p:sp>
      <p:sp>
        <p:nvSpPr>
          <p:cNvPr id="603" name="Google Shape;603;p30"/>
          <p:cNvSpPr/>
          <p:nvPr/>
        </p:nvSpPr>
        <p:spPr>
          <a:xfrm>
            <a:off x="614149" y="3295068"/>
            <a:ext cx="1810259" cy="15238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Vision</a:t>
            </a:r>
            <a:endParaRPr/>
          </a:p>
        </p:txBody>
      </p:sp>
      <p:sp>
        <p:nvSpPr>
          <p:cNvPr id="604" name="Google Shape;604;p30"/>
          <p:cNvSpPr/>
          <p:nvPr/>
        </p:nvSpPr>
        <p:spPr>
          <a:xfrm>
            <a:off x="2491900" y="3295068"/>
            <a:ext cx="9095263" cy="152383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2"/>
                </a:solidFill>
                <a:latin typeface="Arial"/>
                <a:ea typeface="Arial"/>
                <a:cs typeface="Arial"/>
                <a:sym typeface="Arial"/>
              </a:rPr>
              <a:t>Insert your Vision statement in this grey bow</a:t>
            </a:r>
            <a:endParaRPr b="1" sz="1600">
              <a:solidFill>
                <a:schemeClr val="dk2"/>
              </a:solidFill>
              <a:latin typeface="Arial"/>
              <a:ea typeface="Arial"/>
              <a:cs typeface="Arial"/>
              <a:sym typeface="Arial"/>
            </a:endParaRPr>
          </a:p>
        </p:txBody>
      </p:sp>
      <p:sp>
        <p:nvSpPr>
          <p:cNvPr id="605" name="Google Shape;605;p30"/>
          <p:cNvSpPr/>
          <p:nvPr/>
        </p:nvSpPr>
        <p:spPr>
          <a:xfrm>
            <a:off x="2491900" y="4883322"/>
            <a:ext cx="9095263" cy="15214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dk2"/>
              </a:solidFill>
              <a:latin typeface="Arial"/>
              <a:ea typeface="Arial"/>
              <a:cs typeface="Arial"/>
              <a:sym typeface="Arial"/>
            </a:endParaRPr>
          </a:p>
        </p:txBody>
      </p:sp>
      <p:sp>
        <p:nvSpPr>
          <p:cNvPr id="606" name="Google Shape;606;p30"/>
          <p:cNvSpPr/>
          <p:nvPr/>
        </p:nvSpPr>
        <p:spPr>
          <a:xfrm>
            <a:off x="2721251"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#1</a:t>
            </a:r>
            <a:endParaRPr/>
          </a:p>
        </p:txBody>
      </p:sp>
      <p:sp>
        <p:nvSpPr>
          <p:cNvPr id="607" name="Google Shape;607;p30"/>
          <p:cNvSpPr/>
          <p:nvPr/>
        </p:nvSpPr>
        <p:spPr>
          <a:xfrm>
            <a:off x="5894008"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#2</a:t>
            </a:r>
            <a:endParaRPr/>
          </a:p>
        </p:txBody>
      </p:sp>
      <p:sp>
        <p:nvSpPr>
          <p:cNvPr id="608" name="Google Shape;608;p30"/>
          <p:cNvSpPr/>
          <p:nvPr/>
        </p:nvSpPr>
        <p:spPr>
          <a:xfrm>
            <a:off x="9066764"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#3</a:t>
            </a:r>
            <a:endParaRPr/>
          </a:p>
        </p:txBody>
      </p:sp>
      <p:sp>
        <p:nvSpPr>
          <p:cNvPr id="609" name="Google Shape;609;p30"/>
          <p:cNvSpPr/>
          <p:nvPr/>
        </p:nvSpPr>
        <p:spPr>
          <a:xfrm>
            <a:off x="5697682" y="2927039"/>
            <a:ext cx="4267200" cy="1706948"/>
          </a:xfrm>
          <a:prstGeom prst="wedgeRoundRectCallout">
            <a:avLst>
              <a:gd fmla="val -38669" name="adj1"/>
              <a:gd fmla="val -60306"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71450" lvl="0" marL="171450" marR="0" rtl="0" algn="l">
              <a:spcBef>
                <a:spcPts val="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It is the company’s reason for existence or purpose</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It describes the overarching intent of the organization</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It should provide focus, direction and help guide decision making and actions</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It should be one easy to understand sentence and if required, have a more detailed description below it</a:t>
            </a:r>
            <a:endParaRPr/>
          </a:p>
          <a:p>
            <a:pPr indent="-104775" lvl="0" marL="171450" marR="0" rtl="0" algn="l">
              <a:spcBef>
                <a:spcPts val="600"/>
              </a:spcBef>
              <a:spcAft>
                <a:spcPts val="0"/>
              </a:spcAft>
              <a:buClr>
                <a:srgbClr val="000000"/>
              </a:buClr>
              <a:buSzPts val="1050"/>
              <a:buFont typeface="Arial"/>
              <a:buNone/>
            </a:pPr>
            <a:r>
              <a:t/>
            </a:r>
            <a:endParaRPr b="1" sz="1050">
              <a:solidFill>
                <a:srgbClr val="0C287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1"/>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Mission, Vision &amp; Sales Strategic Objectives</a:t>
            </a:r>
            <a:br>
              <a:rPr lang="en-US"/>
            </a:br>
            <a:r>
              <a:rPr b="0" lang="en-US"/>
              <a:t>Replace this text with the key takeaway of this Powerpoint slide.</a:t>
            </a:r>
            <a:endParaRPr/>
          </a:p>
        </p:txBody>
      </p:sp>
      <p:sp>
        <p:nvSpPr>
          <p:cNvPr id="615" name="Google Shape;615;p31"/>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16" name="Google Shape;616;p31"/>
          <p:cNvSpPr/>
          <p:nvPr/>
        </p:nvSpPr>
        <p:spPr>
          <a:xfrm>
            <a:off x="614149" y="1706804"/>
            <a:ext cx="1810259" cy="15238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Mission</a:t>
            </a:r>
            <a:endParaRPr/>
          </a:p>
        </p:txBody>
      </p:sp>
      <p:sp>
        <p:nvSpPr>
          <p:cNvPr id="617" name="Google Shape;617;p31"/>
          <p:cNvSpPr/>
          <p:nvPr/>
        </p:nvSpPr>
        <p:spPr>
          <a:xfrm>
            <a:off x="614149" y="4883322"/>
            <a:ext cx="1810259" cy="152149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Sales Strategic Objectives</a:t>
            </a:r>
            <a:endParaRPr/>
          </a:p>
        </p:txBody>
      </p:sp>
      <p:sp>
        <p:nvSpPr>
          <p:cNvPr id="618" name="Google Shape;618;p31"/>
          <p:cNvSpPr/>
          <p:nvPr/>
        </p:nvSpPr>
        <p:spPr>
          <a:xfrm>
            <a:off x="2491900" y="1706804"/>
            <a:ext cx="9095263" cy="152383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2"/>
                </a:solidFill>
                <a:latin typeface="Arial"/>
                <a:ea typeface="Arial"/>
                <a:cs typeface="Arial"/>
                <a:sym typeface="Arial"/>
              </a:rPr>
              <a:t>Insert your Mission statement in this grey box</a:t>
            </a:r>
            <a:endParaRPr/>
          </a:p>
        </p:txBody>
      </p:sp>
      <p:sp>
        <p:nvSpPr>
          <p:cNvPr id="619" name="Google Shape;619;p31"/>
          <p:cNvSpPr/>
          <p:nvPr/>
        </p:nvSpPr>
        <p:spPr>
          <a:xfrm>
            <a:off x="614149" y="3295068"/>
            <a:ext cx="1810259" cy="15238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Vision</a:t>
            </a:r>
            <a:endParaRPr/>
          </a:p>
        </p:txBody>
      </p:sp>
      <p:sp>
        <p:nvSpPr>
          <p:cNvPr id="620" name="Google Shape;620;p31"/>
          <p:cNvSpPr/>
          <p:nvPr/>
        </p:nvSpPr>
        <p:spPr>
          <a:xfrm>
            <a:off x="2491900" y="3295068"/>
            <a:ext cx="9095263" cy="152383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2"/>
                </a:solidFill>
                <a:latin typeface="Arial"/>
                <a:ea typeface="Arial"/>
                <a:cs typeface="Arial"/>
                <a:sym typeface="Arial"/>
              </a:rPr>
              <a:t>Insert your Vision statement in this grey bow</a:t>
            </a:r>
            <a:endParaRPr b="1" sz="1600">
              <a:solidFill>
                <a:schemeClr val="dk2"/>
              </a:solidFill>
              <a:latin typeface="Arial"/>
              <a:ea typeface="Arial"/>
              <a:cs typeface="Arial"/>
              <a:sym typeface="Arial"/>
            </a:endParaRPr>
          </a:p>
        </p:txBody>
      </p:sp>
      <p:sp>
        <p:nvSpPr>
          <p:cNvPr id="621" name="Google Shape;621;p31"/>
          <p:cNvSpPr/>
          <p:nvPr/>
        </p:nvSpPr>
        <p:spPr>
          <a:xfrm>
            <a:off x="2491900" y="4883322"/>
            <a:ext cx="9095263" cy="15214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dk2"/>
              </a:solidFill>
              <a:latin typeface="Arial"/>
              <a:ea typeface="Arial"/>
              <a:cs typeface="Arial"/>
              <a:sym typeface="Arial"/>
            </a:endParaRPr>
          </a:p>
        </p:txBody>
      </p:sp>
      <p:sp>
        <p:nvSpPr>
          <p:cNvPr id="622" name="Google Shape;622;p31"/>
          <p:cNvSpPr/>
          <p:nvPr/>
        </p:nvSpPr>
        <p:spPr>
          <a:xfrm>
            <a:off x="2721251"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#1</a:t>
            </a:r>
            <a:endParaRPr/>
          </a:p>
        </p:txBody>
      </p:sp>
      <p:sp>
        <p:nvSpPr>
          <p:cNvPr id="623" name="Google Shape;623;p31"/>
          <p:cNvSpPr/>
          <p:nvPr/>
        </p:nvSpPr>
        <p:spPr>
          <a:xfrm>
            <a:off x="5894008"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#2</a:t>
            </a:r>
            <a:endParaRPr/>
          </a:p>
        </p:txBody>
      </p:sp>
      <p:sp>
        <p:nvSpPr>
          <p:cNvPr id="624" name="Google Shape;624;p31"/>
          <p:cNvSpPr/>
          <p:nvPr/>
        </p:nvSpPr>
        <p:spPr>
          <a:xfrm>
            <a:off x="9066764"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#3</a:t>
            </a:r>
            <a:endParaRPr/>
          </a:p>
        </p:txBody>
      </p:sp>
      <p:sp>
        <p:nvSpPr>
          <p:cNvPr id="625" name="Google Shape;625;p31"/>
          <p:cNvSpPr/>
          <p:nvPr/>
        </p:nvSpPr>
        <p:spPr>
          <a:xfrm>
            <a:off x="5894007" y="4397876"/>
            <a:ext cx="4267200" cy="1706948"/>
          </a:xfrm>
          <a:prstGeom prst="wedgeRoundRectCallout">
            <a:avLst>
              <a:gd fmla="val -38669" name="adj1"/>
              <a:gd fmla="val -60306"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71450" lvl="0" marL="171450" marR="0" rtl="0" algn="l">
              <a:spcBef>
                <a:spcPts val="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It describes the Organization desired or intended state at some point in the near or distant future</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It describes the overarching aim of the organization as it progresses into the future</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It should provide focus, direction and help guide decision making and actions</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It should be one easy to understand sentence and if required, have a more detailed description below it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32"/>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Mission, Vision &amp; Sales Strategic Objectives</a:t>
            </a:r>
            <a:br>
              <a:rPr lang="en-US"/>
            </a:br>
            <a:r>
              <a:rPr b="0" lang="en-US"/>
              <a:t>Replace this text with the key takeaway of this Powerpoint slide.</a:t>
            </a:r>
            <a:endParaRPr/>
          </a:p>
        </p:txBody>
      </p:sp>
      <p:sp>
        <p:nvSpPr>
          <p:cNvPr id="631" name="Google Shape;631;p3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32" name="Google Shape;632;p32"/>
          <p:cNvSpPr/>
          <p:nvPr/>
        </p:nvSpPr>
        <p:spPr>
          <a:xfrm>
            <a:off x="614149" y="1706804"/>
            <a:ext cx="1810259" cy="15238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Mission</a:t>
            </a:r>
            <a:endParaRPr/>
          </a:p>
        </p:txBody>
      </p:sp>
      <p:sp>
        <p:nvSpPr>
          <p:cNvPr id="633" name="Google Shape;633;p32"/>
          <p:cNvSpPr/>
          <p:nvPr/>
        </p:nvSpPr>
        <p:spPr>
          <a:xfrm>
            <a:off x="614149" y="4883322"/>
            <a:ext cx="1810259" cy="152149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Sales Strategic Objectives</a:t>
            </a:r>
            <a:endParaRPr/>
          </a:p>
        </p:txBody>
      </p:sp>
      <p:sp>
        <p:nvSpPr>
          <p:cNvPr id="634" name="Google Shape;634;p32"/>
          <p:cNvSpPr/>
          <p:nvPr/>
        </p:nvSpPr>
        <p:spPr>
          <a:xfrm>
            <a:off x="2491900" y="1706804"/>
            <a:ext cx="9095263" cy="152383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2"/>
                </a:solidFill>
                <a:latin typeface="Arial"/>
                <a:ea typeface="Arial"/>
                <a:cs typeface="Arial"/>
                <a:sym typeface="Arial"/>
              </a:rPr>
              <a:t>Insert your Mission statement in this grey box</a:t>
            </a:r>
            <a:endParaRPr/>
          </a:p>
        </p:txBody>
      </p:sp>
      <p:sp>
        <p:nvSpPr>
          <p:cNvPr id="635" name="Google Shape;635;p32"/>
          <p:cNvSpPr/>
          <p:nvPr/>
        </p:nvSpPr>
        <p:spPr>
          <a:xfrm>
            <a:off x="614149" y="3295068"/>
            <a:ext cx="1810259" cy="15238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Vision</a:t>
            </a:r>
            <a:endParaRPr/>
          </a:p>
        </p:txBody>
      </p:sp>
      <p:sp>
        <p:nvSpPr>
          <p:cNvPr id="636" name="Google Shape;636;p32"/>
          <p:cNvSpPr/>
          <p:nvPr/>
        </p:nvSpPr>
        <p:spPr>
          <a:xfrm>
            <a:off x="2491900" y="3295068"/>
            <a:ext cx="9095263" cy="1523836"/>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2"/>
                </a:solidFill>
                <a:latin typeface="Arial"/>
                <a:ea typeface="Arial"/>
                <a:cs typeface="Arial"/>
                <a:sym typeface="Arial"/>
              </a:rPr>
              <a:t>Insert your Vision statement in this grey bow</a:t>
            </a:r>
            <a:endParaRPr b="1" sz="1600">
              <a:solidFill>
                <a:schemeClr val="dk2"/>
              </a:solidFill>
              <a:latin typeface="Arial"/>
              <a:ea typeface="Arial"/>
              <a:cs typeface="Arial"/>
              <a:sym typeface="Arial"/>
            </a:endParaRPr>
          </a:p>
        </p:txBody>
      </p:sp>
      <p:sp>
        <p:nvSpPr>
          <p:cNvPr id="637" name="Google Shape;637;p32"/>
          <p:cNvSpPr/>
          <p:nvPr/>
        </p:nvSpPr>
        <p:spPr>
          <a:xfrm>
            <a:off x="2491900" y="4883322"/>
            <a:ext cx="9095263" cy="15214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600">
              <a:solidFill>
                <a:schemeClr val="dk2"/>
              </a:solidFill>
              <a:latin typeface="Arial"/>
              <a:ea typeface="Arial"/>
              <a:cs typeface="Arial"/>
              <a:sym typeface="Arial"/>
            </a:endParaRPr>
          </a:p>
        </p:txBody>
      </p:sp>
      <p:sp>
        <p:nvSpPr>
          <p:cNvPr id="638" name="Google Shape;638;p32"/>
          <p:cNvSpPr/>
          <p:nvPr/>
        </p:nvSpPr>
        <p:spPr>
          <a:xfrm>
            <a:off x="2721251"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#1</a:t>
            </a:r>
            <a:endParaRPr/>
          </a:p>
        </p:txBody>
      </p:sp>
      <p:sp>
        <p:nvSpPr>
          <p:cNvPr id="639" name="Google Shape;639;p32"/>
          <p:cNvSpPr/>
          <p:nvPr/>
        </p:nvSpPr>
        <p:spPr>
          <a:xfrm>
            <a:off x="5894008"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#2</a:t>
            </a:r>
            <a:endParaRPr/>
          </a:p>
        </p:txBody>
      </p:sp>
      <p:sp>
        <p:nvSpPr>
          <p:cNvPr id="640" name="Google Shape;640;p32"/>
          <p:cNvSpPr/>
          <p:nvPr/>
        </p:nvSpPr>
        <p:spPr>
          <a:xfrm>
            <a:off x="9066764" y="5251350"/>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#3</a:t>
            </a:r>
            <a:endParaRPr/>
          </a:p>
        </p:txBody>
      </p:sp>
      <p:sp>
        <p:nvSpPr>
          <p:cNvPr id="641" name="Google Shape;641;p32"/>
          <p:cNvSpPr/>
          <p:nvPr/>
        </p:nvSpPr>
        <p:spPr>
          <a:xfrm>
            <a:off x="4291446" y="1974678"/>
            <a:ext cx="4267200" cy="2917309"/>
          </a:xfrm>
          <a:prstGeom prst="wedgeRoundRectCallout">
            <a:avLst>
              <a:gd fmla="val -61660" name="adj1"/>
              <a:gd fmla="val 64834"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71450" lvl="0" marL="171450" marR="0" rtl="0" algn="l">
              <a:spcBef>
                <a:spcPts val="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Your Sales Strategic Objectives should help the organization to achieve its mission and reach its vision</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Usually, the #1 Sales Strategic Objectives is a revenue growth objective such as “Increase the revenue of the company by 12%”</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The revenue growth objective is usually set up after carrying an Internal Analysis and External Analysis. In other words, the work you have done in the section 1 and 2 of this presentation should help you set up you revenue growth objective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33"/>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Rationale behind each Sales Strategic Objectives</a:t>
            </a:r>
            <a:br>
              <a:rPr lang="en-US"/>
            </a:br>
            <a:r>
              <a:rPr b="0" lang="en-US"/>
              <a:t>Replace this text with the key takeaway of this Powerpoint slide.</a:t>
            </a:r>
            <a:endParaRPr/>
          </a:p>
        </p:txBody>
      </p:sp>
      <p:sp>
        <p:nvSpPr>
          <p:cNvPr id="647" name="Google Shape;647;p3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48" name="Google Shape;648;p33"/>
          <p:cNvSpPr/>
          <p:nvPr/>
        </p:nvSpPr>
        <p:spPr>
          <a:xfrm>
            <a:off x="614149" y="1706804"/>
            <a:ext cx="1810259" cy="15238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Insert strategic objective #1</a:t>
            </a:r>
            <a:endParaRPr/>
          </a:p>
        </p:txBody>
      </p:sp>
      <p:sp>
        <p:nvSpPr>
          <p:cNvPr id="649" name="Google Shape;649;p33"/>
          <p:cNvSpPr/>
          <p:nvPr/>
        </p:nvSpPr>
        <p:spPr>
          <a:xfrm>
            <a:off x="614149" y="4883322"/>
            <a:ext cx="1810259" cy="1521495"/>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Insert strategic objective #3</a:t>
            </a:r>
            <a:endParaRPr/>
          </a:p>
        </p:txBody>
      </p:sp>
      <p:sp>
        <p:nvSpPr>
          <p:cNvPr id="650" name="Google Shape;650;p33"/>
          <p:cNvSpPr/>
          <p:nvPr/>
        </p:nvSpPr>
        <p:spPr>
          <a:xfrm>
            <a:off x="2491900" y="1706804"/>
            <a:ext cx="9095263" cy="15238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Insert your own text</a:t>
            </a:r>
            <a:endParaRPr/>
          </a:p>
        </p:txBody>
      </p:sp>
      <p:sp>
        <p:nvSpPr>
          <p:cNvPr id="651" name="Google Shape;651;p33"/>
          <p:cNvSpPr/>
          <p:nvPr/>
        </p:nvSpPr>
        <p:spPr>
          <a:xfrm>
            <a:off x="614149" y="3295068"/>
            <a:ext cx="1810259" cy="152383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Insert strategic objective #2</a:t>
            </a:r>
            <a:endParaRPr/>
          </a:p>
        </p:txBody>
      </p:sp>
      <p:sp>
        <p:nvSpPr>
          <p:cNvPr id="652" name="Google Shape;652;p33"/>
          <p:cNvSpPr/>
          <p:nvPr/>
        </p:nvSpPr>
        <p:spPr>
          <a:xfrm>
            <a:off x="2491900" y="3295068"/>
            <a:ext cx="9095263" cy="152383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Insert your own text</a:t>
            </a:r>
            <a:endParaRPr/>
          </a:p>
        </p:txBody>
      </p:sp>
      <p:sp>
        <p:nvSpPr>
          <p:cNvPr id="653" name="Google Shape;653;p33"/>
          <p:cNvSpPr/>
          <p:nvPr/>
        </p:nvSpPr>
        <p:spPr>
          <a:xfrm>
            <a:off x="2491900" y="4883322"/>
            <a:ext cx="9095263" cy="15214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Insert your own text</a:t>
            </a:r>
            <a:endParaRPr sz="1400">
              <a:solidFill>
                <a:schemeClr val="dk1"/>
              </a:solidFill>
              <a:latin typeface="Arial"/>
              <a:ea typeface="Arial"/>
              <a:cs typeface="Arial"/>
              <a:sym typeface="Arial"/>
            </a:endParaRPr>
          </a:p>
        </p:txBody>
      </p:sp>
      <p:sp>
        <p:nvSpPr>
          <p:cNvPr id="654" name="Google Shape;654;p33"/>
          <p:cNvSpPr/>
          <p:nvPr/>
        </p:nvSpPr>
        <p:spPr>
          <a:xfrm>
            <a:off x="5746039" y="1684341"/>
            <a:ext cx="4267200" cy="3367987"/>
          </a:xfrm>
          <a:prstGeom prst="wedgeRoundRectCallout">
            <a:avLst>
              <a:gd fmla="val -61660" name="adj1"/>
              <a:gd fmla="val -26145"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71450" lvl="0" marL="171450" marR="0" rtl="0" algn="l">
              <a:spcBef>
                <a:spcPts val="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In each blue rectangle, you need to list the key reasons that helped you set up your Sales Strategic Objectives</a:t>
            </a:r>
            <a:endParaRPr/>
          </a:p>
          <a:p>
            <a:pPr indent="-104775" lvl="0" marL="171450" marR="0" rtl="0" algn="l">
              <a:spcBef>
                <a:spcPts val="600"/>
              </a:spcBef>
              <a:spcAft>
                <a:spcPts val="0"/>
              </a:spcAft>
              <a:buClr>
                <a:srgbClr val="000000"/>
              </a:buClr>
              <a:buSzPts val="1050"/>
              <a:buFont typeface="Arial"/>
              <a:buNone/>
            </a:pPr>
            <a:r>
              <a:t/>
            </a:r>
            <a:endParaRPr b="1" sz="1050">
              <a:solidFill>
                <a:srgbClr val="0C287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34"/>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KPIs and Targets</a:t>
            </a:r>
            <a:br>
              <a:rPr lang="en-US"/>
            </a:br>
            <a:r>
              <a:rPr b="0" lang="en-US"/>
              <a:t>Replace this text with the key takeaway of this Powerpoint slide.</a:t>
            </a:r>
            <a:endParaRPr/>
          </a:p>
        </p:txBody>
      </p:sp>
      <p:sp>
        <p:nvSpPr>
          <p:cNvPr id="660" name="Google Shape;660;p3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61" name="Google Shape;661;p34"/>
          <p:cNvSpPr/>
          <p:nvPr/>
        </p:nvSpPr>
        <p:spPr>
          <a:xfrm>
            <a:off x="607820" y="2226595"/>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#1</a:t>
            </a:r>
            <a:endParaRPr/>
          </a:p>
        </p:txBody>
      </p:sp>
      <p:sp>
        <p:nvSpPr>
          <p:cNvPr id="662" name="Google Shape;662;p34"/>
          <p:cNvSpPr/>
          <p:nvPr/>
        </p:nvSpPr>
        <p:spPr>
          <a:xfrm>
            <a:off x="607820" y="1706804"/>
            <a:ext cx="3808370"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Sales Strategic Objectives</a:t>
            </a:r>
            <a:endParaRPr/>
          </a:p>
        </p:txBody>
      </p:sp>
      <p:sp>
        <p:nvSpPr>
          <p:cNvPr id="663" name="Google Shape;663;p34"/>
          <p:cNvSpPr/>
          <p:nvPr/>
        </p:nvSpPr>
        <p:spPr>
          <a:xfrm>
            <a:off x="4515090" y="1706804"/>
            <a:ext cx="3758205"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KPIs</a:t>
            </a:r>
            <a:endParaRPr/>
          </a:p>
        </p:txBody>
      </p:sp>
      <p:sp>
        <p:nvSpPr>
          <p:cNvPr id="664" name="Google Shape;664;p34"/>
          <p:cNvSpPr/>
          <p:nvPr/>
        </p:nvSpPr>
        <p:spPr>
          <a:xfrm>
            <a:off x="4515090" y="2226595"/>
            <a:ext cx="3758205"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p:txBody>
      </p:sp>
      <p:sp>
        <p:nvSpPr>
          <p:cNvPr id="665" name="Google Shape;665;p34"/>
          <p:cNvSpPr/>
          <p:nvPr/>
        </p:nvSpPr>
        <p:spPr>
          <a:xfrm>
            <a:off x="8372195" y="1706804"/>
            <a:ext cx="1978003"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Targets</a:t>
            </a:r>
            <a:endParaRPr/>
          </a:p>
        </p:txBody>
      </p:sp>
      <p:sp>
        <p:nvSpPr>
          <p:cNvPr id="666" name="Google Shape;666;p34"/>
          <p:cNvSpPr/>
          <p:nvPr/>
        </p:nvSpPr>
        <p:spPr>
          <a:xfrm>
            <a:off x="8372195" y="2226595"/>
            <a:ext cx="1978003"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p:txBody>
      </p:sp>
      <p:sp>
        <p:nvSpPr>
          <p:cNvPr id="667" name="Google Shape;667;p34"/>
          <p:cNvSpPr/>
          <p:nvPr/>
        </p:nvSpPr>
        <p:spPr>
          <a:xfrm>
            <a:off x="607820" y="3650495"/>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#2</a:t>
            </a:r>
            <a:endParaRPr/>
          </a:p>
        </p:txBody>
      </p:sp>
      <p:sp>
        <p:nvSpPr>
          <p:cNvPr id="668" name="Google Shape;668;p34"/>
          <p:cNvSpPr/>
          <p:nvPr/>
        </p:nvSpPr>
        <p:spPr>
          <a:xfrm>
            <a:off x="4515090" y="3650495"/>
            <a:ext cx="3758205"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p:txBody>
      </p:sp>
      <p:sp>
        <p:nvSpPr>
          <p:cNvPr id="669" name="Google Shape;669;p34"/>
          <p:cNvSpPr/>
          <p:nvPr/>
        </p:nvSpPr>
        <p:spPr>
          <a:xfrm>
            <a:off x="8372195" y="3650495"/>
            <a:ext cx="1978003"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p:txBody>
      </p:sp>
      <p:sp>
        <p:nvSpPr>
          <p:cNvPr id="670" name="Google Shape;670;p34"/>
          <p:cNvSpPr/>
          <p:nvPr/>
        </p:nvSpPr>
        <p:spPr>
          <a:xfrm>
            <a:off x="607820" y="5074394"/>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#3</a:t>
            </a:r>
            <a:endParaRPr/>
          </a:p>
        </p:txBody>
      </p:sp>
      <p:sp>
        <p:nvSpPr>
          <p:cNvPr id="671" name="Google Shape;671;p34"/>
          <p:cNvSpPr/>
          <p:nvPr/>
        </p:nvSpPr>
        <p:spPr>
          <a:xfrm>
            <a:off x="4515090" y="5074394"/>
            <a:ext cx="3758205"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p:txBody>
      </p:sp>
      <p:sp>
        <p:nvSpPr>
          <p:cNvPr id="672" name="Google Shape;672;p34"/>
          <p:cNvSpPr/>
          <p:nvPr/>
        </p:nvSpPr>
        <p:spPr>
          <a:xfrm>
            <a:off x="8372195" y="5074394"/>
            <a:ext cx="1978003"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p:txBody>
      </p:sp>
      <p:sp>
        <p:nvSpPr>
          <p:cNvPr id="673" name="Google Shape;673;p34"/>
          <p:cNvSpPr/>
          <p:nvPr/>
        </p:nvSpPr>
        <p:spPr>
          <a:xfrm>
            <a:off x="10449098" y="1706804"/>
            <a:ext cx="1138065"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Status</a:t>
            </a:r>
            <a:endParaRPr/>
          </a:p>
        </p:txBody>
      </p:sp>
      <p:sp>
        <p:nvSpPr>
          <p:cNvPr id="674" name="Google Shape;674;p34"/>
          <p:cNvSpPr/>
          <p:nvPr/>
        </p:nvSpPr>
        <p:spPr>
          <a:xfrm>
            <a:off x="10449098" y="2226595"/>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675" name="Google Shape;675;p34"/>
          <p:cNvSpPr/>
          <p:nvPr/>
        </p:nvSpPr>
        <p:spPr>
          <a:xfrm>
            <a:off x="10449098" y="3650495"/>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676" name="Google Shape;676;p34"/>
          <p:cNvSpPr/>
          <p:nvPr/>
        </p:nvSpPr>
        <p:spPr>
          <a:xfrm>
            <a:off x="10449098" y="5074394"/>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677" name="Google Shape;677;p34"/>
          <p:cNvSpPr/>
          <p:nvPr/>
        </p:nvSpPr>
        <p:spPr>
          <a:xfrm>
            <a:off x="10949550" y="3094879"/>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78" name="Google Shape;678;p34"/>
          <p:cNvSpPr/>
          <p:nvPr/>
        </p:nvSpPr>
        <p:spPr>
          <a:xfrm>
            <a:off x="10949550" y="2821907"/>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79" name="Google Shape;679;p34"/>
          <p:cNvSpPr/>
          <p:nvPr/>
        </p:nvSpPr>
        <p:spPr>
          <a:xfrm>
            <a:off x="10949550" y="2569720"/>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80" name="Google Shape;680;p34"/>
          <p:cNvSpPr/>
          <p:nvPr/>
        </p:nvSpPr>
        <p:spPr>
          <a:xfrm>
            <a:off x="10949550" y="4518779"/>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81" name="Google Shape;681;p34"/>
          <p:cNvSpPr/>
          <p:nvPr/>
        </p:nvSpPr>
        <p:spPr>
          <a:xfrm>
            <a:off x="10949550" y="4245807"/>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82" name="Google Shape;682;p34"/>
          <p:cNvSpPr/>
          <p:nvPr/>
        </p:nvSpPr>
        <p:spPr>
          <a:xfrm>
            <a:off x="10949550" y="3993620"/>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83" name="Google Shape;683;p34"/>
          <p:cNvSpPr/>
          <p:nvPr/>
        </p:nvSpPr>
        <p:spPr>
          <a:xfrm>
            <a:off x="10949550" y="5942678"/>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84" name="Google Shape;684;p34"/>
          <p:cNvSpPr/>
          <p:nvPr/>
        </p:nvSpPr>
        <p:spPr>
          <a:xfrm>
            <a:off x="10949550" y="5669706"/>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85" name="Google Shape;685;p34"/>
          <p:cNvSpPr/>
          <p:nvPr/>
        </p:nvSpPr>
        <p:spPr>
          <a:xfrm>
            <a:off x="10949550" y="5417519"/>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686" name="Google Shape;686;p34"/>
          <p:cNvSpPr/>
          <p:nvPr/>
        </p:nvSpPr>
        <p:spPr>
          <a:xfrm>
            <a:off x="6181897" y="2706880"/>
            <a:ext cx="4267200" cy="1266940"/>
          </a:xfrm>
          <a:prstGeom prst="wedgeRoundRectCallout">
            <a:avLst>
              <a:gd fmla="val -60809" name="adj1"/>
              <a:gd fmla="val -36933"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171450" lvl="0" marL="171450" marR="0" rtl="0" algn="l">
              <a:spcBef>
                <a:spcPts val="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Each Sales Strategic Objective should have at least 1 KPI (KPI stands for Key performance Indicator)</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Each KPI should have a clear target to reach. </a:t>
            </a:r>
            <a:endParaRPr/>
          </a:p>
          <a:p>
            <a:pPr indent="-104775" lvl="0" marL="171450" marR="0" rtl="0" algn="l">
              <a:spcBef>
                <a:spcPts val="600"/>
              </a:spcBef>
              <a:spcAft>
                <a:spcPts val="0"/>
              </a:spcAft>
              <a:buClr>
                <a:srgbClr val="000000"/>
              </a:buClr>
              <a:buSzPts val="1050"/>
              <a:buFont typeface="Arial"/>
              <a:buNone/>
            </a:pPr>
            <a:r>
              <a:t/>
            </a:r>
            <a:endParaRPr b="1" sz="1050">
              <a:solidFill>
                <a:srgbClr val="0C2870"/>
              </a:solidFill>
              <a:latin typeface="Arial"/>
              <a:ea typeface="Arial"/>
              <a:cs typeface="Arial"/>
              <a:sym typeface="Arial"/>
            </a:endParaRPr>
          </a:p>
        </p:txBody>
      </p:sp>
      <p:sp>
        <p:nvSpPr>
          <p:cNvPr id="687" name="Google Shape;687;p34"/>
          <p:cNvSpPr/>
          <p:nvPr/>
        </p:nvSpPr>
        <p:spPr>
          <a:xfrm>
            <a:off x="2600497" y="4207266"/>
            <a:ext cx="4267200" cy="1266940"/>
          </a:xfrm>
          <a:prstGeom prst="wedgeRoundRectCallout">
            <a:avLst>
              <a:gd fmla="val -41367" name="adj1"/>
              <a:gd fmla="val -11293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Simple example:</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Sales Strategic Objective: Increase sales</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KPI: Sales</a:t>
            </a:r>
            <a:endParaRPr/>
          </a:p>
          <a:p>
            <a:pPr indent="-171450" lvl="0" marL="171450" marR="0" rtl="0" algn="l">
              <a:spcBef>
                <a:spcPts val="600"/>
              </a:spcBef>
              <a:spcAft>
                <a:spcPts val="0"/>
              </a:spcAft>
              <a:buClr>
                <a:srgbClr val="000000"/>
              </a:buClr>
              <a:buSzPts val="1050"/>
              <a:buFont typeface="Arial"/>
              <a:buChar char="•"/>
            </a:pPr>
            <a:r>
              <a:rPr b="1" lang="en-US" sz="1050">
                <a:solidFill>
                  <a:srgbClr val="0C2870"/>
                </a:solidFill>
                <a:latin typeface="Arial"/>
                <a:ea typeface="Arial"/>
                <a:cs typeface="Arial"/>
                <a:sym typeface="Arial"/>
              </a:rPr>
              <a:t>Target: +12%</a:t>
            </a:r>
            <a:endParaRPr/>
          </a:p>
          <a:p>
            <a:pPr indent="-104775" lvl="0" marL="171450" marR="0" rtl="0" algn="l">
              <a:spcBef>
                <a:spcPts val="600"/>
              </a:spcBef>
              <a:spcAft>
                <a:spcPts val="0"/>
              </a:spcAft>
              <a:buClr>
                <a:srgbClr val="000000"/>
              </a:buClr>
              <a:buSzPts val="1050"/>
              <a:buFont typeface="Arial"/>
              <a:buNone/>
            </a:pPr>
            <a:r>
              <a:t/>
            </a:r>
            <a:endParaRPr b="1" sz="1050">
              <a:solidFill>
                <a:srgbClr val="0C287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35"/>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Initiatives</a:t>
            </a:r>
            <a:br>
              <a:rPr lang="en-US"/>
            </a:br>
            <a:r>
              <a:rPr b="0" lang="en-US"/>
              <a:t>Replace this text with the key takeaway of this Powerpoint slide.</a:t>
            </a:r>
            <a:endParaRPr/>
          </a:p>
        </p:txBody>
      </p:sp>
      <p:sp>
        <p:nvSpPr>
          <p:cNvPr id="693" name="Google Shape;693;p3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694" name="Google Shape;694;p35"/>
          <p:cNvSpPr/>
          <p:nvPr/>
        </p:nvSpPr>
        <p:spPr>
          <a:xfrm>
            <a:off x="607820" y="2226595"/>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#1</a:t>
            </a:r>
            <a:endParaRPr/>
          </a:p>
        </p:txBody>
      </p:sp>
      <p:sp>
        <p:nvSpPr>
          <p:cNvPr id="695" name="Google Shape;695;p35"/>
          <p:cNvSpPr/>
          <p:nvPr/>
        </p:nvSpPr>
        <p:spPr>
          <a:xfrm>
            <a:off x="607820" y="1706804"/>
            <a:ext cx="3808370"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Sales Strategic Objectives</a:t>
            </a:r>
            <a:endParaRPr/>
          </a:p>
        </p:txBody>
      </p:sp>
      <p:sp>
        <p:nvSpPr>
          <p:cNvPr id="696" name="Google Shape;696;p35"/>
          <p:cNvSpPr/>
          <p:nvPr/>
        </p:nvSpPr>
        <p:spPr>
          <a:xfrm>
            <a:off x="4515090" y="1706804"/>
            <a:ext cx="5835108"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Initiatives</a:t>
            </a:r>
            <a:endParaRPr/>
          </a:p>
        </p:txBody>
      </p:sp>
      <p:sp>
        <p:nvSpPr>
          <p:cNvPr id="697" name="Google Shape;697;p35"/>
          <p:cNvSpPr/>
          <p:nvPr/>
        </p:nvSpPr>
        <p:spPr>
          <a:xfrm>
            <a:off x="4515090" y="2226595"/>
            <a:ext cx="5835108"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1.1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1.2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1.3 Insert the name of the initiative</a:t>
            </a:r>
            <a:endParaRPr/>
          </a:p>
        </p:txBody>
      </p:sp>
      <p:sp>
        <p:nvSpPr>
          <p:cNvPr id="698" name="Google Shape;698;p35"/>
          <p:cNvSpPr/>
          <p:nvPr/>
        </p:nvSpPr>
        <p:spPr>
          <a:xfrm>
            <a:off x="607820" y="3650495"/>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#2</a:t>
            </a:r>
            <a:endParaRPr/>
          </a:p>
        </p:txBody>
      </p:sp>
      <p:sp>
        <p:nvSpPr>
          <p:cNvPr id="699" name="Google Shape;699;p35"/>
          <p:cNvSpPr/>
          <p:nvPr/>
        </p:nvSpPr>
        <p:spPr>
          <a:xfrm>
            <a:off x="4515090" y="3650495"/>
            <a:ext cx="5835108"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2.1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2.2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2.3 Insert the name of the initiative</a:t>
            </a:r>
            <a:endParaRPr/>
          </a:p>
        </p:txBody>
      </p:sp>
      <p:sp>
        <p:nvSpPr>
          <p:cNvPr id="700" name="Google Shape;700;p35"/>
          <p:cNvSpPr/>
          <p:nvPr/>
        </p:nvSpPr>
        <p:spPr>
          <a:xfrm>
            <a:off x="607820" y="5074394"/>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#3</a:t>
            </a:r>
            <a:endParaRPr/>
          </a:p>
        </p:txBody>
      </p:sp>
      <p:sp>
        <p:nvSpPr>
          <p:cNvPr id="701" name="Google Shape;701;p35"/>
          <p:cNvSpPr/>
          <p:nvPr/>
        </p:nvSpPr>
        <p:spPr>
          <a:xfrm>
            <a:off x="4515090" y="5074394"/>
            <a:ext cx="5835108"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3.1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3.2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3.3 Insert the name of the initiative</a:t>
            </a:r>
            <a:endParaRPr/>
          </a:p>
        </p:txBody>
      </p:sp>
      <p:sp>
        <p:nvSpPr>
          <p:cNvPr id="702" name="Google Shape;702;p35"/>
          <p:cNvSpPr/>
          <p:nvPr/>
        </p:nvSpPr>
        <p:spPr>
          <a:xfrm>
            <a:off x="10449098" y="1706804"/>
            <a:ext cx="1138065"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Status</a:t>
            </a:r>
            <a:endParaRPr/>
          </a:p>
        </p:txBody>
      </p:sp>
      <p:sp>
        <p:nvSpPr>
          <p:cNvPr id="703" name="Google Shape;703;p35"/>
          <p:cNvSpPr/>
          <p:nvPr/>
        </p:nvSpPr>
        <p:spPr>
          <a:xfrm>
            <a:off x="10449098" y="2226595"/>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704" name="Google Shape;704;p35"/>
          <p:cNvSpPr/>
          <p:nvPr/>
        </p:nvSpPr>
        <p:spPr>
          <a:xfrm>
            <a:off x="10449098" y="3650495"/>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705" name="Google Shape;705;p35"/>
          <p:cNvSpPr/>
          <p:nvPr/>
        </p:nvSpPr>
        <p:spPr>
          <a:xfrm>
            <a:off x="10449098" y="5074394"/>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706" name="Google Shape;706;p35"/>
          <p:cNvSpPr/>
          <p:nvPr/>
        </p:nvSpPr>
        <p:spPr>
          <a:xfrm>
            <a:off x="10949550" y="3094879"/>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07" name="Google Shape;707;p35"/>
          <p:cNvSpPr/>
          <p:nvPr/>
        </p:nvSpPr>
        <p:spPr>
          <a:xfrm>
            <a:off x="10949550" y="2821907"/>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08" name="Google Shape;708;p35"/>
          <p:cNvSpPr/>
          <p:nvPr/>
        </p:nvSpPr>
        <p:spPr>
          <a:xfrm>
            <a:off x="10949550" y="2569720"/>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09" name="Google Shape;709;p35"/>
          <p:cNvSpPr/>
          <p:nvPr/>
        </p:nvSpPr>
        <p:spPr>
          <a:xfrm>
            <a:off x="10949550" y="4518779"/>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10" name="Google Shape;710;p35"/>
          <p:cNvSpPr/>
          <p:nvPr/>
        </p:nvSpPr>
        <p:spPr>
          <a:xfrm>
            <a:off x="10949550" y="4245807"/>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11" name="Google Shape;711;p35"/>
          <p:cNvSpPr/>
          <p:nvPr/>
        </p:nvSpPr>
        <p:spPr>
          <a:xfrm>
            <a:off x="10949550" y="3993620"/>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12" name="Google Shape;712;p35"/>
          <p:cNvSpPr/>
          <p:nvPr/>
        </p:nvSpPr>
        <p:spPr>
          <a:xfrm>
            <a:off x="10949550" y="5942678"/>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13" name="Google Shape;713;p35"/>
          <p:cNvSpPr/>
          <p:nvPr/>
        </p:nvSpPr>
        <p:spPr>
          <a:xfrm>
            <a:off x="10949550" y="5669706"/>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14" name="Google Shape;714;p35"/>
          <p:cNvSpPr/>
          <p:nvPr/>
        </p:nvSpPr>
        <p:spPr>
          <a:xfrm>
            <a:off x="10949550" y="5417519"/>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715" name="Google Shape;715;p35"/>
          <p:cNvSpPr/>
          <p:nvPr/>
        </p:nvSpPr>
        <p:spPr>
          <a:xfrm>
            <a:off x="5642212" y="3642566"/>
            <a:ext cx="4267200" cy="1266940"/>
          </a:xfrm>
          <a:prstGeom prst="wedgeRoundRectCallout">
            <a:avLst>
              <a:gd fmla="val -41367" name="adj1"/>
              <a:gd fmla="val -11293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Each initiative will have to contribute to the Sales Strategic Objectives</a:t>
            </a:r>
            <a:endParaRPr b="1" sz="1050">
              <a:solidFill>
                <a:srgbClr val="0C2870"/>
              </a:solidFill>
              <a:latin typeface="Arial"/>
              <a:ea typeface="Arial"/>
              <a:cs typeface="Arial"/>
              <a:sym typeface="Arial"/>
            </a:endParaRPr>
          </a:p>
          <a:p>
            <a:pPr indent="0" lvl="0" marL="0" marR="0" rtl="0" algn="l">
              <a:spcBef>
                <a:spcPts val="600"/>
              </a:spcBef>
              <a:spcAft>
                <a:spcPts val="0"/>
              </a:spcAft>
              <a:buNone/>
            </a:pPr>
            <a:r>
              <a:t/>
            </a:r>
            <a:endParaRPr b="1" sz="1050">
              <a:solidFill>
                <a:srgbClr val="0C287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36"/>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Products (1/3)</a:t>
            </a:r>
            <a:br>
              <a:rPr lang="en-US"/>
            </a:br>
            <a:r>
              <a:rPr b="0" lang="en-US"/>
              <a:t>Replace this text with the key takeaway of this Powerpoint slide.</a:t>
            </a:r>
            <a:endParaRPr/>
          </a:p>
        </p:txBody>
      </p:sp>
      <p:sp>
        <p:nvSpPr>
          <p:cNvPr id="721" name="Google Shape;721;p3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722" name="Google Shape;722;p36"/>
          <p:cNvSpPr/>
          <p:nvPr/>
        </p:nvSpPr>
        <p:spPr>
          <a:xfrm>
            <a:off x="4660292" y="1989391"/>
            <a:ext cx="3146786" cy="85380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dk1"/>
                </a:solidFill>
                <a:latin typeface="Arial"/>
                <a:ea typeface="Arial"/>
                <a:cs typeface="Arial"/>
                <a:sym typeface="Arial"/>
              </a:rPr>
              <a:t>Product category #1</a:t>
            </a:r>
            <a:endParaRPr/>
          </a:p>
          <a:p>
            <a:pPr indent="0" lvl="0" marL="0" marR="0" rtl="0" algn="ctr">
              <a:spcBef>
                <a:spcPts val="0"/>
              </a:spcBef>
              <a:spcAft>
                <a:spcPts val="0"/>
              </a:spcAft>
              <a:buNone/>
            </a:pPr>
            <a:r>
              <a:rPr lang="en-US" sz="1050">
                <a:solidFill>
                  <a:schemeClr val="dk1"/>
                </a:solidFill>
                <a:latin typeface="Arial"/>
                <a:ea typeface="Arial"/>
                <a:cs typeface="Arial"/>
                <a:sym typeface="Arial"/>
              </a:rPr>
              <a:t>Describe your product category with your own text</a:t>
            </a:r>
            <a:endParaRPr/>
          </a:p>
        </p:txBody>
      </p:sp>
      <p:sp>
        <p:nvSpPr>
          <p:cNvPr id="723" name="Google Shape;723;p36"/>
          <p:cNvSpPr/>
          <p:nvPr/>
        </p:nvSpPr>
        <p:spPr>
          <a:xfrm>
            <a:off x="8716352" y="1796343"/>
            <a:ext cx="2870811" cy="431532"/>
          </a:xfrm>
          <a:prstGeom prst="rect">
            <a:avLst/>
          </a:prstGeom>
          <a:solidFill>
            <a:srgbClr val="A5A5A5"/>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Product A</a:t>
            </a:r>
            <a:endParaRPr/>
          </a:p>
        </p:txBody>
      </p:sp>
      <p:sp>
        <p:nvSpPr>
          <p:cNvPr id="724" name="Google Shape;724;p36"/>
          <p:cNvSpPr/>
          <p:nvPr/>
        </p:nvSpPr>
        <p:spPr>
          <a:xfrm>
            <a:off x="8716352" y="2604713"/>
            <a:ext cx="2870811" cy="431532"/>
          </a:xfrm>
          <a:prstGeom prst="rect">
            <a:avLst/>
          </a:prstGeom>
          <a:solidFill>
            <a:srgbClr val="A5A5A5"/>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Product B</a:t>
            </a:r>
            <a:endParaRPr/>
          </a:p>
        </p:txBody>
      </p:sp>
      <p:cxnSp>
        <p:nvCxnSpPr>
          <p:cNvPr id="725" name="Google Shape;725;p36"/>
          <p:cNvCxnSpPr>
            <a:stCxn id="722" idx="3"/>
            <a:endCxn id="723" idx="1"/>
          </p:cNvCxnSpPr>
          <p:nvPr/>
        </p:nvCxnSpPr>
        <p:spPr>
          <a:xfrm flipH="1" rot="10800000">
            <a:off x="7807078" y="2012195"/>
            <a:ext cx="909300" cy="404100"/>
          </a:xfrm>
          <a:prstGeom prst="bentConnector3">
            <a:avLst>
              <a:gd fmla="val 49999" name="adj1"/>
            </a:avLst>
          </a:prstGeom>
          <a:noFill/>
          <a:ln cap="flat" cmpd="sng" w="12700">
            <a:solidFill>
              <a:srgbClr val="A5A5A5"/>
            </a:solidFill>
            <a:prstDash val="solid"/>
            <a:miter lim="800000"/>
            <a:headEnd len="med" w="med" type="none"/>
            <a:tailEnd len="med" w="med" type="none"/>
          </a:ln>
        </p:spPr>
      </p:cxnSp>
      <p:cxnSp>
        <p:nvCxnSpPr>
          <p:cNvPr id="726" name="Google Shape;726;p36"/>
          <p:cNvCxnSpPr>
            <a:stCxn id="722" idx="3"/>
            <a:endCxn id="724" idx="1"/>
          </p:cNvCxnSpPr>
          <p:nvPr/>
        </p:nvCxnSpPr>
        <p:spPr>
          <a:xfrm>
            <a:off x="7807078" y="2416295"/>
            <a:ext cx="909300" cy="404100"/>
          </a:xfrm>
          <a:prstGeom prst="bentConnector3">
            <a:avLst>
              <a:gd fmla="val 49999" name="adj1"/>
            </a:avLst>
          </a:prstGeom>
          <a:noFill/>
          <a:ln cap="flat" cmpd="sng" w="12700">
            <a:solidFill>
              <a:srgbClr val="A5A5A5"/>
            </a:solidFill>
            <a:prstDash val="solid"/>
            <a:miter lim="800000"/>
            <a:headEnd len="med" w="med" type="none"/>
            <a:tailEnd len="med" w="med" type="none"/>
          </a:ln>
        </p:spPr>
      </p:cxnSp>
      <p:sp>
        <p:nvSpPr>
          <p:cNvPr id="727" name="Google Shape;727;p36"/>
          <p:cNvSpPr/>
          <p:nvPr/>
        </p:nvSpPr>
        <p:spPr>
          <a:xfrm>
            <a:off x="8716352" y="5029823"/>
            <a:ext cx="2870811" cy="431532"/>
          </a:xfrm>
          <a:prstGeom prst="rect">
            <a:avLst/>
          </a:prstGeom>
          <a:solidFill>
            <a:srgbClr val="A5A5A5"/>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Product E</a:t>
            </a:r>
            <a:endParaRPr/>
          </a:p>
        </p:txBody>
      </p:sp>
      <p:sp>
        <p:nvSpPr>
          <p:cNvPr id="728" name="Google Shape;728;p36"/>
          <p:cNvSpPr/>
          <p:nvPr/>
        </p:nvSpPr>
        <p:spPr>
          <a:xfrm>
            <a:off x="8716352" y="5838191"/>
            <a:ext cx="2870811" cy="431532"/>
          </a:xfrm>
          <a:prstGeom prst="rect">
            <a:avLst/>
          </a:prstGeom>
          <a:solidFill>
            <a:srgbClr val="A5A5A5"/>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Product F</a:t>
            </a:r>
            <a:endParaRPr/>
          </a:p>
        </p:txBody>
      </p:sp>
      <p:sp>
        <p:nvSpPr>
          <p:cNvPr id="729" name="Google Shape;729;p36"/>
          <p:cNvSpPr/>
          <p:nvPr/>
        </p:nvSpPr>
        <p:spPr>
          <a:xfrm>
            <a:off x="4660292" y="5222870"/>
            <a:ext cx="3146786" cy="85380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dk1"/>
                </a:solidFill>
                <a:latin typeface="Arial"/>
                <a:ea typeface="Arial"/>
                <a:cs typeface="Arial"/>
                <a:sym typeface="Arial"/>
              </a:rPr>
              <a:t>Product category #3</a:t>
            </a:r>
            <a:endParaRPr/>
          </a:p>
          <a:p>
            <a:pPr indent="0" lvl="0" marL="0" marR="0" rtl="0" algn="ctr">
              <a:spcBef>
                <a:spcPts val="0"/>
              </a:spcBef>
              <a:spcAft>
                <a:spcPts val="0"/>
              </a:spcAft>
              <a:buNone/>
            </a:pPr>
            <a:r>
              <a:rPr lang="en-US" sz="1050">
                <a:solidFill>
                  <a:schemeClr val="dk1"/>
                </a:solidFill>
                <a:latin typeface="Arial"/>
                <a:ea typeface="Arial"/>
                <a:cs typeface="Arial"/>
                <a:sym typeface="Arial"/>
              </a:rPr>
              <a:t>Describe your product category with your own text</a:t>
            </a:r>
            <a:endParaRPr/>
          </a:p>
        </p:txBody>
      </p:sp>
      <p:cxnSp>
        <p:nvCxnSpPr>
          <p:cNvPr id="730" name="Google Shape;730;p36"/>
          <p:cNvCxnSpPr>
            <a:stCxn id="729" idx="3"/>
            <a:endCxn id="727" idx="1"/>
          </p:cNvCxnSpPr>
          <p:nvPr/>
        </p:nvCxnSpPr>
        <p:spPr>
          <a:xfrm flipH="1" rot="10800000">
            <a:off x="7807078" y="5245673"/>
            <a:ext cx="909300" cy="404100"/>
          </a:xfrm>
          <a:prstGeom prst="bentConnector3">
            <a:avLst>
              <a:gd fmla="val 49999" name="adj1"/>
            </a:avLst>
          </a:prstGeom>
          <a:noFill/>
          <a:ln cap="flat" cmpd="sng" w="12700">
            <a:solidFill>
              <a:srgbClr val="A5A5A5"/>
            </a:solidFill>
            <a:prstDash val="solid"/>
            <a:miter lim="800000"/>
            <a:headEnd len="med" w="med" type="none"/>
            <a:tailEnd len="med" w="med" type="none"/>
          </a:ln>
        </p:spPr>
      </p:cxnSp>
      <p:cxnSp>
        <p:nvCxnSpPr>
          <p:cNvPr id="731" name="Google Shape;731;p36"/>
          <p:cNvCxnSpPr>
            <a:stCxn id="729" idx="3"/>
            <a:endCxn id="728" idx="1"/>
          </p:cNvCxnSpPr>
          <p:nvPr/>
        </p:nvCxnSpPr>
        <p:spPr>
          <a:xfrm>
            <a:off x="7807078" y="5649773"/>
            <a:ext cx="909300" cy="404100"/>
          </a:xfrm>
          <a:prstGeom prst="bentConnector3">
            <a:avLst>
              <a:gd fmla="val 49999" name="adj1"/>
            </a:avLst>
          </a:prstGeom>
          <a:noFill/>
          <a:ln cap="flat" cmpd="sng" w="12700">
            <a:solidFill>
              <a:srgbClr val="A5A5A5"/>
            </a:solidFill>
            <a:prstDash val="solid"/>
            <a:miter lim="800000"/>
            <a:headEnd len="med" w="med" type="none"/>
            <a:tailEnd len="med" w="med" type="none"/>
          </a:ln>
        </p:spPr>
      </p:cxnSp>
      <p:sp>
        <p:nvSpPr>
          <p:cNvPr id="732" name="Google Shape;732;p36"/>
          <p:cNvSpPr/>
          <p:nvPr/>
        </p:nvSpPr>
        <p:spPr>
          <a:xfrm>
            <a:off x="604837" y="3606131"/>
            <a:ext cx="3146182" cy="853807"/>
          </a:xfrm>
          <a:prstGeom prst="rect">
            <a:avLst/>
          </a:prstGeom>
          <a:solidFill>
            <a:schemeClr val="dk2"/>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Product range</a:t>
            </a:r>
            <a:endParaRPr/>
          </a:p>
          <a:p>
            <a:pPr indent="0" lvl="0" marL="0" marR="0" rtl="0" algn="ctr">
              <a:spcBef>
                <a:spcPts val="0"/>
              </a:spcBef>
              <a:spcAft>
                <a:spcPts val="0"/>
              </a:spcAft>
              <a:buNone/>
            </a:pPr>
            <a:r>
              <a:rPr lang="en-US" sz="1050">
                <a:solidFill>
                  <a:schemeClr val="lt1"/>
                </a:solidFill>
                <a:latin typeface="Arial"/>
                <a:ea typeface="Arial"/>
                <a:cs typeface="Arial"/>
                <a:sym typeface="Arial"/>
              </a:rPr>
              <a:t>Describe your product range with your own text</a:t>
            </a:r>
            <a:endParaRPr/>
          </a:p>
        </p:txBody>
      </p:sp>
      <p:cxnSp>
        <p:nvCxnSpPr>
          <p:cNvPr id="733" name="Google Shape;733;p36"/>
          <p:cNvCxnSpPr>
            <a:stCxn id="722" idx="1"/>
            <a:endCxn id="732" idx="3"/>
          </p:cNvCxnSpPr>
          <p:nvPr/>
        </p:nvCxnSpPr>
        <p:spPr>
          <a:xfrm flipH="1">
            <a:off x="3750992" y="2416295"/>
            <a:ext cx="909300" cy="1616700"/>
          </a:xfrm>
          <a:prstGeom prst="bentConnector3">
            <a:avLst>
              <a:gd fmla="val 49998" name="adj1"/>
            </a:avLst>
          </a:prstGeom>
          <a:noFill/>
          <a:ln cap="flat" cmpd="sng" w="12700">
            <a:solidFill>
              <a:srgbClr val="A5A5A5"/>
            </a:solidFill>
            <a:prstDash val="solid"/>
            <a:miter lim="800000"/>
            <a:headEnd len="med" w="med" type="none"/>
            <a:tailEnd len="med" w="med" type="none"/>
          </a:ln>
        </p:spPr>
      </p:cxnSp>
      <p:cxnSp>
        <p:nvCxnSpPr>
          <p:cNvPr id="734" name="Google Shape;734;p36"/>
          <p:cNvCxnSpPr>
            <a:stCxn id="732" idx="3"/>
            <a:endCxn id="729" idx="1"/>
          </p:cNvCxnSpPr>
          <p:nvPr/>
        </p:nvCxnSpPr>
        <p:spPr>
          <a:xfrm>
            <a:off x="3751019" y="4033034"/>
            <a:ext cx="909300" cy="1616700"/>
          </a:xfrm>
          <a:prstGeom prst="bentConnector3">
            <a:avLst>
              <a:gd fmla="val 49999" name="adj1"/>
            </a:avLst>
          </a:prstGeom>
          <a:noFill/>
          <a:ln cap="flat" cmpd="sng" w="12700">
            <a:solidFill>
              <a:srgbClr val="A5A5A5"/>
            </a:solidFill>
            <a:prstDash val="solid"/>
            <a:miter lim="800000"/>
            <a:headEnd len="med" w="med" type="none"/>
            <a:tailEnd len="med" w="med" type="none"/>
          </a:ln>
        </p:spPr>
      </p:cxnSp>
      <p:sp>
        <p:nvSpPr>
          <p:cNvPr id="735" name="Google Shape;735;p36"/>
          <p:cNvSpPr/>
          <p:nvPr/>
        </p:nvSpPr>
        <p:spPr>
          <a:xfrm>
            <a:off x="8716352" y="3413083"/>
            <a:ext cx="2870811" cy="431532"/>
          </a:xfrm>
          <a:prstGeom prst="rect">
            <a:avLst/>
          </a:prstGeom>
          <a:solidFill>
            <a:srgbClr val="A5A5A5"/>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Product C</a:t>
            </a:r>
            <a:endParaRPr/>
          </a:p>
        </p:txBody>
      </p:sp>
      <p:sp>
        <p:nvSpPr>
          <p:cNvPr id="736" name="Google Shape;736;p36"/>
          <p:cNvSpPr/>
          <p:nvPr/>
        </p:nvSpPr>
        <p:spPr>
          <a:xfrm>
            <a:off x="8716352" y="4221453"/>
            <a:ext cx="2870811" cy="431532"/>
          </a:xfrm>
          <a:prstGeom prst="rect">
            <a:avLst/>
          </a:prstGeom>
          <a:solidFill>
            <a:srgbClr val="A5A5A5"/>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Product D</a:t>
            </a:r>
            <a:endParaRPr/>
          </a:p>
        </p:txBody>
      </p:sp>
      <p:sp>
        <p:nvSpPr>
          <p:cNvPr id="737" name="Google Shape;737;p36"/>
          <p:cNvSpPr/>
          <p:nvPr/>
        </p:nvSpPr>
        <p:spPr>
          <a:xfrm>
            <a:off x="4660292" y="3606131"/>
            <a:ext cx="3146786" cy="853807"/>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050">
                <a:solidFill>
                  <a:schemeClr val="dk1"/>
                </a:solidFill>
                <a:latin typeface="Arial"/>
                <a:ea typeface="Arial"/>
                <a:cs typeface="Arial"/>
                <a:sym typeface="Arial"/>
              </a:rPr>
              <a:t>Product category #2</a:t>
            </a:r>
            <a:endParaRPr/>
          </a:p>
          <a:p>
            <a:pPr indent="0" lvl="0" marL="0" marR="0" rtl="0" algn="ctr">
              <a:spcBef>
                <a:spcPts val="0"/>
              </a:spcBef>
              <a:spcAft>
                <a:spcPts val="0"/>
              </a:spcAft>
              <a:buNone/>
            </a:pPr>
            <a:r>
              <a:rPr lang="en-US" sz="1050">
                <a:solidFill>
                  <a:schemeClr val="dk1"/>
                </a:solidFill>
                <a:latin typeface="Arial"/>
                <a:ea typeface="Arial"/>
                <a:cs typeface="Arial"/>
                <a:sym typeface="Arial"/>
              </a:rPr>
              <a:t>Describe your product category with your own text</a:t>
            </a:r>
            <a:endParaRPr/>
          </a:p>
        </p:txBody>
      </p:sp>
      <p:cxnSp>
        <p:nvCxnSpPr>
          <p:cNvPr id="738" name="Google Shape;738;p36"/>
          <p:cNvCxnSpPr>
            <a:stCxn id="737" idx="3"/>
            <a:endCxn id="735" idx="1"/>
          </p:cNvCxnSpPr>
          <p:nvPr/>
        </p:nvCxnSpPr>
        <p:spPr>
          <a:xfrm flipH="1" rot="10800000">
            <a:off x="7807078" y="3628934"/>
            <a:ext cx="909300" cy="404100"/>
          </a:xfrm>
          <a:prstGeom prst="bentConnector3">
            <a:avLst>
              <a:gd fmla="val 49999" name="adj1"/>
            </a:avLst>
          </a:prstGeom>
          <a:noFill/>
          <a:ln cap="flat" cmpd="sng" w="12700">
            <a:solidFill>
              <a:srgbClr val="A5A5A5"/>
            </a:solidFill>
            <a:prstDash val="solid"/>
            <a:miter lim="800000"/>
            <a:headEnd len="med" w="med" type="none"/>
            <a:tailEnd len="med" w="med" type="none"/>
          </a:ln>
        </p:spPr>
      </p:cxnSp>
      <p:cxnSp>
        <p:nvCxnSpPr>
          <p:cNvPr id="739" name="Google Shape;739;p36"/>
          <p:cNvCxnSpPr>
            <a:stCxn id="737" idx="3"/>
            <a:endCxn id="736" idx="1"/>
          </p:cNvCxnSpPr>
          <p:nvPr/>
        </p:nvCxnSpPr>
        <p:spPr>
          <a:xfrm>
            <a:off x="7807078" y="4033034"/>
            <a:ext cx="909300" cy="404100"/>
          </a:xfrm>
          <a:prstGeom prst="bentConnector3">
            <a:avLst>
              <a:gd fmla="val 49999" name="adj1"/>
            </a:avLst>
          </a:prstGeom>
          <a:noFill/>
          <a:ln cap="flat" cmpd="sng" w="12700">
            <a:solidFill>
              <a:srgbClr val="A5A5A5"/>
            </a:solidFill>
            <a:prstDash val="solid"/>
            <a:miter lim="800000"/>
            <a:headEnd len="med" w="med" type="none"/>
            <a:tailEnd len="med" w="med" type="none"/>
          </a:ln>
        </p:spPr>
      </p:cxnSp>
      <p:cxnSp>
        <p:nvCxnSpPr>
          <p:cNvPr id="740" name="Google Shape;740;p36"/>
          <p:cNvCxnSpPr>
            <a:stCxn id="732" idx="3"/>
            <a:endCxn id="737" idx="1"/>
          </p:cNvCxnSpPr>
          <p:nvPr/>
        </p:nvCxnSpPr>
        <p:spPr>
          <a:xfrm>
            <a:off x="3751019" y="4033034"/>
            <a:ext cx="909300" cy="0"/>
          </a:xfrm>
          <a:prstGeom prst="straightConnector1">
            <a:avLst/>
          </a:prstGeom>
          <a:noFill/>
          <a:ln cap="flat" cmpd="sng" w="12700">
            <a:solidFill>
              <a:srgbClr val="A5A5A5"/>
            </a:solidFill>
            <a:prstDash val="solid"/>
            <a:round/>
            <a:headEnd len="med" w="med" type="none"/>
            <a:tailEnd len="med" w="med" type="non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37"/>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Products (2/3)</a:t>
            </a:r>
            <a:br>
              <a:rPr lang="en-US"/>
            </a:br>
            <a:r>
              <a:rPr b="0" lang="en-US"/>
              <a:t>Replace this text with the key takeaway of this Powerpoint slide.</a:t>
            </a:r>
            <a:endParaRPr/>
          </a:p>
        </p:txBody>
      </p:sp>
      <p:sp>
        <p:nvSpPr>
          <p:cNvPr id="746" name="Google Shape;746;p3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747" name="Google Shape;747;p37"/>
          <p:cNvSpPr/>
          <p:nvPr/>
        </p:nvSpPr>
        <p:spPr>
          <a:xfrm>
            <a:off x="597311" y="2152667"/>
            <a:ext cx="1598524" cy="1381895"/>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Product A</a:t>
            </a:r>
            <a:endParaRPr/>
          </a:p>
        </p:txBody>
      </p:sp>
      <p:sp>
        <p:nvSpPr>
          <p:cNvPr id="748" name="Google Shape;748;p37"/>
          <p:cNvSpPr/>
          <p:nvPr/>
        </p:nvSpPr>
        <p:spPr>
          <a:xfrm>
            <a:off x="597311" y="3595617"/>
            <a:ext cx="1598524" cy="1381895"/>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Product B</a:t>
            </a:r>
            <a:endParaRPr/>
          </a:p>
        </p:txBody>
      </p:sp>
      <p:sp>
        <p:nvSpPr>
          <p:cNvPr id="749" name="Google Shape;749;p37"/>
          <p:cNvSpPr/>
          <p:nvPr/>
        </p:nvSpPr>
        <p:spPr>
          <a:xfrm>
            <a:off x="597311" y="5038568"/>
            <a:ext cx="1598524" cy="1381895"/>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Product C</a:t>
            </a:r>
            <a:endParaRPr/>
          </a:p>
        </p:txBody>
      </p:sp>
      <p:sp>
        <p:nvSpPr>
          <p:cNvPr id="750" name="Google Shape;750;p37"/>
          <p:cNvSpPr/>
          <p:nvPr/>
        </p:nvSpPr>
        <p:spPr>
          <a:xfrm>
            <a:off x="2329045" y="1671482"/>
            <a:ext cx="2997233" cy="420130"/>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Description </a:t>
            </a:r>
            <a:endParaRPr/>
          </a:p>
          <a:p>
            <a:pPr indent="0" lvl="0" marL="0" marR="0" rtl="0" algn="ctr">
              <a:spcBef>
                <a:spcPts val="0"/>
              </a:spcBef>
              <a:spcAft>
                <a:spcPts val="0"/>
              </a:spcAft>
              <a:buNone/>
            </a:pPr>
            <a:r>
              <a:rPr b="1" lang="en-US" sz="1100">
                <a:solidFill>
                  <a:schemeClr val="lt1"/>
                </a:solidFill>
                <a:latin typeface="Arial"/>
                <a:ea typeface="Arial"/>
                <a:cs typeface="Arial"/>
                <a:sym typeface="Arial"/>
              </a:rPr>
              <a:t>(key attributes)</a:t>
            </a:r>
            <a:endParaRPr/>
          </a:p>
        </p:txBody>
      </p:sp>
      <p:sp>
        <p:nvSpPr>
          <p:cNvPr id="751" name="Google Shape;751;p37"/>
          <p:cNvSpPr/>
          <p:nvPr/>
        </p:nvSpPr>
        <p:spPr>
          <a:xfrm>
            <a:off x="2329045" y="215266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for describing the key attributes of your product</a:t>
            </a:r>
            <a:endParaRPr/>
          </a:p>
        </p:txBody>
      </p:sp>
      <p:sp>
        <p:nvSpPr>
          <p:cNvPr id="752" name="Google Shape;752;p37"/>
          <p:cNvSpPr/>
          <p:nvPr/>
        </p:nvSpPr>
        <p:spPr>
          <a:xfrm>
            <a:off x="2329045" y="359561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for describing the key attributes of your product</a:t>
            </a:r>
            <a:endParaRPr/>
          </a:p>
        </p:txBody>
      </p:sp>
      <p:sp>
        <p:nvSpPr>
          <p:cNvPr id="753" name="Google Shape;753;p37"/>
          <p:cNvSpPr/>
          <p:nvPr/>
        </p:nvSpPr>
        <p:spPr>
          <a:xfrm>
            <a:off x="2329045" y="5038568"/>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for describing the key attributes of your product</a:t>
            </a:r>
            <a:endParaRPr/>
          </a:p>
        </p:txBody>
      </p:sp>
      <p:sp>
        <p:nvSpPr>
          <p:cNvPr id="754" name="Google Shape;754;p37"/>
          <p:cNvSpPr/>
          <p:nvPr/>
        </p:nvSpPr>
        <p:spPr>
          <a:xfrm>
            <a:off x="5459488" y="1671482"/>
            <a:ext cx="2997233" cy="420130"/>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Key customer benefits</a:t>
            </a:r>
            <a:endParaRPr/>
          </a:p>
        </p:txBody>
      </p:sp>
      <p:sp>
        <p:nvSpPr>
          <p:cNvPr id="755" name="Google Shape;755;p37"/>
          <p:cNvSpPr/>
          <p:nvPr/>
        </p:nvSpPr>
        <p:spPr>
          <a:xfrm>
            <a:off x="5459488" y="215266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a:t>
            </a:r>
            <a:endParaRPr/>
          </a:p>
        </p:txBody>
      </p:sp>
      <p:sp>
        <p:nvSpPr>
          <p:cNvPr id="756" name="Google Shape;756;p37"/>
          <p:cNvSpPr/>
          <p:nvPr/>
        </p:nvSpPr>
        <p:spPr>
          <a:xfrm>
            <a:off x="5459488" y="359561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a:t>
            </a:r>
            <a:endParaRPr/>
          </a:p>
        </p:txBody>
      </p:sp>
      <p:sp>
        <p:nvSpPr>
          <p:cNvPr id="757" name="Google Shape;757;p37"/>
          <p:cNvSpPr/>
          <p:nvPr/>
        </p:nvSpPr>
        <p:spPr>
          <a:xfrm>
            <a:off x="5459488" y="5038568"/>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a:t>
            </a:r>
            <a:endParaRPr/>
          </a:p>
        </p:txBody>
      </p:sp>
      <p:sp>
        <p:nvSpPr>
          <p:cNvPr id="758" name="Google Shape;758;p37"/>
          <p:cNvSpPr/>
          <p:nvPr/>
        </p:nvSpPr>
        <p:spPr>
          <a:xfrm>
            <a:off x="8589930" y="215266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(note: different products can have the same USP)</a:t>
            </a:r>
            <a:endParaRPr/>
          </a:p>
        </p:txBody>
      </p:sp>
      <p:sp>
        <p:nvSpPr>
          <p:cNvPr id="759" name="Google Shape;759;p37"/>
          <p:cNvSpPr/>
          <p:nvPr/>
        </p:nvSpPr>
        <p:spPr>
          <a:xfrm>
            <a:off x="8589930" y="1671482"/>
            <a:ext cx="2997233" cy="420130"/>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Unique selling proposition (USP)</a:t>
            </a:r>
            <a:endParaRPr/>
          </a:p>
        </p:txBody>
      </p:sp>
      <p:sp>
        <p:nvSpPr>
          <p:cNvPr id="760" name="Google Shape;760;p37"/>
          <p:cNvSpPr/>
          <p:nvPr/>
        </p:nvSpPr>
        <p:spPr>
          <a:xfrm>
            <a:off x="8589930" y="359561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(note: different products can have the same USP)</a:t>
            </a:r>
            <a:endParaRPr/>
          </a:p>
        </p:txBody>
      </p:sp>
      <p:sp>
        <p:nvSpPr>
          <p:cNvPr id="761" name="Google Shape;761;p37"/>
          <p:cNvSpPr/>
          <p:nvPr/>
        </p:nvSpPr>
        <p:spPr>
          <a:xfrm>
            <a:off x="8589930" y="5038568"/>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(note: different products can have the same USP)</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38"/>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Products (3/3)</a:t>
            </a:r>
            <a:br>
              <a:rPr lang="en-US"/>
            </a:br>
            <a:r>
              <a:rPr b="0" lang="en-US"/>
              <a:t>Replace this text with the key takeaway of this Powerpoint slide.</a:t>
            </a:r>
            <a:endParaRPr/>
          </a:p>
        </p:txBody>
      </p:sp>
      <p:sp>
        <p:nvSpPr>
          <p:cNvPr id="767" name="Google Shape;767;p38"/>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768" name="Google Shape;768;p38"/>
          <p:cNvSpPr/>
          <p:nvPr/>
        </p:nvSpPr>
        <p:spPr>
          <a:xfrm>
            <a:off x="597311" y="2152667"/>
            <a:ext cx="1598524" cy="1381895"/>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Product D</a:t>
            </a:r>
            <a:endParaRPr/>
          </a:p>
        </p:txBody>
      </p:sp>
      <p:sp>
        <p:nvSpPr>
          <p:cNvPr id="769" name="Google Shape;769;p38"/>
          <p:cNvSpPr/>
          <p:nvPr/>
        </p:nvSpPr>
        <p:spPr>
          <a:xfrm>
            <a:off x="597311" y="3595617"/>
            <a:ext cx="1598524" cy="1381895"/>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Product E</a:t>
            </a:r>
            <a:endParaRPr/>
          </a:p>
        </p:txBody>
      </p:sp>
      <p:sp>
        <p:nvSpPr>
          <p:cNvPr id="770" name="Google Shape;770;p38"/>
          <p:cNvSpPr/>
          <p:nvPr/>
        </p:nvSpPr>
        <p:spPr>
          <a:xfrm>
            <a:off x="597311" y="5038568"/>
            <a:ext cx="1598524" cy="1381895"/>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Product F</a:t>
            </a:r>
            <a:endParaRPr/>
          </a:p>
        </p:txBody>
      </p:sp>
      <p:sp>
        <p:nvSpPr>
          <p:cNvPr id="771" name="Google Shape;771;p38"/>
          <p:cNvSpPr/>
          <p:nvPr/>
        </p:nvSpPr>
        <p:spPr>
          <a:xfrm>
            <a:off x="2329045" y="1671482"/>
            <a:ext cx="2997233" cy="420130"/>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Description </a:t>
            </a:r>
            <a:endParaRPr/>
          </a:p>
          <a:p>
            <a:pPr indent="0" lvl="0" marL="0" marR="0" rtl="0" algn="ctr">
              <a:spcBef>
                <a:spcPts val="0"/>
              </a:spcBef>
              <a:spcAft>
                <a:spcPts val="0"/>
              </a:spcAft>
              <a:buNone/>
            </a:pPr>
            <a:r>
              <a:rPr b="1" lang="en-US" sz="1100">
                <a:solidFill>
                  <a:schemeClr val="lt1"/>
                </a:solidFill>
                <a:latin typeface="Arial"/>
                <a:ea typeface="Arial"/>
                <a:cs typeface="Arial"/>
                <a:sym typeface="Arial"/>
              </a:rPr>
              <a:t>(key attributes)</a:t>
            </a:r>
            <a:endParaRPr/>
          </a:p>
        </p:txBody>
      </p:sp>
      <p:sp>
        <p:nvSpPr>
          <p:cNvPr id="772" name="Google Shape;772;p38"/>
          <p:cNvSpPr/>
          <p:nvPr/>
        </p:nvSpPr>
        <p:spPr>
          <a:xfrm>
            <a:off x="2329045" y="215266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for describing the key attributes of your product</a:t>
            </a:r>
            <a:endParaRPr/>
          </a:p>
        </p:txBody>
      </p:sp>
      <p:sp>
        <p:nvSpPr>
          <p:cNvPr id="773" name="Google Shape;773;p38"/>
          <p:cNvSpPr/>
          <p:nvPr/>
        </p:nvSpPr>
        <p:spPr>
          <a:xfrm>
            <a:off x="2329045" y="359561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for describing the key attributes of your product</a:t>
            </a:r>
            <a:endParaRPr/>
          </a:p>
        </p:txBody>
      </p:sp>
      <p:sp>
        <p:nvSpPr>
          <p:cNvPr id="774" name="Google Shape;774;p38"/>
          <p:cNvSpPr/>
          <p:nvPr/>
        </p:nvSpPr>
        <p:spPr>
          <a:xfrm>
            <a:off x="2329045" y="5038568"/>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for describing the key attributes of your product</a:t>
            </a:r>
            <a:endParaRPr/>
          </a:p>
        </p:txBody>
      </p:sp>
      <p:sp>
        <p:nvSpPr>
          <p:cNvPr id="775" name="Google Shape;775;p38"/>
          <p:cNvSpPr/>
          <p:nvPr/>
        </p:nvSpPr>
        <p:spPr>
          <a:xfrm>
            <a:off x="5459488" y="1671482"/>
            <a:ext cx="2997233" cy="420130"/>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Key customer benefits</a:t>
            </a:r>
            <a:endParaRPr/>
          </a:p>
        </p:txBody>
      </p:sp>
      <p:sp>
        <p:nvSpPr>
          <p:cNvPr id="776" name="Google Shape;776;p38"/>
          <p:cNvSpPr/>
          <p:nvPr/>
        </p:nvSpPr>
        <p:spPr>
          <a:xfrm>
            <a:off x="5459488" y="215266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a:t>
            </a:r>
            <a:endParaRPr/>
          </a:p>
        </p:txBody>
      </p:sp>
      <p:sp>
        <p:nvSpPr>
          <p:cNvPr id="777" name="Google Shape;777;p38"/>
          <p:cNvSpPr/>
          <p:nvPr/>
        </p:nvSpPr>
        <p:spPr>
          <a:xfrm>
            <a:off x="5459488" y="359561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a:t>
            </a:r>
            <a:endParaRPr/>
          </a:p>
        </p:txBody>
      </p:sp>
      <p:sp>
        <p:nvSpPr>
          <p:cNvPr id="778" name="Google Shape;778;p38"/>
          <p:cNvSpPr/>
          <p:nvPr/>
        </p:nvSpPr>
        <p:spPr>
          <a:xfrm>
            <a:off x="5459488" y="5038568"/>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a:t>
            </a:r>
            <a:endParaRPr/>
          </a:p>
        </p:txBody>
      </p:sp>
      <p:sp>
        <p:nvSpPr>
          <p:cNvPr id="779" name="Google Shape;779;p38"/>
          <p:cNvSpPr/>
          <p:nvPr/>
        </p:nvSpPr>
        <p:spPr>
          <a:xfrm>
            <a:off x="8589930" y="215266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(note: different products can have the same USP)</a:t>
            </a:r>
            <a:endParaRPr/>
          </a:p>
        </p:txBody>
      </p:sp>
      <p:sp>
        <p:nvSpPr>
          <p:cNvPr id="780" name="Google Shape;780;p38"/>
          <p:cNvSpPr/>
          <p:nvPr/>
        </p:nvSpPr>
        <p:spPr>
          <a:xfrm>
            <a:off x="8589930" y="1671482"/>
            <a:ext cx="2997233" cy="420130"/>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Unique selling proposition (USP)</a:t>
            </a:r>
            <a:endParaRPr/>
          </a:p>
        </p:txBody>
      </p:sp>
      <p:sp>
        <p:nvSpPr>
          <p:cNvPr id="781" name="Google Shape;781;p38"/>
          <p:cNvSpPr/>
          <p:nvPr/>
        </p:nvSpPr>
        <p:spPr>
          <a:xfrm>
            <a:off x="8589930" y="3595617"/>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(note: different products can have the same USP)</a:t>
            </a:r>
            <a:endParaRPr/>
          </a:p>
        </p:txBody>
      </p:sp>
      <p:sp>
        <p:nvSpPr>
          <p:cNvPr id="782" name="Google Shape;782;p38"/>
          <p:cNvSpPr/>
          <p:nvPr/>
        </p:nvSpPr>
        <p:spPr>
          <a:xfrm>
            <a:off x="8589930" y="5038568"/>
            <a:ext cx="2997233" cy="13818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Use your own text (note: different products can have the same USP)</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39"/>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Price</a:t>
            </a:r>
            <a:br>
              <a:rPr lang="en-US"/>
            </a:br>
            <a:r>
              <a:rPr b="0" lang="en-US"/>
              <a:t>Replace this text with the key takeaway of this Powerpoint slide.</a:t>
            </a:r>
            <a:endParaRPr/>
          </a:p>
        </p:txBody>
      </p:sp>
      <p:sp>
        <p:nvSpPr>
          <p:cNvPr id="788" name="Google Shape;788;p39"/>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789" name="Google Shape;789;p39"/>
          <p:cNvSpPr/>
          <p:nvPr/>
        </p:nvSpPr>
        <p:spPr>
          <a:xfrm>
            <a:off x="585173" y="2025920"/>
            <a:ext cx="11001989" cy="121664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Describe your pricing strategy which can be a combination of the several pricing strategies described in the previous slides</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Explain why you think it is the right strategy (e.g. “It will reflect the exclusiveness of our products…”)</a:t>
            </a:r>
            <a:endParaRPr/>
          </a:p>
        </p:txBody>
      </p:sp>
      <p:sp>
        <p:nvSpPr>
          <p:cNvPr id="790" name="Google Shape;790;p39"/>
          <p:cNvSpPr txBox="1"/>
          <p:nvPr/>
        </p:nvSpPr>
        <p:spPr>
          <a:xfrm>
            <a:off x="585173" y="1579653"/>
            <a:ext cx="11001989" cy="398094"/>
          </a:xfrm>
          <a:prstGeom prst="rect">
            <a:avLst/>
          </a:prstGeom>
          <a:solidFill>
            <a:schemeClr val="dk2"/>
          </a:solidFill>
          <a:ln>
            <a:noFill/>
          </a:ln>
        </p:spPr>
        <p:txBody>
          <a:bodyPr anchorCtr="1" anchor="ctr" bIns="40100" lIns="40100" spcFirstLastPara="1" rIns="40100" wrap="square" tIns="4010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Pricing Strategy</a:t>
            </a:r>
            <a:endParaRPr/>
          </a:p>
        </p:txBody>
      </p:sp>
      <p:sp>
        <p:nvSpPr>
          <p:cNvPr id="791" name="Google Shape;791;p39"/>
          <p:cNvSpPr/>
          <p:nvPr/>
        </p:nvSpPr>
        <p:spPr>
          <a:xfrm>
            <a:off x="585174" y="5641701"/>
            <a:ext cx="1731793" cy="759099"/>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0" lIns="91425" spcFirstLastPara="1" rIns="91425" wrap="square" tIns="2743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Insert the product A price</a:t>
            </a:r>
            <a:endParaRPr/>
          </a:p>
        </p:txBody>
      </p:sp>
      <p:sp>
        <p:nvSpPr>
          <p:cNvPr id="792" name="Google Shape;792;p39"/>
          <p:cNvSpPr/>
          <p:nvPr/>
        </p:nvSpPr>
        <p:spPr>
          <a:xfrm>
            <a:off x="585175" y="5646149"/>
            <a:ext cx="1731793" cy="28851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100">
                <a:solidFill>
                  <a:schemeClr val="lt1"/>
                </a:solidFill>
                <a:latin typeface="Arial"/>
                <a:ea typeface="Arial"/>
                <a:cs typeface="Arial"/>
                <a:sym typeface="Arial"/>
              </a:rPr>
              <a:t>Product A</a:t>
            </a:r>
            <a:endParaRPr/>
          </a:p>
        </p:txBody>
      </p:sp>
      <p:sp>
        <p:nvSpPr>
          <p:cNvPr id="793" name="Google Shape;793;p39"/>
          <p:cNvSpPr/>
          <p:nvPr/>
        </p:nvSpPr>
        <p:spPr>
          <a:xfrm>
            <a:off x="2439212" y="5641701"/>
            <a:ext cx="1731793" cy="759099"/>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0" lIns="91425" spcFirstLastPara="1" rIns="91425" wrap="square" tIns="2743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Insert the product B price</a:t>
            </a:r>
            <a:endParaRPr/>
          </a:p>
        </p:txBody>
      </p:sp>
      <p:sp>
        <p:nvSpPr>
          <p:cNvPr id="794" name="Google Shape;794;p39"/>
          <p:cNvSpPr/>
          <p:nvPr/>
        </p:nvSpPr>
        <p:spPr>
          <a:xfrm>
            <a:off x="2439213" y="5646149"/>
            <a:ext cx="1731793" cy="28851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100">
                <a:solidFill>
                  <a:schemeClr val="lt1"/>
                </a:solidFill>
                <a:latin typeface="Arial"/>
                <a:ea typeface="Arial"/>
                <a:cs typeface="Arial"/>
                <a:sym typeface="Arial"/>
              </a:rPr>
              <a:t>Product B</a:t>
            </a:r>
            <a:endParaRPr/>
          </a:p>
        </p:txBody>
      </p:sp>
      <p:sp>
        <p:nvSpPr>
          <p:cNvPr id="795" name="Google Shape;795;p39"/>
          <p:cNvSpPr/>
          <p:nvPr/>
        </p:nvSpPr>
        <p:spPr>
          <a:xfrm>
            <a:off x="4293251" y="5641701"/>
            <a:ext cx="1731793" cy="759099"/>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0" lIns="91425" spcFirstLastPara="1" rIns="91425" wrap="square" tIns="2743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Insert the product C price</a:t>
            </a:r>
            <a:endParaRPr/>
          </a:p>
        </p:txBody>
      </p:sp>
      <p:sp>
        <p:nvSpPr>
          <p:cNvPr id="796" name="Google Shape;796;p39"/>
          <p:cNvSpPr/>
          <p:nvPr/>
        </p:nvSpPr>
        <p:spPr>
          <a:xfrm>
            <a:off x="4293252" y="5646149"/>
            <a:ext cx="1731793" cy="28851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100">
                <a:solidFill>
                  <a:schemeClr val="lt1"/>
                </a:solidFill>
                <a:latin typeface="Arial"/>
                <a:ea typeface="Arial"/>
                <a:cs typeface="Arial"/>
                <a:sym typeface="Arial"/>
              </a:rPr>
              <a:t>Product C</a:t>
            </a:r>
            <a:endParaRPr/>
          </a:p>
        </p:txBody>
      </p:sp>
      <p:sp>
        <p:nvSpPr>
          <p:cNvPr id="797" name="Google Shape;797;p39"/>
          <p:cNvSpPr/>
          <p:nvPr/>
        </p:nvSpPr>
        <p:spPr>
          <a:xfrm>
            <a:off x="6147290" y="5641701"/>
            <a:ext cx="1731793" cy="759099"/>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0" lIns="91425" spcFirstLastPara="1" rIns="91425" wrap="square" tIns="2743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Insert the product D price</a:t>
            </a:r>
            <a:endParaRPr/>
          </a:p>
        </p:txBody>
      </p:sp>
      <p:sp>
        <p:nvSpPr>
          <p:cNvPr id="798" name="Google Shape;798;p39"/>
          <p:cNvSpPr/>
          <p:nvPr/>
        </p:nvSpPr>
        <p:spPr>
          <a:xfrm>
            <a:off x="6147291" y="5646149"/>
            <a:ext cx="1731793" cy="28851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100">
                <a:solidFill>
                  <a:schemeClr val="lt1"/>
                </a:solidFill>
                <a:latin typeface="Arial"/>
                <a:ea typeface="Arial"/>
                <a:cs typeface="Arial"/>
                <a:sym typeface="Arial"/>
              </a:rPr>
              <a:t>Product D</a:t>
            </a:r>
            <a:endParaRPr/>
          </a:p>
        </p:txBody>
      </p:sp>
      <p:sp>
        <p:nvSpPr>
          <p:cNvPr id="799" name="Google Shape;799;p39"/>
          <p:cNvSpPr/>
          <p:nvPr/>
        </p:nvSpPr>
        <p:spPr>
          <a:xfrm>
            <a:off x="8001329" y="5641701"/>
            <a:ext cx="1731793" cy="759099"/>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0" lIns="91425" spcFirstLastPara="1" rIns="91425" wrap="square" tIns="2743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Insert the product E price</a:t>
            </a:r>
            <a:endParaRPr/>
          </a:p>
        </p:txBody>
      </p:sp>
      <p:sp>
        <p:nvSpPr>
          <p:cNvPr id="800" name="Google Shape;800;p39"/>
          <p:cNvSpPr/>
          <p:nvPr/>
        </p:nvSpPr>
        <p:spPr>
          <a:xfrm>
            <a:off x="8001330" y="5646149"/>
            <a:ext cx="1731793" cy="28851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100">
                <a:solidFill>
                  <a:schemeClr val="lt1"/>
                </a:solidFill>
                <a:latin typeface="Arial"/>
                <a:ea typeface="Arial"/>
                <a:cs typeface="Arial"/>
                <a:sym typeface="Arial"/>
              </a:rPr>
              <a:t>Product E</a:t>
            </a:r>
            <a:endParaRPr/>
          </a:p>
        </p:txBody>
      </p:sp>
      <p:sp>
        <p:nvSpPr>
          <p:cNvPr id="801" name="Google Shape;801;p39"/>
          <p:cNvSpPr/>
          <p:nvPr/>
        </p:nvSpPr>
        <p:spPr>
          <a:xfrm>
            <a:off x="9855368" y="5641701"/>
            <a:ext cx="1731793" cy="759099"/>
          </a:xfrm>
          <a:prstGeom prst="rect">
            <a:avLst/>
          </a:prstGeom>
          <a:solidFill>
            <a:schemeClr val="lt1"/>
          </a:solidFill>
          <a:ln cap="flat" cmpd="sng" w="9525">
            <a:solidFill>
              <a:schemeClr val="dk1"/>
            </a:solidFill>
            <a:prstDash val="solid"/>
            <a:round/>
            <a:headEnd len="sm" w="sm" type="none"/>
            <a:tailEnd len="sm" w="sm" type="none"/>
          </a:ln>
        </p:spPr>
        <p:txBody>
          <a:bodyPr anchorCtr="0" anchor="ctr" bIns="0" lIns="91425" spcFirstLastPara="1" rIns="91425" wrap="square" tIns="2743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Insert the product F price</a:t>
            </a:r>
            <a:endParaRPr/>
          </a:p>
        </p:txBody>
      </p:sp>
      <p:sp>
        <p:nvSpPr>
          <p:cNvPr id="802" name="Google Shape;802;p39"/>
          <p:cNvSpPr/>
          <p:nvPr/>
        </p:nvSpPr>
        <p:spPr>
          <a:xfrm>
            <a:off x="9855369" y="5646149"/>
            <a:ext cx="1731793" cy="288513"/>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100">
                <a:solidFill>
                  <a:schemeClr val="lt1"/>
                </a:solidFill>
                <a:latin typeface="Arial"/>
                <a:ea typeface="Arial"/>
                <a:cs typeface="Arial"/>
                <a:sym typeface="Arial"/>
              </a:rPr>
              <a:t>Product F</a:t>
            </a:r>
            <a:endParaRPr/>
          </a:p>
        </p:txBody>
      </p:sp>
      <p:sp>
        <p:nvSpPr>
          <p:cNvPr id="803" name="Google Shape;803;p39"/>
          <p:cNvSpPr/>
          <p:nvPr/>
        </p:nvSpPr>
        <p:spPr>
          <a:xfrm>
            <a:off x="6437261" y="3755539"/>
            <a:ext cx="5149902" cy="126985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Describe your discount strategy which can be a combination of several discount strategies described in the previous slides</a:t>
            </a:r>
            <a:endParaRPr/>
          </a:p>
          <a:p>
            <a:pPr indent="0" lvl="0" marL="0" marR="0" rtl="0" algn="l">
              <a:spcBef>
                <a:spcPts val="0"/>
              </a:spcBef>
              <a:spcAft>
                <a:spcPts val="0"/>
              </a:spcAft>
              <a:buNone/>
            </a:pPr>
            <a:r>
              <a:rPr lang="en-US" sz="1100">
                <a:solidFill>
                  <a:schemeClr val="dk1"/>
                </a:solidFill>
                <a:latin typeface="Arial"/>
                <a:ea typeface="Arial"/>
                <a:cs typeface="Arial"/>
                <a:sym typeface="Arial"/>
              </a:rPr>
              <a:t>Explain why you think it is the right discount strategy</a:t>
            </a:r>
            <a:endParaRPr/>
          </a:p>
        </p:txBody>
      </p:sp>
      <p:sp>
        <p:nvSpPr>
          <p:cNvPr id="804" name="Google Shape;804;p39"/>
          <p:cNvSpPr txBox="1"/>
          <p:nvPr/>
        </p:nvSpPr>
        <p:spPr>
          <a:xfrm>
            <a:off x="6437261" y="3361448"/>
            <a:ext cx="5149902" cy="339852"/>
          </a:xfrm>
          <a:prstGeom prst="rect">
            <a:avLst/>
          </a:prstGeom>
          <a:solidFill>
            <a:schemeClr val="dk2"/>
          </a:solidFill>
          <a:ln>
            <a:noFill/>
          </a:ln>
        </p:spPr>
        <p:txBody>
          <a:bodyPr anchorCtr="1" anchor="ctr" bIns="40100" lIns="40100" spcFirstLastPara="1" rIns="40100" wrap="square" tIns="4010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Discount Strategy</a:t>
            </a:r>
            <a:endParaRPr/>
          </a:p>
        </p:txBody>
      </p:sp>
      <p:sp>
        <p:nvSpPr>
          <p:cNvPr id="805" name="Google Shape;805;p39"/>
          <p:cNvSpPr txBox="1"/>
          <p:nvPr/>
        </p:nvSpPr>
        <p:spPr>
          <a:xfrm>
            <a:off x="585173" y="5217186"/>
            <a:ext cx="11001989" cy="339852"/>
          </a:xfrm>
          <a:prstGeom prst="rect">
            <a:avLst/>
          </a:prstGeom>
          <a:solidFill>
            <a:schemeClr val="dk2"/>
          </a:solidFill>
          <a:ln>
            <a:noFill/>
          </a:ln>
        </p:spPr>
        <p:txBody>
          <a:bodyPr anchorCtr="1" anchor="ctr" bIns="40100" lIns="40100" spcFirstLastPara="1" rIns="40100" wrap="square" tIns="40100">
            <a:noAutofit/>
          </a:bodyPr>
          <a:lstStyle/>
          <a:p>
            <a:pPr indent="0" lvl="0" marL="0" marR="0" rtl="0" algn="ctr">
              <a:spcBef>
                <a:spcPts val="0"/>
              </a:spcBef>
              <a:spcAft>
                <a:spcPts val="0"/>
              </a:spcAft>
              <a:buNone/>
            </a:pPr>
            <a:r>
              <a:rPr b="1" lang="en-US" sz="1200">
                <a:solidFill>
                  <a:srgbClr val="FFFFFF"/>
                </a:solidFill>
                <a:latin typeface="Arial"/>
                <a:ea typeface="Arial"/>
                <a:cs typeface="Arial"/>
                <a:sym typeface="Arial"/>
              </a:rPr>
              <a:t>Product price</a:t>
            </a:r>
            <a:endParaRPr/>
          </a:p>
        </p:txBody>
      </p:sp>
      <p:cxnSp>
        <p:nvCxnSpPr>
          <p:cNvPr id="806" name="Google Shape;806;p39"/>
          <p:cNvCxnSpPr>
            <a:stCxn id="789" idx="2"/>
            <a:endCxn id="805" idx="0"/>
          </p:cNvCxnSpPr>
          <p:nvPr/>
        </p:nvCxnSpPr>
        <p:spPr>
          <a:xfrm>
            <a:off x="6086167" y="3242564"/>
            <a:ext cx="0" cy="1974600"/>
          </a:xfrm>
          <a:prstGeom prst="straightConnector1">
            <a:avLst/>
          </a:prstGeom>
          <a:noFill/>
          <a:ln cap="flat" cmpd="sng" w="9525">
            <a:solidFill>
              <a:srgbClr val="A5A5A5"/>
            </a:solidFill>
            <a:prstDash val="solid"/>
            <a:miter lim="800000"/>
            <a:headEnd len="sm" w="sm" type="none"/>
            <a:tailEnd len="med" w="med" type="triangle"/>
          </a:ln>
        </p:spPr>
      </p:cxnSp>
      <p:cxnSp>
        <p:nvCxnSpPr>
          <p:cNvPr id="807" name="Google Shape;807;p39"/>
          <p:cNvCxnSpPr>
            <a:stCxn id="789" idx="2"/>
            <a:endCxn id="803" idx="1"/>
          </p:cNvCxnSpPr>
          <p:nvPr/>
        </p:nvCxnSpPr>
        <p:spPr>
          <a:xfrm flipH="1" rot="-5400000">
            <a:off x="5687767" y="3640964"/>
            <a:ext cx="1147800" cy="351000"/>
          </a:xfrm>
          <a:prstGeom prst="bentConnector2">
            <a:avLst/>
          </a:prstGeom>
          <a:noFill/>
          <a:ln cap="flat" cmpd="sng" w="9525">
            <a:solidFill>
              <a:srgbClr val="A5A5A5"/>
            </a:solidFill>
            <a:prstDash val="solid"/>
            <a:miter lim="800000"/>
            <a:headEnd len="sm" w="sm" type="none"/>
            <a:tailEnd len="sm" w="sm" type="none"/>
          </a:ln>
        </p:spPr>
      </p:cxnSp>
      <p:sp>
        <p:nvSpPr>
          <p:cNvPr id="808" name="Google Shape;808;p39"/>
          <p:cNvSpPr/>
          <p:nvPr/>
        </p:nvSpPr>
        <p:spPr>
          <a:xfrm>
            <a:off x="1184562" y="3802835"/>
            <a:ext cx="1866901" cy="990600"/>
          </a:xfrm>
          <a:prstGeom prst="wedgeRoundRectCallout">
            <a:avLst>
              <a:gd fmla="val -34501" name="adj1"/>
              <a:gd fmla="val 116167"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If you have a lot of products, only mention the key ones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40"/>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Promotion</a:t>
            </a:r>
            <a:br>
              <a:rPr lang="en-US"/>
            </a:br>
            <a:r>
              <a:rPr b="0" lang="en-US"/>
              <a:t>Replace this text with the key takeaway of this Powerpoint slide.</a:t>
            </a:r>
            <a:endParaRPr/>
          </a:p>
        </p:txBody>
      </p:sp>
      <p:sp>
        <p:nvSpPr>
          <p:cNvPr id="814" name="Google Shape;814;p40"/>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815" name="Google Shape;815;p40"/>
          <p:cNvSpPr/>
          <p:nvPr/>
        </p:nvSpPr>
        <p:spPr>
          <a:xfrm>
            <a:off x="585367" y="3436521"/>
            <a:ext cx="11001600" cy="568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lang="en-US" sz="1100">
                <a:solidFill>
                  <a:schemeClr val="dk1"/>
                </a:solidFill>
                <a:latin typeface="Arial"/>
                <a:ea typeface="Arial"/>
                <a:cs typeface="Arial"/>
                <a:sym typeface="Arial"/>
              </a:rPr>
              <a:t>Insert your annual budget (it can be express as a percentage of your revenue)</a:t>
            </a:r>
            <a:endParaRPr sz="1100">
              <a:solidFill>
                <a:schemeClr val="dk1"/>
              </a:solidFill>
              <a:latin typeface="Arial"/>
              <a:ea typeface="Arial"/>
              <a:cs typeface="Arial"/>
              <a:sym typeface="Arial"/>
            </a:endParaRPr>
          </a:p>
        </p:txBody>
      </p:sp>
      <p:sp>
        <p:nvSpPr>
          <p:cNvPr id="816" name="Google Shape;816;p40"/>
          <p:cNvSpPr txBox="1"/>
          <p:nvPr/>
        </p:nvSpPr>
        <p:spPr>
          <a:xfrm>
            <a:off x="585173" y="2969921"/>
            <a:ext cx="11001988" cy="402597"/>
          </a:xfrm>
          <a:prstGeom prst="rect">
            <a:avLst/>
          </a:prstGeom>
          <a:solidFill>
            <a:schemeClr val="dk2"/>
          </a:solidFill>
          <a:ln>
            <a:noFill/>
          </a:ln>
        </p:spPr>
        <p:txBody>
          <a:bodyPr anchorCtr="1" anchor="ctr" bIns="40100" lIns="0" spcFirstLastPara="1" rIns="0" wrap="square" tIns="401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Annual Budget</a:t>
            </a:r>
            <a:endParaRPr/>
          </a:p>
        </p:txBody>
      </p:sp>
      <p:cxnSp>
        <p:nvCxnSpPr>
          <p:cNvPr id="817" name="Google Shape;817;p40"/>
          <p:cNvCxnSpPr>
            <a:stCxn id="818" idx="2"/>
            <a:endCxn id="816" idx="0"/>
          </p:cNvCxnSpPr>
          <p:nvPr/>
        </p:nvCxnSpPr>
        <p:spPr>
          <a:xfrm>
            <a:off x="6086167" y="2594461"/>
            <a:ext cx="0" cy="375600"/>
          </a:xfrm>
          <a:prstGeom prst="straightConnector1">
            <a:avLst/>
          </a:prstGeom>
          <a:noFill/>
          <a:ln cap="flat" cmpd="sng" w="9525">
            <a:solidFill>
              <a:srgbClr val="A5A5A5"/>
            </a:solidFill>
            <a:prstDash val="solid"/>
            <a:miter lim="800000"/>
            <a:headEnd len="sm" w="sm" type="none"/>
            <a:tailEnd len="med" w="med" type="triangle"/>
          </a:ln>
        </p:spPr>
      </p:cxnSp>
      <p:sp>
        <p:nvSpPr>
          <p:cNvPr id="819" name="Google Shape;819;p40"/>
          <p:cNvSpPr/>
          <p:nvPr/>
        </p:nvSpPr>
        <p:spPr>
          <a:xfrm>
            <a:off x="587516" y="4558961"/>
            <a:ext cx="1398828" cy="994877"/>
          </a:xfrm>
          <a:prstGeom prst="rect">
            <a:avLst/>
          </a:prstGeom>
          <a:solidFill>
            <a:schemeClr val="dk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Advertising</a:t>
            </a:r>
            <a:endParaRPr/>
          </a:p>
          <a:p>
            <a:pPr indent="0" lvl="0" marL="0" marR="0" rtl="0" algn="ctr">
              <a:spcBef>
                <a:spcPts val="0"/>
              </a:spcBef>
              <a:spcAft>
                <a:spcPts val="0"/>
              </a:spcAft>
              <a:buNone/>
            </a:pPr>
            <a:r>
              <a:rPr lang="en-US" sz="1050">
                <a:solidFill>
                  <a:schemeClr val="lt1"/>
                </a:solidFill>
                <a:latin typeface="Arial"/>
                <a:ea typeface="Arial"/>
                <a:cs typeface="Arial"/>
                <a:sym typeface="Arial"/>
              </a:rPr>
              <a:t>(40% of the budget)</a:t>
            </a:r>
            <a:endParaRPr/>
          </a:p>
        </p:txBody>
      </p:sp>
      <p:sp>
        <p:nvSpPr>
          <p:cNvPr id="820" name="Google Shape;820;p40"/>
          <p:cNvSpPr/>
          <p:nvPr/>
        </p:nvSpPr>
        <p:spPr>
          <a:xfrm>
            <a:off x="2186177" y="4558961"/>
            <a:ext cx="1398827" cy="994877"/>
          </a:xfrm>
          <a:prstGeom prst="rect">
            <a:avLst/>
          </a:prstGeom>
          <a:solidFill>
            <a:schemeClr val="dk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Public relations</a:t>
            </a:r>
            <a:endParaRPr/>
          </a:p>
          <a:p>
            <a:pPr indent="0" lvl="0" marL="0" marR="0" rtl="0" algn="ctr">
              <a:spcBef>
                <a:spcPts val="0"/>
              </a:spcBef>
              <a:spcAft>
                <a:spcPts val="0"/>
              </a:spcAft>
              <a:buNone/>
            </a:pPr>
            <a:r>
              <a:rPr lang="en-US" sz="1050">
                <a:solidFill>
                  <a:schemeClr val="lt1"/>
                </a:solidFill>
                <a:latin typeface="Arial"/>
                <a:ea typeface="Arial"/>
                <a:cs typeface="Arial"/>
                <a:sym typeface="Arial"/>
              </a:rPr>
              <a:t>(20% of the budget)</a:t>
            </a:r>
            <a:endParaRPr/>
          </a:p>
          <a:p>
            <a:pPr indent="0" lvl="0" marL="0" marR="0" rtl="0" algn="ctr">
              <a:spcBef>
                <a:spcPts val="0"/>
              </a:spcBef>
              <a:spcAft>
                <a:spcPts val="0"/>
              </a:spcAft>
              <a:buNone/>
            </a:pPr>
            <a:r>
              <a:t/>
            </a:r>
            <a:endParaRPr b="1" sz="1050">
              <a:solidFill>
                <a:schemeClr val="lt1"/>
              </a:solidFill>
              <a:latin typeface="Arial"/>
              <a:ea typeface="Arial"/>
              <a:cs typeface="Arial"/>
              <a:sym typeface="Arial"/>
            </a:endParaRPr>
          </a:p>
        </p:txBody>
      </p:sp>
      <p:sp>
        <p:nvSpPr>
          <p:cNvPr id="821" name="Google Shape;821;p40"/>
          <p:cNvSpPr/>
          <p:nvPr/>
        </p:nvSpPr>
        <p:spPr>
          <a:xfrm>
            <a:off x="3784836" y="4558961"/>
            <a:ext cx="1398827" cy="994877"/>
          </a:xfrm>
          <a:prstGeom prst="rect">
            <a:avLst/>
          </a:prstGeom>
          <a:solidFill>
            <a:schemeClr val="dk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Sales Promotion</a:t>
            </a:r>
            <a:endParaRPr/>
          </a:p>
          <a:p>
            <a:pPr indent="0" lvl="0" marL="0" marR="0" rtl="0" algn="ctr">
              <a:spcBef>
                <a:spcPts val="0"/>
              </a:spcBef>
              <a:spcAft>
                <a:spcPts val="0"/>
              </a:spcAft>
              <a:buNone/>
            </a:pPr>
            <a:r>
              <a:rPr lang="en-US" sz="1050">
                <a:solidFill>
                  <a:schemeClr val="lt1"/>
                </a:solidFill>
                <a:latin typeface="Arial"/>
                <a:ea typeface="Arial"/>
                <a:cs typeface="Arial"/>
                <a:sym typeface="Arial"/>
              </a:rPr>
              <a:t>(10% of the budget)</a:t>
            </a:r>
            <a:endParaRPr/>
          </a:p>
        </p:txBody>
      </p:sp>
      <p:sp>
        <p:nvSpPr>
          <p:cNvPr id="822" name="Google Shape;822;p40"/>
          <p:cNvSpPr/>
          <p:nvPr/>
        </p:nvSpPr>
        <p:spPr>
          <a:xfrm>
            <a:off x="5391436" y="4558961"/>
            <a:ext cx="1398828" cy="994877"/>
          </a:xfrm>
          <a:prstGeom prst="rect">
            <a:avLst/>
          </a:prstGeom>
          <a:solidFill>
            <a:schemeClr val="dk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Personal selling</a:t>
            </a:r>
            <a:endParaRPr/>
          </a:p>
          <a:p>
            <a:pPr indent="0" lvl="0" marL="0" marR="0" rtl="0" algn="ctr">
              <a:spcBef>
                <a:spcPts val="0"/>
              </a:spcBef>
              <a:spcAft>
                <a:spcPts val="0"/>
              </a:spcAft>
              <a:buNone/>
            </a:pPr>
            <a:r>
              <a:rPr lang="en-US" sz="1050">
                <a:solidFill>
                  <a:schemeClr val="lt1"/>
                </a:solidFill>
                <a:latin typeface="Arial"/>
                <a:ea typeface="Arial"/>
                <a:cs typeface="Arial"/>
                <a:sym typeface="Arial"/>
              </a:rPr>
              <a:t>(10% of the budget)</a:t>
            </a:r>
            <a:endParaRPr/>
          </a:p>
        </p:txBody>
      </p:sp>
      <p:sp>
        <p:nvSpPr>
          <p:cNvPr id="823" name="Google Shape;823;p40"/>
          <p:cNvSpPr/>
          <p:nvPr/>
        </p:nvSpPr>
        <p:spPr>
          <a:xfrm>
            <a:off x="6982156" y="4558961"/>
            <a:ext cx="1398827" cy="994877"/>
          </a:xfrm>
          <a:prstGeom prst="rect">
            <a:avLst/>
          </a:prstGeom>
          <a:solidFill>
            <a:schemeClr val="dk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Direct Mail</a:t>
            </a:r>
            <a:endParaRPr/>
          </a:p>
          <a:p>
            <a:pPr indent="0" lvl="0" marL="0" marR="0" rtl="0" algn="ctr">
              <a:spcBef>
                <a:spcPts val="0"/>
              </a:spcBef>
              <a:spcAft>
                <a:spcPts val="0"/>
              </a:spcAft>
              <a:buNone/>
            </a:pPr>
            <a:r>
              <a:rPr lang="en-US" sz="1050">
                <a:solidFill>
                  <a:schemeClr val="lt1"/>
                </a:solidFill>
                <a:latin typeface="Arial"/>
                <a:ea typeface="Arial"/>
                <a:cs typeface="Arial"/>
                <a:sym typeface="Arial"/>
              </a:rPr>
              <a:t>(10% of the budget)</a:t>
            </a:r>
            <a:endParaRPr/>
          </a:p>
        </p:txBody>
      </p:sp>
      <p:sp>
        <p:nvSpPr>
          <p:cNvPr id="824" name="Google Shape;824;p40"/>
          <p:cNvSpPr/>
          <p:nvPr/>
        </p:nvSpPr>
        <p:spPr>
          <a:xfrm>
            <a:off x="10179473" y="4558961"/>
            <a:ext cx="1398827" cy="994877"/>
          </a:xfrm>
          <a:prstGeom prst="rect">
            <a:avLst/>
          </a:prstGeom>
          <a:solidFill>
            <a:schemeClr val="dk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Sponsorship</a:t>
            </a:r>
            <a:endParaRPr/>
          </a:p>
        </p:txBody>
      </p:sp>
      <p:sp>
        <p:nvSpPr>
          <p:cNvPr id="825" name="Google Shape;825;p40"/>
          <p:cNvSpPr/>
          <p:nvPr/>
        </p:nvSpPr>
        <p:spPr>
          <a:xfrm>
            <a:off x="8580815" y="4558961"/>
            <a:ext cx="1398827" cy="994877"/>
          </a:xfrm>
          <a:prstGeom prst="rect">
            <a:avLst/>
          </a:prstGeom>
          <a:solidFill>
            <a:schemeClr val="dk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050">
                <a:solidFill>
                  <a:schemeClr val="lt1"/>
                </a:solidFill>
                <a:latin typeface="Arial"/>
                <a:ea typeface="Arial"/>
                <a:cs typeface="Arial"/>
                <a:sym typeface="Arial"/>
              </a:rPr>
              <a:t>Online Marketing</a:t>
            </a:r>
            <a:endParaRPr/>
          </a:p>
          <a:p>
            <a:pPr indent="0" lvl="0" marL="0" marR="0" rtl="0" algn="ctr">
              <a:spcBef>
                <a:spcPts val="0"/>
              </a:spcBef>
              <a:spcAft>
                <a:spcPts val="0"/>
              </a:spcAft>
              <a:buNone/>
            </a:pPr>
            <a:r>
              <a:rPr lang="en-US" sz="1050">
                <a:solidFill>
                  <a:schemeClr val="lt1"/>
                </a:solidFill>
                <a:latin typeface="Arial"/>
                <a:ea typeface="Arial"/>
                <a:cs typeface="Arial"/>
                <a:sym typeface="Arial"/>
              </a:rPr>
              <a:t>(10% of the budget)</a:t>
            </a:r>
            <a:endParaRPr/>
          </a:p>
        </p:txBody>
      </p:sp>
      <p:sp>
        <p:nvSpPr>
          <p:cNvPr id="826" name="Google Shape;826;p40"/>
          <p:cNvSpPr txBox="1"/>
          <p:nvPr/>
        </p:nvSpPr>
        <p:spPr>
          <a:xfrm>
            <a:off x="687432" y="5700653"/>
            <a:ext cx="1198994" cy="83099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4800">
                <a:solidFill>
                  <a:schemeClr val="accent6"/>
                </a:solidFill>
                <a:latin typeface="Arial"/>
                <a:ea typeface="Arial"/>
                <a:cs typeface="Arial"/>
                <a:sym typeface="Arial"/>
              </a:rPr>
              <a:t>✔</a:t>
            </a:r>
            <a:endParaRPr sz="4800">
              <a:solidFill>
                <a:schemeClr val="accent6"/>
              </a:solidFill>
              <a:latin typeface="Arial"/>
              <a:ea typeface="Arial"/>
              <a:cs typeface="Arial"/>
              <a:sym typeface="Arial"/>
            </a:endParaRPr>
          </a:p>
        </p:txBody>
      </p:sp>
      <p:sp>
        <p:nvSpPr>
          <p:cNvPr id="827" name="Google Shape;827;p40"/>
          <p:cNvSpPr txBox="1"/>
          <p:nvPr/>
        </p:nvSpPr>
        <p:spPr>
          <a:xfrm>
            <a:off x="10279390" y="5795240"/>
            <a:ext cx="1198994" cy="64182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4000">
                <a:solidFill>
                  <a:srgbClr val="FFC000"/>
                </a:solidFill>
                <a:latin typeface="Arial"/>
                <a:ea typeface="Arial"/>
                <a:cs typeface="Arial"/>
                <a:sym typeface="Arial"/>
              </a:rPr>
              <a:t>X</a:t>
            </a:r>
            <a:endParaRPr b="1" sz="4000">
              <a:solidFill>
                <a:srgbClr val="FFC000"/>
              </a:solidFill>
              <a:latin typeface="Arial"/>
              <a:ea typeface="Arial"/>
              <a:cs typeface="Arial"/>
              <a:sym typeface="Arial"/>
            </a:endParaRPr>
          </a:p>
        </p:txBody>
      </p:sp>
      <p:sp>
        <p:nvSpPr>
          <p:cNvPr id="828" name="Google Shape;828;p40"/>
          <p:cNvSpPr txBox="1"/>
          <p:nvPr/>
        </p:nvSpPr>
        <p:spPr>
          <a:xfrm>
            <a:off x="2200404" y="5700653"/>
            <a:ext cx="1198994" cy="83099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4800">
                <a:solidFill>
                  <a:schemeClr val="accent6"/>
                </a:solidFill>
                <a:latin typeface="Arial"/>
                <a:ea typeface="Arial"/>
                <a:cs typeface="Arial"/>
                <a:sym typeface="Arial"/>
              </a:rPr>
              <a:t>✔</a:t>
            </a:r>
            <a:endParaRPr sz="4800">
              <a:solidFill>
                <a:schemeClr val="accent6"/>
              </a:solidFill>
              <a:latin typeface="Arial"/>
              <a:ea typeface="Arial"/>
              <a:cs typeface="Arial"/>
              <a:sym typeface="Arial"/>
            </a:endParaRPr>
          </a:p>
        </p:txBody>
      </p:sp>
      <p:sp>
        <p:nvSpPr>
          <p:cNvPr id="829" name="Google Shape;829;p40"/>
          <p:cNvSpPr txBox="1"/>
          <p:nvPr/>
        </p:nvSpPr>
        <p:spPr>
          <a:xfrm>
            <a:off x="3799063" y="5700653"/>
            <a:ext cx="1198994" cy="83099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4800">
                <a:solidFill>
                  <a:schemeClr val="accent6"/>
                </a:solidFill>
                <a:latin typeface="Arial"/>
                <a:ea typeface="Arial"/>
                <a:cs typeface="Arial"/>
                <a:sym typeface="Arial"/>
              </a:rPr>
              <a:t>✔</a:t>
            </a:r>
            <a:endParaRPr sz="4800">
              <a:solidFill>
                <a:schemeClr val="accent6"/>
              </a:solidFill>
              <a:latin typeface="Arial"/>
              <a:ea typeface="Arial"/>
              <a:cs typeface="Arial"/>
              <a:sym typeface="Arial"/>
            </a:endParaRPr>
          </a:p>
        </p:txBody>
      </p:sp>
      <p:sp>
        <p:nvSpPr>
          <p:cNvPr id="830" name="Google Shape;830;p40"/>
          <p:cNvSpPr txBox="1"/>
          <p:nvPr/>
        </p:nvSpPr>
        <p:spPr>
          <a:xfrm>
            <a:off x="5312034" y="5700653"/>
            <a:ext cx="1198994" cy="83099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4800">
                <a:solidFill>
                  <a:schemeClr val="accent6"/>
                </a:solidFill>
                <a:latin typeface="Arial"/>
                <a:ea typeface="Arial"/>
                <a:cs typeface="Arial"/>
                <a:sym typeface="Arial"/>
              </a:rPr>
              <a:t>✔</a:t>
            </a:r>
            <a:endParaRPr sz="4800">
              <a:solidFill>
                <a:schemeClr val="accent6"/>
              </a:solidFill>
              <a:latin typeface="Arial"/>
              <a:ea typeface="Arial"/>
              <a:cs typeface="Arial"/>
              <a:sym typeface="Arial"/>
            </a:endParaRPr>
          </a:p>
        </p:txBody>
      </p:sp>
      <p:sp>
        <p:nvSpPr>
          <p:cNvPr id="831" name="Google Shape;831;p40"/>
          <p:cNvSpPr txBox="1"/>
          <p:nvPr/>
        </p:nvSpPr>
        <p:spPr>
          <a:xfrm>
            <a:off x="7045018" y="5700653"/>
            <a:ext cx="1198994" cy="83099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4800">
                <a:solidFill>
                  <a:schemeClr val="accent6"/>
                </a:solidFill>
                <a:latin typeface="Arial"/>
                <a:ea typeface="Arial"/>
                <a:cs typeface="Arial"/>
                <a:sym typeface="Arial"/>
              </a:rPr>
              <a:t>✔</a:t>
            </a:r>
            <a:endParaRPr sz="4800">
              <a:solidFill>
                <a:schemeClr val="accent6"/>
              </a:solidFill>
              <a:latin typeface="Arial"/>
              <a:ea typeface="Arial"/>
              <a:cs typeface="Arial"/>
              <a:sym typeface="Arial"/>
            </a:endParaRPr>
          </a:p>
        </p:txBody>
      </p:sp>
      <p:sp>
        <p:nvSpPr>
          <p:cNvPr id="832" name="Google Shape;832;p40"/>
          <p:cNvSpPr txBox="1"/>
          <p:nvPr/>
        </p:nvSpPr>
        <p:spPr>
          <a:xfrm>
            <a:off x="8557989" y="5700653"/>
            <a:ext cx="1198994" cy="83099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4800">
                <a:solidFill>
                  <a:schemeClr val="accent6"/>
                </a:solidFill>
                <a:latin typeface="Arial"/>
                <a:ea typeface="Arial"/>
                <a:cs typeface="Arial"/>
                <a:sym typeface="Arial"/>
              </a:rPr>
              <a:t>✔</a:t>
            </a:r>
            <a:endParaRPr sz="4800">
              <a:solidFill>
                <a:schemeClr val="accent6"/>
              </a:solidFill>
              <a:latin typeface="Arial"/>
              <a:ea typeface="Arial"/>
              <a:cs typeface="Arial"/>
              <a:sym typeface="Arial"/>
            </a:endParaRPr>
          </a:p>
        </p:txBody>
      </p:sp>
      <p:cxnSp>
        <p:nvCxnSpPr>
          <p:cNvPr id="833" name="Google Shape;833;p40"/>
          <p:cNvCxnSpPr>
            <a:stCxn id="815" idx="2"/>
            <a:endCxn id="819" idx="0"/>
          </p:cNvCxnSpPr>
          <p:nvPr/>
        </p:nvCxnSpPr>
        <p:spPr>
          <a:xfrm rot="5400000">
            <a:off x="3409867" y="1882521"/>
            <a:ext cx="553500" cy="4799100"/>
          </a:xfrm>
          <a:prstGeom prst="bentConnector3">
            <a:avLst>
              <a:gd fmla="val 50013" name="adj1"/>
            </a:avLst>
          </a:prstGeom>
          <a:noFill/>
          <a:ln cap="flat" cmpd="sng" w="9525">
            <a:solidFill>
              <a:srgbClr val="A5A5A5"/>
            </a:solidFill>
            <a:prstDash val="solid"/>
            <a:miter lim="800000"/>
            <a:headEnd len="sm" w="sm" type="none"/>
            <a:tailEnd len="med" w="med" type="triangle"/>
          </a:ln>
        </p:spPr>
      </p:cxnSp>
      <p:cxnSp>
        <p:nvCxnSpPr>
          <p:cNvPr id="834" name="Google Shape;834;p40"/>
          <p:cNvCxnSpPr>
            <a:stCxn id="815" idx="2"/>
            <a:endCxn id="823" idx="0"/>
          </p:cNvCxnSpPr>
          <p:nvPr/>
        </p:nvCxnSpPr>
        <p:spPr>
          <a:xfrm flipH="1" rot="-5400000">
            <a:off x="6607117" y="3484371"/>
            <a:ext cx="553500" cy="1595400"/>
          </a:xfrm>
          <a:prstGeom prst="bentConnector3">
            <a:avLst>
              <a:gd fmla="val 50013" name="adj1"/>
            </a:avLst>
          </a:prstGeom>
          <a:noFill/>
          <a:ln cap="flat" cmpd="sng" w="9525">
            <a:solidFill>
              <a:srgbClr val="A5A5A5"/>
            </a:solidFill>
            <a:prstDash val="solid"/>
            <a:miter lim="800000"/>
            <a:headEnd len="sm" w="sm" type="none"/>
            <a:tailEnd len="med" w="med" type="triangle"/>
          </a:ln>
        </p:spPr>
      </p:cxnSp>
      <p:cxnSp>
        <p:nvCxnSpPr>
          <p:cNvPr id="835" name="Google Shape;835;p40"/>
          <p:cNvCxnSpPr>
            <a:stCxn id="815" idx="2"/>
            <a:endCxn id="820" idx="0"/>
          </p:cNvCxnSpPr>
          <p:nvPr/>
        </p:nvCxnSpPr>
        <p:spPr>
          <a:xfrm rot="5400000">
            <a:off x="4209067" y="2681721"/>
            <a:ext cx="553500" cy="3200700"/>
          </a:xfrm>
          <a:prstGeom prst="bentConnector3">
            <a:avLst>
              <a:gd fmla="val 50013" name="adj1"/>
            </a:avLst>
          </a:prstGeom>
          <a:noFill/>
          <a:ln cap="flat" cmpd="sng" w="9525">
            <a:solidFill>
              <a:srgbClr val="A5A5A5"/>
            </a:solidFill>
            <a:prstDash val="solid"/>
            <a:miter lim="800000"/>
            <a:headEnd len="sm" w="sm" type="none"/>
            <a:tailEnd len="med" w="med" type="triangle"/>
          </a:ln>
        </p:spPr>
      </p:cxnSp>
      <p:cxnSp>
        <p:nvCxnSpPr>
          <p:cNvPr id="836" name="Google Shape;836;p40"/>
          <p:cNvCxnSpPr>
            <a:stCxn id="815" idx="2"/>
            <a:endCxn id="821" idx="0"/>
          </p:cNvCxnSpPr>
          <p:nvPr/>
        </p:nvCxnSpPr>
        <p:spPr>
          <a:xfrm rot="5400000">
            <a:off x="5008417" y="3481071"/>
            <a:ext cx="553500" cy="1602000"/>
          </a:xfrm>
          <a:prstGeom prst="bentConnector3">
            <a:avLst>
              <a:gd fmla="val 50013" name="adj1"/>
            </a:avLst>
          </a:prstGeom>
          <a:noFill/>
          <a:ln cap="flat" cmpd="sng" w="9525">
            <a:solidFill>
              <a:srgbClr val="A5A5A5"/>
            </a:solidFill>
            <a:prstDash val="solid"/>
            <a:miter lim="800000"/>
            <a:headEnd len="sm" w="sm" type="none"/>
            <a:tailEnd len="med" w="med" type="triangle"/>
          </a:ln>
        </p:spPr>
      </p:cxnSp>
      <p:cxnSp>
        <p:nvCxnSpPr>
          <p:cNvPr id="837" name="Google Shape;837;p40"/>
          <p:cNvCxnSpPr>
            <a:stCxn id="815" idx="2"/>
            <a:endCxn id="825" idx="0"/>
          </p:cNvCxnSpPr>
          <p:nvPr/>
        </p:nvCxnSpPr>
        <p:spPr>
          <a:xfrm flipH="1" rot="-5400000">
            <a:off x="7406467" y="2685021"/>
            <a:ext cx="553500" cy="3194100"/>
          </a:xfrm>
          <a:prstGeom prst="bentConnector3">
            <a:avLst>
              <a:gd fmla="val 50013" name="adj1"/>
            </a:avLst>
          </a:prstGeom>
          <a:noFill/>
          <a:ln cap="flat" cmpd="sng" w="9525">
            <a:solidFill>
              <a:srgbClr val="A5A5A5"/>
            </a:solidFill>
            <a:prstDash val="solid"/>
            <a:miter lim="800000"/>
            <a:headEnd len="sm" w="sm" type="none"/>
            <a:tailEnd len="med" w="med" type="triangle"/>
          </a:ln>
        </p:spPr>
      </p:cxnSp>
      <p:cxnSp>
        <p:nvCxnSpPr>
          <p:cNvPr id="838" name="Google Shape;838;p40"/>
          <p:cNvCxnSpPr>
            <a:stCxn id="815" idx="2"/>
            <a:endCxn id="824" idx="0"/>
          </p:cNvCxnSpPr>
          <p:nvPr/>
        </p:nvCxnSpPr>
        <p:spPr>
          <a:xfrm flipH="1" rot="-5400000">
            <a:off x="8205817" y="1885671"/>
            <a:ext cx="553500" cy="4792800"/>
          </a:xfrm>
          <a:prstGeom prst="bentConnector3">
            <a:avLst>
              <a:gd fmla="val 50013" name="adj1"/>
            </a:avLst>
          </a:prstGeom>
          <a:noFill/>
          <a:ln cap="flat" cmpd="sng" w="9525">
            <a:solidFill>
              <a:srgbClr val="A5A5A5"/>
            </a:solidFill>
            <a:prstDash val="solid"/>
            <a:miter lim="800000"/>
            <a:headEnd len="sm" w="sm" type="none"/>
            <a:tailEnd len="med" w="med" type="triangle"/>
          </a:ln>
        </p:spPr>
      </p:cxnSp>
      <p:cxnSp>
        <p:nvCxnSpPr>
          <p:cNvPr id="839" name="Google Shape;839;p40"/>
          <p:cNvCxnSpPr>
            <a:stCxn id="815" idx="2"/>
          </p:cNvCxnSpPr>
          <p:nvPr/>
        </p:nvCxnSpPr>
        <p:spPr>
          <a:xfrm>
            <a:off x="6086167" y="4005321"/>
            <a:ext cx="4800" cy="553500"/>
          </a:xfrm>
          <a:prstGeom prst="straightConnector1">
            <a:avLst/>
          </a:prstGeom>
          <a:noFill/>
          <a:ln cap="flat" cmpd="sng" w="9525">
            <a:solidFill>
              <a:srgbClr val="A5A5A5"/>
            </a:solidFill>
            <a:prstDash val="solid"/>
            <a:miter lim="800000"/>
            <a:headEnd len="sm" w="sm" type="none"/>
            <a:tailEnd len="med" w="med" type="triangle"/>
          </a:ln>
        </p:spPr>
      </p:cxnSp>
      <p:sp>
        <p:nvSpPr>
          <p:cNvPr id="840" name="Google Shape;840;p40"/>
          <p:cNvSpPr txBox="1"/>
          <p:nvPr/>
        </p:nvSpPr>
        <p:spPr>
          <a:xfrm>
            <a:off x="585173" y="1579653"/>
            <a:ext cx="11001989" cy="398094"/>
          </a:xfrm>
          <a:prstGeom prst="rect">
            <a:avLst/>
          </a:prstGeom>
          <a:solidFill>
            <a:schemeClr val="dk2"/>
          </a:solidFill>
          <a:ln>
            <a:noFill/>
          </a:ln>
        </p:spPr>
        <p:txBody>
          <a:bodyPr anchorCtr="1" anchor="ctr" bIns="40100" lIns="40100" spcFirstLastPara="1" rIns="40100" wrap="square" tIns="40100">
            <a:noAutofit/>
          </a:bodyPr>
          <a:lstStyle/>
          <a:p>
            <a:pPr indent="0" lvl="0" marL="0" marR="0" rtl="0" algn="ctr">
              <a:spcBef>
                <a:spcPts val="0"/>
              </a:spcBef>
              <a:spcAft>
                <a:spcPts val="0"/>
              </a:spcAft>
              <a:buNone/>
            </a:pPr>
            <a:r>
              <a:rPr b="1" lang="en-US" sz="1400">
                <a:solidFill>
                  <a:srgbClr val="FFFFFF"/>
                </a:solidFill>
                <a:latin typeface="Arial"/>
                <a:ea typeface="Arial"/>
                <a:cs typeface="Arial"/>
                <a:sym typeface="Arial"/>
              </a:rPr>
              <a:t>Promotional purpose</a:t>
            </a:r>
            <a:endParaRPr/>
          </a:p>
        </p:txBody>
      </p:sp>
      <p:sp>
        <p:nvSpPr>
          <p:cNvPr id="818" name="Google Shape;818;p40"/>
          <p:cNvSpPr/>
          <p:nvPr/>
        </p:nvSpPr>
        <p:spPr>
          <a:xfrm>
            <a:off x="585173" y="2025921"/>
            <a:ext cx="11001989" cy="56854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Insert your promotional purpose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41"/>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Zoom on the type of Promotions used</a:t>
            </a:r>
            <a:br>
              <a:rPr lang="en-US"/>
            </a:br>
            <a:r>
              <a:rPr b="0" lang="en-US"/>
              <a:t>Replace this text with the key takeaway of this Powerpoint slide.</a:t>
            </a:r>
            <a:endParaRPr/>
          </a:p>
        </p:txBody>
      </p:sp>
      <p:sp>
        <p:nvSpPr>
          <p:cNvPr id="846" name="Google Shape;846;p41"/>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847" name="Google Shape;847;p41"/>
          <p:cNvSpPr/>
          <p:nvPr/>
        </p:nvSpPr>
        <p:spPr>
          <a:xfrm>
            <a:off x="599209" y="1600200"/>
            <a:ext cx="1669756" cy="1561884"/>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Advertising</a:t>
            </a:r>
            <a:endParaRPr/>
          </a:p>
          <a:p>
            <a:pPr indent="0" lvl="0" marL="0" marR="0" rtl="0" algn="ctr">
              <a:spcBef>
                <a:spcPts val="600"/>
              </a:spcBef>
              <a:spcAft>
                <a:spcPts val="0"/>
              </a:spcAft>
              <a:buNone/>
            </a:pPr>
            <a:r>
              <a:rPr lang="en-US" sz="1200">
                <a:solidFill>
                  <a:schemeClr val="lt1"/>
                </a:solidFill>
                <a:latin typeface="Arial"/>
                <a:ea typeface="Arial"/>
                <a:cs typeface="Arial"/>
                <a:sym typeface="Arial"/>
              </a:rPr>
              <a:t>(40% of the budget)</a:t>
            </a:r>
            <a:endParaRPr/>
          </a:p>
        </p:txBody>
      </p:sp>
      <p:sp>
        <p:nvSpPr>
          <p:cNvPr id="848" name="Google Shape;848;p41"/>
          <p:cNvSpPr/>
          <p:nvPr/>
        </p:nvSpPr>
        <p:spPr>
          <a:xfrm>
            <a:off x="599209" y="3277416"/>
            <a:ext cx="1669756" cy="1561884"/>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Public relations</a:t>
            </a:r>
            <a:endParaRPr/>
          </a:p>
          <a:p>
            <a:pPr indent="0" lvl="0" marL="0" marR="0" rtl="0" algn="ctr">
              <a:spcBef>
                <a:spcPts val="600"/>
              </a:spcBef>
              <a:spcAft>
                <a:spcPts val="0"/>
              </a:spcAft>
              <a:buNone/>
            </a:pPr>
            <a:r>
              <a:rPr lang="en-US" sz="1200">
                <a:solidFill>
                  <a:schemeClr val="lt1"/>
                </a:solidFill>
                <a:latin typeface="Arial"/>
                <a:ea typeface="Arial"/>
                <a:cs typeface="Arial"/>
                <a:sym typeface="Arial"/>
              </a:rPr>
              <a:t>(20% of the budget)</a:t>
            </a:r>
            <a:endParaRPr/>
          </a:p>
        </p:txBody>
      </p:sp>
      <p:sp>
        <p:nvSpPr>
          <p:cNvPr id="849" name="Google Shape;849;p41"/>
          <p:cNvSpPr/>
          <p:nvPr/>
        </p:nvSpPr>
        <p:spPr>
          <a:xfrm>
            <a:off x="599209" y="4930990"/>
            <a:ext cx="1669756" cy="1561884"/>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Sales Promotion</a:t>
            </a:r>
            <a:endParaRPr/>
          </a:p>
          <a:p>
            <a:pPr indent="0" lvl="0" marL="0" marR="0" rtl="0" algn="ctr">
              <a:spcBef>
                <a:spcPts val="600"/>
              </a:spcBef>
              <a:spcAft>
                <a:spcPts val="0"/>
              </a:spcAft>
              <a:buNone/>
            </a:pPr>
            <a:r>
              <a:rPr lang="en-US" sz="1200">
                <a:solidFill>
                  <a:schemeClr val="lt1"/>
                </a:solidFill>
                <a:latin typeface="Arial"/>
                <a:ea typeface="Arial"/>
                <a:cs typeface="Arial"/>
                <a:sym typeface="Arial"/>
              </a:rPr>
              <a:t>(10% of the budget)</a:t>
            </a:r>
            <a:endParaRPr/>
          </a:p>
        </p:txBody>
      </p:sp>
      <p:sp>
        <p:nvSpPr>
          <p:cNvPr id="850" name="Google Shape;850;p41"/>
          <p:cNvSpPr/>
          <p:nvPr/>
        </p:nvSpPr>
        <p:spPr>
          <a:xfrm>
            <a:off x="2373323" y="1600200"/>
            <a:ext cx="3461804" cy="156188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Provide in this grey box a more detailed description</a:t>
            </a:r>
            <a:endParaRPr/>
          </a:p>
        </p:txBody>
      </p:sp>
      <p:sp>
        <p:nvSpPr>
          <p:cNvPr id="851" name="Google Shape;851;p41"/>
          <p:cNvSpPr/>
          <p:nvPr/>
        </p:nvSpPr>
        <p:spPr>
          <a:xfrm>
            <a:off x="2373323" y="3277416"/>
            <a:ext cx="3461804" cy="156188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Provide in this grey box a more detailed description</a:t>
            </a:r>
            <a:endParaRPr/>
          </a:p>
        </p:txBody>
      </p:sp>
      <p:sp>
        <p:nvSpPr>
          <p:cNvPr id="852" name="Google Shape;852;p41"/>
          <p:cNvSpPr/>
          <p:nvPr/>
        </p:nvSpPr>
        <p:spPr>
          <a:xfrm>
            <a:off x="2373323" y="4930990"/>
            <a:ext cx="3461804" cy="156188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Provide in this grey box a more detailed description</a:t>
            </a:r>
            <a:endParaRPr/>
          </a:p>
        </p:txBody>
      </p:sp>
      <p:sp>
        <p:nvSpPr>
          <p:cNvPr id="853" name="Google Shape;853;p41"/>
          <p:cNvSpPr/>
          <p:nvPr/>
        </p:nvSpPr>
        <p:spPr>
          <a:xfrm>
            <a:off x="6351244" y="1600200"/>
            <a:ext cx="1669756" cy="1561884"/>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Personal selling</a:t>
            </a:r>
            <a:endParaRPr/>
          </a:p>
          <a:p>
            <a:pPr indent="0" lvl="0" marL="0" marR="0" rtl="0" algn="ctr">
              <a:spcBef>
                <a:spcPts val="600"/>
              </a:spcBef>
              <a:spcAft>
                <a:spcPts val="0"/>
              </a:spcAft>
              <a:buNone/>
            </a:pPr>
            <a:r>
              <a:rPr lang="en-US" sz="1200">
                <a:solidFill>
                  <a:schemeClr val="lt1"/>
                </a:solidFill>
                <a:latin typeface="Arial"/>
                <a:ea typeface="Arial"/>
                <a:cs typeface="Arial"/>
                <a:sym typeface="Arial"/>
              </a:rPr>
              <a:t>(10% of the budget)</a:t>
            </a:r>
            <a:endParaRPr/>
          </a:p>
        </p:txBody>
      </p:sp>
      <p:sp>
        <p:nvSpPr>
          <p:cNvPr id="854" name="Google Shape;854;p41"/>
          <p:cNvSpPr/>
          <p:nvPr/>
        </p:nvSpPr>
        <p:spPr>
          <a:xfrm>
            <a:off x="6351244" y="3277416"/>
            <a:ext cx="1669756" cy="1561884"/>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Direct Mail</a:t>
            </a:r>
            <a:endParaRPr/>
          </a:p>
          <a:p>
            <a:pPr indent="0" lvl="0" marL="0" marR="0" rtl="0" algn="ctr">
              <a:spcBef>
                <a:spcPts val="600"/>
              </a:spcBef>
              <a:spcAft>
                <a:spcPts val="0"/>
              </a:spcAft>
              <a:buNone/>
            </a:pPr>
            <a:r>
              <a:rPr lang="en-US" sz="1200">
                <a:solidFill>
                  <a:schemeClr val="lt1"/>
                </a:solidFill>
                <a:latin typeface="Arial"/>
                <a:ea typeface="Arial"/>
                <a:cs typeface="Arial"/>
                <a:sym typeface="Arial"/>
              </a:rPr>
              <a:t>(10% of the budget)</a:t>
            </a:r>
            <a:endParaRPr/>
          </a:p>
        </p:txBody>
      </p:sp>
      <p:sp>
        <p:nvSpPr>
          <p:cNvPr id="855" name="Google Shape;855;p41"/>
          <p:cNvSpPr/>
          <p:nvPr/>
        </p:nvSpPr>
        <p:spPr>
          <a:xfrm>
            <a:off x="6351244" y="4930990"/>
            <a:ext cx="1669756" cy="1561884"/>
          </a:xfrm>
          <a:prstGeom prst="rect">
            <a:avLst/>
          </a:prstGeom>
          <a:solidFill>
            <a:schemeClr val="dk1"/>
          </a:solidFill>
          <a:ln>
            <a:noFill/>
          </a:ln>
        </p:spPr>
        <p:txBody>
          <a:bodyPr anchorCtr="0" anchor="ctr" bIns="18000" lIns="18000" spcFirstLastPara="1" rIns="18000" wrap="square" tIns="18000">
            <a:noAutofit/>
          </a:bodyPr>
          <a:lstStyle/>
          <a:p>
            <a:pPr indent="0" lvl="0" marL="0" marR="0" rtl="0" algn="ctr">
              <a:spcBef>
                <a:spcPts val="0"/>
              </a:spcBef>
              <a:spcAft>
                <a:spcPts val="0"/>
              </a:spcAft>
              <a:buNone/>
            </a:pPr>
            <a:r>
              <a:rPr b="1" lang="en-US" sz="1200">
                <a:solidFill>
                  <a:schemeClr val="lt1"/>
                </a:solidFill>
                <a:latin typeface="Arial"/>
                <a:ea typeface="Arial"/>
                <a:cs typeface="Arial"/>
                <a:sym typeface="Arial"/>
              </a:rPr>
              <a:t>Online Marketing</a:t>
            </a:r>
            <a:endParaRPr/>
          </a:p>
          <a:p>
            <a:pPr indent="0" lvl="0" marL="0" marR="0" rtl="0" algn="ctr">
              <a:spcBef>
                <a:spcPts val="600"/>
              </a:spcBef>
              <a:spcAft>
                <a:spcPts val="0"/>
              </a:spcAft>
              <a:buNone/>
            </a:pPr>
            <a:r>
              <a:rPr lang="en-US" sz="1200">
                <a:solidFill>
                  <a:schemeClr val="lt1"/>
                </a:solidFill>
                <a:latin typeface="Arial"/>
                <a:ea typeface="Arial"/>
                <a:cs typeface="Arial"/>
                <a:sym typeface="Arial"/>
              </a:rPr>
              <a:t>(10% of the budget)</a:t>
            </a:r>
            <a:endParaRPr/>
          </a:p>
        </p:txBody>
      </p:sp>
      <p:sp>
        <p:nvSpPr>
          <p:cNvPr id="856" name="Google Shape;856;p41"/>
          <p:cNvSpPr/>
          <p:nvPr/>
        </p:nvSpPr>
        <p:spPr>
          <a:xfrm>
            <a:off x="8125358" y="1600200"/>
            <a:ext cx="3461804" cy="156188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Provide in this grey box a more detailed description</a:t>
            </a:r>
            <a:endParaRPr/>
          </a:p>
        </p:txBody>
      </p:sp>
      <p:sp>
        <p:nvSpPr>
          <p:cNvPr id="857" name="Google Shape;857;p41"/>
          <p:cNvSpPr/>
          <p:nvPr/>
        </p:nvSpPr>
        <p:spPr>
          <a:xfrm>
            <a:off x="8125358" y="3277416"/>
            <a:ext cx="3461804" cy="1561884"/>
          </a:xfrm>
          <a:prstGeom prst="roundRect">
            <a:avLst>
              <a:gd fmla="val 8225" name="adj"/>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Provide in this grey box a more detailed description</a:t>
            </a:r>
            <a:endParaRPr/>
          </a:p>
        </p:txBody>
      </p:sp>
      <p:sp>
        <p:nvSpPr>
          <p:cNvPr id="858" name="Google Shape;858;p41"/>
          <p:cNvSpPr/>
          <p:nvPr/>
        </p:nvSpPr>
        <p:spPr>
          <a:xfrm>
            <a:off x="8125358" y="4930990"/>
            <a:ext cx="3461804" cy="156188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Provide in this grey box a more detailed description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42"/>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Sales Funnel Process</a:t>
            </a:r>
            <a:br>
              <a:rPr lang="en-US"/>
            </a:br>
            <a:r>
              <a:rPr b="0" lang="en-US"/>
              <a:t>Replace this text with the key takeaway of this Powerpoint slide.</a:t>
            </a:r>
            <a:endParaRPr/>
          </a:p>
        </p:txBody>
      </p:sp>
      <p:sp>
        <p:nvSpPr>
          <p:cNvPr id="864" name="Google Shape;864;p4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cxnSp>
        <p:nvCxnSpPr>
          <p:cNvPr id="865" name="Google Shape;865;p42"/>
          <p:cNvCxnSpPr/>
          <p:nvPr/>
        </p:nvCxnSpPr>
        <p:spPr>
          <a:xfrm>
            <a:off x="7005887" y="2683660"/>
            <a:ext cx="1025805" cy="1336"/>
          </a:xfrm>
          <a:prstGeom prst="straightConnector1">
            <a:avLst/>
          </a:prstGeom>
          <a:solidFill>
            <a:schemeClr val="dk2"/>
          </a:solidFill>
          <a:ln cap="flat" cmpd="sng" w="9525">
            <a:solidFill>
              <a:schemeClr val="dk2"/>
            </a:solidFill>
            <a:prstDash val="solid"/>
            <a:miter lim="800000"/>
            <a:headEnd len="sm" w="sm" type="none"/>
            <a:tailEnd len="sm" w="sm" type="none"/>
          </a:ln>
        </p:spPr>
      </p:cxnSp>
      <p:sp>
        <p:nvSpPr>
          <p:cNvPr id="866" name="Google Shape;866;p42"/>
          <p:cNvSpPr/>
          <p:nvPr/>
        </p:nvSpPr>
        <p:spPr>
          <a:xfrm>
            <a:off x="8002853" y="2623128"/>
            <a:ext cx="122400" cy="122400"/>
          </a:xfrm>
          <a:prstGeom prst="ellipse">
            <a:avLst/>
          </a:prstGeom>
          <a:solidFill>
            <a:schemeClr val="dk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67" name="Google Shape;867;p42"/>
          <p:cNvCxnSpPr/>
          <p:nvPr/>
        </p:nvCxnSpPr>
        <p:spPr>
          <a:xfrm>
            <a:off x="7005887" y="4164605"/>
            <a:ext cx="1025805" cy="1336"/>
          </a:xfrm>
          <a:prstGeom prst="straightConnector1">
            <a:avLst/>
          </a:prstGeom>
          <a:solidFill>
            <a:schemeClr val="dk2"/>
          </a:solidFill>
          <a:ln cap="flat" cmpd="sng" w="9525">
            <a:solidFill>
              <a:schemeClr val="dk2"/>
            </a:solidFill>
            <a:prstDash val="solid"/>
            <a:miter lim="800000"/>
            <a:headEnd len="sm" w="sm" type="none"/>
            <a:tailEnd len="sm" w="sm" type="none"/>
          </a:ln>
        </p:spPr>
      </p:cxnSp>
      <p:sp>
        <p:nvSpPr>
          <p:cNvPr id="868" name="Google Shape;868;p42"/>
          <p:cNvSpPr/>
          <p:nvPr/>
        </p:nvSpPr>
        <p:spPr>
          <a:xfrm>
            <a:off x="8002853" y="4104073"/>
            <a:ext cx="122400" cy="122400"/>
          </a:xfrm>
          <a:prstGeom prst="ellipse">
            <a:avLst/>
          </a:prstGeom>
          <a:solidFill>
            <a:schemeClr val="dk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69" name="Google Shape;869;p42"/>
          <p:cNvCxnSpPr/>
          <p:nvPr/>
        </p:nvCxnSpPr>
        <p:spPr>
          <a:xfrm>
            <a:off x="6795224" y="5584295"/>
            <a:ext cx="1219158" cy="1447"/>
          </a:xfrm>
          <a:prstGeom prst="straightConnector1">
            <a:avLst/>
          </a:prstGeom>
          <a:solidFill>
            <a:schemeClr val="dk2"/>
          </a:solidFill>
          <a:ln cap="flat" cmpd="sng" w="9525">
            <a:solidFill>
              <a:schemeClr val="dk2"/>
            </a:solidFill>
            <a:prstDash val="solid"/>
            <a:miter lim="800000"/>
            <a:headEnd len="sm" w="sm" type="none"/>
            <a:tailEnd len="sm" w="sm" type="none"/>
          </a:ln>
        </p:spPr>
      </p:cxnSp>
      <p:sp>
        <p:nvSpPr>
          <p:cNvPr id="870" name="Google Shape;870;p42"/>
          <p:cNvSpPr/>
          <p:nvPr/>
        </p:nvSpPr>
        <p:spPr>
          <a:xfrm>
            <a:off x="7980108" y="5523818"/>
            <a:ext cx="122400" cy="122400"/>
          </a:xfrm>
          <a:prstGeom prst="ellipse">
            <a:avLst/>
          </a:prstGeom>
          <a:solidFill>
            <a:schemeClr val="dk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71" name="Google Shape;871;p42"/>
          <p:cNvCxnSpPr/>
          <p:nvPr/>
        </p:nvCxnSpPr>
        <p:spPr>
          <a:xfrm flipH="1">
            <a:off x="4106610" y="3409939"/>
            <a:ext cx="1025805" cy="1336"/>
          </a:xfrm>
          <a:prstGeom prst="straightConnector1">
            <a:avLst/>
          </a:prstGeom>
          <a:solidFill>
            <a:schemeClr val="dk2"/>
          </a:solidFill>
          <a:ln cap="flat" cmpd="sng" w="9525">
            <a:solidFill>
              <a:schemeClr val="dk2"/>
            </a:solidFill>
            <a:prstDash val="solid"/>
            <a:miter lim="800000"/>
            <a:headEnd len="sm" w="sm" type="none"/>
            <a:tailEnd len="sm" w="sm" type="none"/>
          </a:ln>
        </p:spPr>
      </p:cxnSp>
      <p:sp>
        <p:nvSpPr>
          <p:cNvPr id="872" name="Google Shape;872;p42"/>
          <p:cNvSpPr/>
          <p:nvPr/>
        </p:nvSpPr>
        <p:spPr>
          <a:xfrm flipH="1">
            <a:off x="4014765" y="3350266"/>
            <a:ext cx="120683" cy="120683"/>
          </a:xfrm>
          <a:prstGeom prst="ellipse">
            <a:avLst/>
          </a:prstGeom>
          <a:solidFill>
            <a:schemeClr val="dk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73" name="Google Shape;873;p42"/>
          <p:cNvCxnSpPr/>
          <p:nvPr/>
        </p:nvCxnSpPr>
        <p:spPr>
          <a:xfrm flipH="1">
            <a:off x="4106610" y="4855575"/>
            <a:ext cx="1025805" cy="1336"/>
          </a:xfrm>
          <a:prstGeom prst="straightConnector1">
            <a:avLst/>
          </a:prstGeom>
          <a:solidFill>
            <a:schemeClr val="dk2"/>
          </a:solidFill>
          <a:ln cap="flat" cmpd="sng" w="9525">
            <a:solidFill>
              <a:schemeClr val="dk2"/>
            </a:solidFill>
            <a:prstDash val="solid"/>
            <a:miter lim="800000"/>
            <a:headEnd len="sm" w="sm" type="none"/>
            <a:tailEnd len="sm" w="sm" type="none"/>
          </a:ln>
        </p:spPr>
      </p:cxnSp>
      <p:sp>
        <p:nvSpPr>
          <p:cNvPr id="874" name="Google Shape;874;p42"/>
          <p:cNvSpPr/>
          <p:nvPr/>
        </p:nvSpPr>
        <p:spPr>
          <a:xfrm flipH="1">
            <a:off x="4014765" y="4795902"/>
            <a:ext cx="120683" cy="120683"/>
          </a:xfrm>
          <a:prstGeom prst="ellipse">
            <a:avLst/>
          </a:prstGeom>
          <a:solidFill>
            <a:schemeClr val="dk1"/>
          </a:solidFill>
          <a:ln cap="flat" cmpd="sng" w="127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5" name="Google Shape;875;p42"/>
          <p:cNvSpPr/>
          <p:nvPr/>
        </p:nvSpPr>
        <p:spPr>
          <a:xfrm>
            <a:off x="4332284" y="2221657"/>
            <a:ext cx="3473735" cy="741793"/>
          </a:xfrm>
          <a:custGeom>
            <a:rect b="b" l="l" r="r" t="t"/>
            <a:pathLst>
              <a:path extrusionOk="0" h="637" w="2983">
                <a:moveTo>
                  <a:pt x="1329" y="0"/>
                </a:moveTo>
                <a:lnTo>
                  <a:pt x="1655" y="0"/>
                </a:lnTo>
                <a:lnTo>
                  <a:pt x="1813" y="5"/>
                </a:lnTo>
                <a:lnTo>
                  <a:pt x="1964" y="9"/>
                </a:lnTo>
                <a:lnTo>
                  <a:pt x="2108" y="16"/>
                </a:lnTo>
                <a:lnTo>
                  <a:pt x="2246" y="26"/>
                </a:lnTo>
                <a:lnTo>
                  <a:pt x="2374" y="37"/>
                </a:lnTo>
                <a:lnTo>
                  <a:pt x="2490" y="49"/>
                </a:lnTo>
                <a:lnTo>
                  <a:pt x="2599" y="63"/>
                </a:lnTo>
                <a:lnTo>
                  <a:pt x="2695" y="79"/>
                </a:lnTo>
                <a:lnTo>
                  <a:pt x="2778" y="96"/>
                </a:lnTo>
                <a:lnTo>
                  <a:pt x="2851" y="114"/>
                </a:lnTo>
                <a:lnTo>
                  <a:pt x="2906" y="133"/>
                </a:lnTo>
                <a:lnTo>
                  <a:pt x="2948" y="154"/>
                </a:lnTo>
                <a:lnTo>
                  <a:pt x="2974" y="175"/>
                </a:lnTo>
                <a:lnTo>
                  <a:pt x="2983" y="196"/>
                </a:lnTo>
                <a:lnTo>
                  <a:pt x="2983" y="637"/>
                </a:lnTo>
                <a:lnTo>
                  <a:pt x="0" y="637"/>
                </a:lnTo>
                <a:lnTo>
                  <a:pt x="0" y="196"/>
                </a:lnTo>
                <a:lnTo>
                  <a:pt x="10" y="175"/>
                </a:lnTo>
                <a:lnTo>
                  <a:pt x="35" y="154"/>
                </a:lnTo>
                <a:lnTo>
                  <a:pt x="77" y="133"/>
                </a:lnTo>
                <a:lnTo>
                  <a:pt x="133" y="114"/>
                </a:lnTo>
                <a:lnTo>
                  <a:pt x="205" y="96"/>
                </a:lnTo>
                <a:lnTo>
                  <a:pt x="289" y="79"/>
                </a:lnTo>
                <a:lnTo>
                  <a:pt x="384" y="63"/>
                </a:lnTo>
                <a:lnTo>
                  <a:pt x="494" y="49"/>
                </a:lnTo>
                <a:lnTo>
                  <a:pt x="610" y="37"/>
                </a:lnTo>
                <a:lnTo>
                  <a:pt x="738" y="26"/>
                </a:lnTo>
                <a:lnTo>
                  <a:pt x="875" y="16"/>
                </a:lnTo>
                <a:lnTo>
                  <a:pt x="1019" y="9"/>
                </a:lnTo>
                <a:lnTo>
                  <a:pt x="1171" y="5"/>
                </a:lnTo>
                <a:lnTo>
                  <a:pt x="132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6" name="Google Shape;876;p42"/>
          <p:cNvSpPr/>
          <p:nvPr/>
        </p:nvSpPr>
        <p:spPr>
          <a:xfrm>
            <a:off x="4332284" y="2738700"/>
            <a:ext cx="3473735" cy="454159"/>
          </a:xfrm>
          <a:custGeom>
            <a:rect b="b" l="l" r="r" t="t"/>
            <a:pathLst>
              <a:path extrusionOk="0" h="390" w="2983">
                <a:moveTo>
                  <a:pt x="1329" y="0"/>
                </a:moveTo>
                <a:lnTo>
                  <a:pt x="1655" y="0"/>
                </a:lnTo>
                <a:lnTo>
                  <a:pt x="1813" y="4"/>
                </a:lnTo>
                <a:lnTo>
                  <a:pt x="1964" y="9"/>
                </a:lnTo>
                <a:lnTo>
                  <a:pt x="2108" y="16"/>
                </a:lnTo>
                <a:lnTo>
                  <a:pt x="2246" y="25"/>
                </a:lnTo>
                <a:lnTo>
                  <a:pt x="2374" y="37"/>
                </a:lnTo>
                <a:lnTo>
                  <a:pt x="2490" y="49"/>
                </a:lnTo>
                <a:lnTo>
                  <a:pt x="2599" y="63"/>
                </a:lnTo>
                <a:lnTo>
                  <a:pt x="2695" y="79"/>
                </a:lnTo>
                <a:lnTo>
                  <a:pt x="2778" y="95"/>
                </a:lnTo>
                <a:lnTo>
                  <a:pt x="2851" y="114"/>
                </a:lnTo>
                <a:lnTo>
                  <a:pt x="2906" y="133"/>
                </a:lnTo>
                <a:lnTo>
                  <a:pt x="2948" y="151"/>
                </a:lnTo>
                <a:lnTo>
                  <a:pt x="2974" y="172"/>
                </a:lnTo>
                <a:lnTo>
                  <a:pt x="2983" y="193"/>
                </a:lnTo>
                <a:lnTo>
                  <a:pt x="2974" y="214"/>
                </a:lnTo>
                <a:lnTo>
                  <a:pt x="2948" y="235"/>
                </a:lnTo>
                <a:lnTo>
                  <a:pt x="2906" y="254"/>
                </a:lnTo>
                <a:lnTo>
                  <a:pt x="2851" y="275"/>
                </a:lnTo>
                <a:lnTo>
                  <a:pt x="2778" y="292"/>
                </a:lnTo>
                <a:lnTo>
                  <a:pt x="2695" y="308"/>
                </a:lnTo>
                <a:lnTo>
                  <a:pt x="2599" y="324"/>
                </a:lnTo>
                <a:lnTo>
                  <a:pt x="2490" y="338"/>
                </a:lnTo>
                <a:lnTo>
                  <a:pt x="2374" y="352"/>
                </a:lnTo>
                <a:lnTo>
                  <a:pt x="2246" y="362"/>
                </a:lnTo>
                <a:lnTo>
                  <a:pt x="2108" y="371"/>
                </a:lnTo>
                <a:lnTo>
                  <a:pt x="1964" y="380"/>
                </a:lnTo>
                <a:lnTo>
                  <a:pt x="1813" y="385"/>
                </a:lnTo>
                <a:lnTo>
                  <a:pt x="1655" y="390"/>
                </a:lnTo>
                <a:lnTo>
                  <a:pt x="1329" y="390"/>
                </a:lnTo>
                <a:lnTo>
                  <a:pt x="1171" y="385"/>
                </a:lnTo>
                <a:lnTo>
                  <a:pt x="1019" y="380"/>
                </a:lnTo>
                <a:lnTo>
                  <a:pt x="875" y="371"/>
                </a:lnTo>
                <a:lnTo>
                  <a:pt x="738" y="362"/>
                </a:lnTo>
                <a:lnTo>
                  <a:pt x="610" y="352"/>
                </a:lnTo>
                <a:lnTo>
                  <a:pt x="494" y="338"/>
                </a:lnTo>
                <a:lnTo>
                  <a:pt x="384" y="324"/>
                </a:lnTo>
                <a:lnTo>
                  <a:pt x="289" y="308"/>
                </a:lnTo>
                <a:lnTo>
                  <a:pt x="205" y="292"/>
                </a:lnTo>
                <a:lnTo>
                  <a:pt x="133" y="275"/>
                </a:lnTo>
                <a:lnTo>
                  <a:pt x="77" y="254"/>
                </a:lnTo>
                <a:lnTo>
                  <a:pt x="35" y="235"/>
                </a:lnTo>
                <a:lnTo>
                  <a:pt x="10" y="214"/>
                </a:lnTo>
                <a:lnTo>
                  <a:pt x="0" y="193"/>
                </a:lnTo>
                <a:lnTo>
                  <a:pt x="10" y="172"/>
                </a:lnTo>
                <a:lnTo>
                  <a:pt x="35" y="151"/>
                </a:lnTo>
                <a:lnTo>
                  <a:pt x="77" y="133"/>
                </a:lnTo>
                <a:lnTo>
                  <a:pt x="133" y="114"/>
                </a:lnTo>
                <a:lnTo>
                  <a:pt x="205" y="95"/>
                </a:lnTo>
                <a:lnTo>
                  <a:pt x="289" y="79"/>
                </a:lnTo>
                <a:lnTo>
                  <a:pt x="384" y="63"/>
                </a:lnTo>
                <a:lnTo>
                  <a:pt x="494" y="49"/>
                </a:lnTo>
                <a:lnTo>
                  <a:pt x="610" y="37"/>
                </a:lnTo>
                <a:lnTo>
                  <a:pt x="738" y="25"/>
                </a:lnTo>
                <a:lnTo>
                  <a:pt x="875" y="16"/>
                </a:lnTo>
                <a:lnTo>
                  <a:pt x="1019" y="9"/>
                </a:lnTo>
                <a:lnTo>
                  <a:pt x="1171" y="4"/>
                </a:lnTo>
                <a:lnTo>
                  <a:pt x="1329" y="0"/>
                </a:lnTo>
                <a:close/>
              </a:path>
            </a:pathLst>
          </a:custGeom>
          <a:solidFill>
            <a:srgbClr val="002C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7" name="Google Shape;877;p42"/>
          <p:cNvSpPr/>
          <p:nvPr/>
        </p:nvSpPr>
        <p:spPr>
          <a:xfrm>
            <a:off x="4619918" y="3007703"/>
            <a:ext cx="2899632" cy="709187"/>
          </a:xfrm>
          <a:custGeom>
            <a:rect b="b" l="l" r="r" t="t"/>
            <a:pathLst>
              <a:path extrusionOk="0" h="609" w="2490">
                <a:moveTo>
                  <a:pt x="1100" y="0"/>
                </a:moveTo>
                <a:lnTo>
                  <a:pt x="1389" y="0"/>
                </a:lnTo>
                <a:lnTo>
                  <a:pt x="1531" y="4"/>
                </a:lnTo>
                <a:lnTo>
                  <a:pt x="1666" y="9"/>
                </a:lnTo>
                <a:lnTo>
                  <a:pt x="1794" y="16"/>
                </a:lnTo>
                <a:lnTo>
                  <a:pt x="1913" y="26"/>
                </a:lnTo>
                <a:lnTo>
                  <a:pt x="2024" y="37"/>
                </a:lnTo>
                <a:lnTo>
                  <a:pt x="2127" y="49"/>
                </a:lnTo>
                <a:lnTo>
                  <a:pt x="2217" y="61"/>
                </a:lnTo>
                <a:lnTo>
                  <a:pt x="2296" y="77"/>
                </a:lnTo>
                <a:lnTo>
                  <a:pt x="2364" y="93"/>
                </a:lnTo>
                <a:lnTo>
                  <a:pt x="2417" y="110"/>
                </a:lnTo>
                <a:lnTo>
                  <a:pt x="2457" y="126"/>
                </a:lnTo>
                <a:lnTo>
                  <a:pt x="2480" y="145"/>
                </a:lnTo>
                <a:lnTo>
                  <a:pt x="2490" y="163"/>
                </a:lnTo>
                <a:lnTo>
                  <a:pt x="2490" y="609"/>
                </a:lnTo>
                <a:lnTo>
                  <a:pt x="0" y="609"/>
                </a:lnTo>
                <a:lnTo>
                  <a:pt x="0" y="163"/>
                </a:lnTo>
                <a:lnTo>
                  <a:pt x="9" y="145"/>
                </a:lnTo>
                <a:lnTo>
                  <a:pt x="33" y="126"/>
                </a:lnTo>
                <a:lnTo>
                  <a:pt x="72" y="110"/>
                </a:lnTo>
                <a:lnTo>
                  <a:pt x="126" y="93"/>
                </a:lnTo>
                <a:lnTo>
                  <a:pt x="193" y="77"/>
                </a:lnTo>
                <a:lnTo>
                  <a:pt x="272" y="61"/>
                </a:lnTo>
                <a:lnTo>
                  <a:pt x="365" y="49"/>
                </a:lnTo>
                <a:lnTo>
                  <a:pt x="465" y="37"/>
                </a:lnTo>
                <a:lnTo>
                  <a:pt x="577" y="26"/>
                </a:lnTo>
                <a:lnTo>
                  <a:pt x="696" y="16"/>
                </a:lnTo>
                <a:lnTo>
                  <a:pt x="824" y="9"/>
                </a:lnTo>
                <a:lnTo>
                  <a:pt x="959" y="4"/>
                </a:lnTo>
                <a:lnTo>
                  <a:pt x="1100" y="0"/>
                </a:lnTo>
                <a:close/>
              </a:path>
            </a:pathLst>
          </a:custGeom>
          <a:solidFill>
            <a:srgbClr val="0559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8" name="Google Shape;878;p42"/>
          <p:cNvSpPr/>
          <p:nvPr/>
        </p:nvSpPr>
        <p:spPr>
          <a:xfrm>
            <a:off x="4619918" y="3527075"/>
            <a:ext cx="2899632" cy="377302"/>
          </a:xfrm>
          <a:custGeom>
            <a:rect b="b" l="l" r="r" t="t"/>
            <a:pathLst>
              <a:path extrusionOk="0" h="324" w="2490">
                <a:moveTo>
                  <a:pt x="1100" y="0"/>
                </a:moveTo>
                <a:lnTo>
                  <a:pt x="1389" y="0"/>
                </a:lnTo>
                <a:lnTo>
                  <a:pt x="1531" y="4"/>
                </a:lnTo>
                <a:lnTo>
                  <a:pt x="1666" y="9"/>
                </a:lnTo>
                <a:lnTo>
                  <a:pt x="1794" y="16"/>
                </a:lnTo>
                <a:lnTo>
                  <a:pt x="1913" y="25"/>
                </a:lnTo>
                <a:lnTo>
                  <a:pt x="2024" y="35"/>
                </a:lnTo>
                <a:lnTo>
                  <a:pt x="2127" y="46"/>
                </a:lnTo>
                <a:lnTo>
                  <a:pt x="2217" y="61"/>
                </a:lnTo>
                <a:lnTo>
                  <a:pt x="2296" y="75"/>
                </a:lnTo>
                <a:lnTo>
                  <a:pt x="2364" y="91"/>
                </a:lnTo>
                <a:lnTo>
                  <a:pt x="2417" y="107"/>
                </a:lnTo>
                <a:lnTo>
                  <a:pt x="2457" y="126"/>
                </a:lnTo>
                <a:lnTo>
                  <a:pt x="2480" y="145"/>
                </a:lnTo>
                <a:lnTo>
                  <a:pt x="2490" y="163"/>
                </a:lnTo>
                <a:lnTo>
                  <a:pt x="2480" y="182"/>
                </a:lnTo>
                <a:lnTo>
                  <a:pt x="2457" y="201"/>
                </a:lnTo>
                <a:lnTo>
                  <a:pt x="2417" y="217"/>
                </a:lnTo>
                <a:lnTo>
                  <a:pt x="2364" y="233"/>
                </a:lnTo>
                <a:lnTo>
                  <a:pt x="2296" y="250"/>
                </a:lnTo>
                <a:lnTo>
                  <a:pt x="2217" y="264"/>
                </a:lnTo>
                <a:lnTo>
                  <a:pt x="2127" y="278"/>
                </a:lnTo>
                <a:lnTo>
                  <a:pt x="2024" y="289"/>
                </a:lnTo>
                <a:lnTo>
                  <a:pt x="1913" y="299"/>
                </a:lnTo>
                <a:lnTo>
                  <a:pt x="1794" y="308"/>
                </a:lnTo>
                <a:lnTo>
                  <a:pt x="1666" y="315"/>
                </a:lnTo>
                <a:lnTo>
                  <a:pt x="1531" y="320"/>
                </a:lnTo>
                <a:lnTo>
                  <a:pt x="1389" y="324"/>
                </a:lnTo>
                <a:lnTo>
                  <a:pt x="1100" y="324"/>
                </a:lnTo>
                <a:lnTo>
                  <a:pt x="959" y="320"/>
                </a:lnTo>
                <a:lnTo>
                  <a:pt x="824" y="315"/>
                </a:lnTo>
                <a:lnTo>
                  <a:pt x="696" y="308"/>
                </a:lnTo>
                <a:lnTo>
                  <a:pt x="577" y="299"/>
                </a:lnTo>
                <a:lnTo>
                  <a:pt x="465" y="289"/>
                </a:lnTo>
                <a:lnTo>
                  <a:pt x="365" y="278"/>
                </a:lnTo>
                <a:lnTo>
                  <a:pt x="272" y="264"/>
                </a:lnTo>
                <a:lnTo>
                  <a:pt x="193" y="250"/>
                </a:lnTo>
                <a:lnTo>
                  <a:pt x="126" y="233"/>
                </a:lnTo>
                <a:lnTo>
                  <a:pt x="72" y="217"/>
                </a:lnTo>
                <a:lnTo>
                  <a:pt x="33" y="201"/>
                </a:lnTo>
                <a:lnTo>
                  <a:pt x="9" y="182"/>
                </a:lnTo>
                <a:lnTo>
                  <a:pt x="0" y="163"/>
                </a:lnTo>
                <a:lnTo>
                  <a:pt x="9" y="145"/>
                </a:lnTo>
                <a:lnTo>
                  <a:pt x="33" y="126"/>
                </a:lnTo>
                <a:lnTo>
                  <a:pt x="72" y="107"/>
                </a:lnTo>
                <a:lnTo>
                  <a:pt x="126" y="91"/>
                </a:lnTo>
                <a:lnTo>
                  <a:pt x="193" y="75"/>
                </a:lnTo>
                <a:lnTo>
                  <a:pt x="272" y="61"/>
                </a:lnTo>
                <a:lnTo>
                  <a:pt x="365" y="46"/>
                </a:lnTo>
                <a:lnTo>
                  <a:pt x="465" y="35"/>
                </a:lnTo>
                <a:lnTo>
                  <a:pt x="577" y="25"/>
                </a:lnTo>
                <a:lnTo>
                  <a:pt x="696" y="16"/>
                </a:lnTo>
                <a:lnTo>
                  <a:pt x="824" y="9"/>
                </a:lnTo>
                <a:lnTo>
                  <a:pt x="959" y="4"/>
                </a:lnTo>
                <a:lnTo>
                  <a:pt x="1100" y="0"/>
                </a:lnTo>
                <a:close/>
              </a:path>
            </a:pathLst>
          </a:custGeom>
          <a:solidFill>
            <a:srgbClr val="002C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9" name="Google Shape;879;p42"/>
          <p:cNvSpPr/>
          <p:nvPr/>
        </p:nvSpPr>
        <p:spPr>
          <a:xfrm>
            <a:off x="4874946" y="3779773"/>
            <a:ext cx="2389576" cy="671924"/>
          </a:xfrm>
          <a:custGeom>
            <a:rect b="b" l="l" r="r" t="t"/>
            <a:pathLst>
              <a:path extrusionOk="0" h="577" w="2052">
                <a:moveTo>
                  <a:pt x="898" y="0"/>
                </a:moveTo>
                <a:lnTo>
                  <a:pt x="1154" y="0"/>
                </a:lnTo>
                <a:lnTo>
                  <a:pt x="1279" y="5"/>
                </a:lnTo>
                <a:lnTo>
                  <a:pt x="1398" y="9"/>
                </a:lnTo>
                <a:lnTo>
                  <a:pt x="1510" y="16"/>
                </a:lnTo>
                <a:lnTo>
                  <a:pt x="1612" y="23"/>
                </a:lnTo>
                <a:lnTo>
                  <a:pt x="1707" y="35"/>
                </a:lnTo>
                <a:lnTo>
                  <a:pt x="1794" y="44"/>
                </a:lnTo>
                <a:lnTo>
                  <a:pt x="1868" y="58"/>
                </a:lnTo>
                <a:lnTo>
                  <a:pt x="1931" y="72"/>
                </a:lnTo>
                <a:lnTo>
                  <a:pt x="1982" y="86"/>
                </a:lnTo>
                <a:lnTo>
                  <a:pt x="2022" y="103"/>
                </a:lnTo>
                <a:lnTo>
                  <a:pt x="2045" y="119"/>
                </a:lnTo>
                <a:lnTo>
                  <a:pt x="2052" y="135"/>
                </a:lnTo>
                <a:lnTo>
                  <a:pt x="2052" y="577"/>
                </a:lnTo>
                <a:lnTo>
                  <a:pt x="0" y="577"/>
                </a:lnTo>
                <a:lnTo>
                  <a:pt x="0" y="135"/>
                </a:lnTo>
                <a:lnTo>
                  <a:pt x="7" y="119"/>
                </a:lnTo>
                <a:lnTo>
                  <a:pt x="30" y="103"/>
                </a:lnTo>
                <a:lnTo>
                  <a:pt x="69" y="86"/>
                </a:lnTo>
                <a:lnTo>
                  <a:pt x="121" y="72"/>
                </a:lnTo>
                <a:lnTo>
                  <a:pt x="183" y="58"/>
                </a:lnTo>
                <a:lnTo>
                  <a:pt x="258" y="44"/>
                </a:lnTo>
                <a:lnTo>
                  <a:pt x="344" y="35"/>
                </a:lnTo>
                <a:lnTo>
                  <a:pt x="439" y="23"/>
                </a:lnTo>
                <a:lnTo>
                  <a:pt x="542" y="16"/>
                </a:lnTo>
                <a:lnTo>
                  <a:pt x="653" y="9"/>
                </a:lnTo>
                <a:lnTo>
                  <a:pt x="772" y="5"/>
                </a:lnTo>
                <a:lnTo>
                  <a:pt x="898" y="0"/>
                </a:lnTo>
                <a:close/>
              </a:path>
            </a:pathLst>
          </a:custGeom>
          <a:solidFill>
            <a:srgbClr val="598DF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0" name="Google Shape;880;p42"/>
          <p:cNvSpPr/>
          <p:nvPr/>
        </p:nvSpPr>
        <p:spPr>
          <a:xfrm>
            <a:off x="4874946" y="4293323"/>
            <a:ext cx="2389576" cy="313253"/>
          </a:xfrm>
          <a:custGeom>
            <a:rect b="b" l="l" r="r" t="t"/>
            <a:pathLst>
              <a:path extrusionOk="0" h="269" w="2052">
                <a:moveTo>
                  <a:pt x="898" y="0"/>
                </a:moveTo>
                <a:lnTo>
                  <a:pt x="1154" y="0"/>
                </a:lnTo>
                <a:lnTo>
                  <a:pt x="1279" y="5"/>
                </a:lnTo>
                <a:lnTo>
                  <a:pt x="1398" y="10"/>
                </a:lnTo>
                <a:lnTo>
                  <a:pt x="1510" y="17"/>
                </a:lnTo>
                <a:lnTo>
                  <a:pt x="1612" y="24"/>
                </a:lnTo>
                <a:lnTo>
                  <a:pt x="1707" y="35"/>
                </a:lnTo>
                <a:lnTo>
                  <a:pt x="1794" y="45"/>
                </a:lnTo>
                <a:lnTo>
                  <a:pt x="1868" y="59"/>
                </a:lnTo>
                <a:lnTo>
                  <a:pt x="1931" y="73"/>
                </a:lnTo>
                <a:lnTo>
                  <a:pt x="1982" y="87"/>
                </a:lnTo>
                <a:lnTo>
                  <a:pt x="2022" y="103"/>
                </a:lnTo>
                <a:lnTo>
                  <a:pt x="2045" y="119"/>
                </a:lnTo>
                <a:lnTo>
                  <a:pt x="2052" y="136"/>
                </a:lnTo>
                <a:lnTo>
                  <a:pt x="2045" y="152"/>
                </a:lnTo>
                <a:lnTo>
                  <a:pt x="2022" y="168"/>
                </a:lnTo>
                <a:lnTo>
                  <a:pt x="1982" y="182"/>
                </a:lnTo>
                <a:lnTo>
                  <a:pt x="1931" y="199"/>
                </a:lnTo>
                <a:lnTo>
                  <a:pt x="1868" y="210"/>
                </a:lnTo>
                <a:lnTo>
                  <a:pt x="1794" y="224"/>
                </a:lnTo>
                <a:lnTo>
                  <a:pt x="1707" y="234"/>
                </a:lnTo>
                <a:lnTo>
                  <a:pt x="1612" y="245"/>
                </a:lnTo>
                <a:lnTo>
                  <a:pt x="1510" y="252"/>
                </a:lnTo>
                <a:lnTo>
                  <a:pt x="1398" y="259"/>
                </a:lnTo>
                <a:lnTo>
                  <a:pt x="1279" y="264"/>
                </a:lnTo>
                <a:lnTo>
                  <a:pt x="1154" y="269"/>
                </a:lnTo>
                <a:lnTo>
                  <a:pt x="898" y="269"/>
                </a:lnTo>
                <a:lnTo>
                  <a:pt x="772" y="264"/>
                </a:lnTo>
                <a:lnTo>
                  <a:pt x="653" y="259"/>
                </a:lnTo>
                <a:lnTo>
                  <a:pt x="542" y="252"/>
                </a:lnTo>
                <a:lnTo>
                  <a:pt x="439" y="245"/>
                </a:lnTo>
                <a:lnTo>
                  <a:pt x="344" y="234"/>
                </a:lnTo>
                <a:lnTo>
                  <a:pt x="258" y="224"/>
                </a:lnTo>
                <a:lnTo>
                  <a:pt x="183" y="210"/>
                </a:lnTo>
                <a:lnTo>
                  <a:pt x="121" y="199"/>
                </a:lnTo>
                <a:lnTo>
                  <a:pt x="69" y="182"/>
                </a:lnTo>
                <a:lnTo>
                  <a:pt x="30" y="168"/>
                </a:lnTo>
                <a:lnTo>
                  <a:pt x="7" y="152"/>
                </a:lnTo>
                <a:lnTo>
                  <a:pt x="0" y="136"/>
                </a:lnTo>
                <a:lnTo>
                  <a:pt x="7" y="119"/>
                </a:lnTo>
                <a:lnTo>
                  <a:pt x="30" y="103"/>
                </a:lnTo>
                <a:lnTo>
                  <a:pt x="69" y="87"/>
                </a:lnTo>
                <a:lnTo>
                  <a:pt x="121" y="73"/>
                </a:lnTo>
                <a:lnTo>
                  <a:pt x="183" y="59"/>
                </a:lnTo>
                <a:lnTo>
                  <a:pt x="258" y="45"/>
                </a:lnTo>
                <a:lnTo>
                  <a:pt x="344" y="35"/>
                </a:lnTo>
                <a:lnTo>
                  <a:pt x="439" y="24"/>
                </a:lnTo>
                <a:lnTo>
                  <a:pt x="542" y="17"/>
                </a:lnTo>
                <a:lnTo>
                  <a:pt x="653" y="10"/>
                </a:lnTo>
                <a:lnTo>
                  <a:pt x="772" y="5"/>
                </a:lnTo>
                <a:lnTo>
                  <a:pt x="898" y="0"/>
                </a:lnTo>
                <a:close/>
              </a:path>
            </a:pathLst>
          </a:custGeom>
          <a:solidFill>
            <a:srgbClr val="002C8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1" name="Google Shape;881;p42"/>
          <p:cNvSpPr/>
          <p:nvPr/>
        </p:nvSpPr>
        <p:spPr>
          <a:xfrm>
            <a:off x="5091545" y="4505264"/>
            <a:ext cx="1931923" cy="631166"/>
          </a:xfrm>
          <a:custGeom>
            <a:rect b="b" l="l" r="r" t="t"/>
            <a:pathLst>
              <a:path extrusionOk="0" h="542" w="1659">
                <a:moveTo>
                  <a:pt x="719" y="0"/>
                </a:moveTo>
                <a:lnTo>
                  <a:pt x="942" y="0"/>
                </a:lnTo>
                <a:lnTo>
                  <a:pt x="1051" y="5"/>
                </a:lnTo>
                <a:lnTo>
                  <a:pt x="1154" y="10"/>
                </a:lnTo>
                <a:lnTo>
                  <a:pt x="1249" y="14"/>
                </a:lnTo>
                <a:lnTo>
                  <a:pt x="1338" y="24"/>
                </a:lnTo>
                <a:lnTo>
                  <a:pt x="1417" y="33"/>
                </a:lnTo>
                <a:lnTo>
                  <a:pt x="1487" y="42"/>
                </a:lnTo>
                <a:lnTo>
                  <a:pt x="1545" y="54"/>
                </a:lnTo>
                <a:lnTo>
                  <a:pt x="1594" y="66"/>
                </a:lnTo>
                <a:lnTo>
                  <a:pt x="1628" y="80"/>
                </a:lnTo>
                <a:lnTo>
                  <a:pt x="1652" y="94"/>
                </a:lnTo>
                <a:lnTo>
                  <a:pt x="1659" y="108"/>
                </a:lnTo>
                <a:lnTo>
                  <a:pt x="1659" y="542"/>
                </a:lnTo>
                <a:lnTo>
                  <a:pt x="0" y="542"/>
                </a:lnTo>
                <a:lnTo>
                  <a:pt x="0" y="108"/>
                </a:lnTo>
                <a:lnTo>
                  <a:pt x="7" y="94"/>
                </a:lnTo>
                <a:lnTo>
                  <a:pt x="30" y="80"/>
                </a:lnTo>
                <a:lnTo>
                  <a:pt x="65" y="66"/>
                </a:lnTo>
                <a:lnTo>
                  <a:pt x="114" y="54"/>
                </a:lnTo>
                <a:lnTo>
                  <a:pt x="172" y="42"/>
                </a:lnTo>
                <a:lnTo>
                  <a:pt x="244" y="33"/>
                </a:lnTo>
                <a:lnTo>
                  <a:pt x="323" y="24"/>
                </a:lnTo>
                <a:lnTo>
                  <a:pt x="412" y="14"/>
                </a:lnTo>
                <a:lnTo>
                  <a:pt x="507" y="10"/>
                </a:lnTo>
                <a:lnTo>
                  <a:pt x="609" y="5"/>
                </a:lnTo>
                <a:lnTo>
                  <a:pt x="719" y="0"/>
                </a:lnTo>
                <a:close/>
              </a:path>
            </a:pathLst>
          </a:custGeom>
          <a:solidFill>
            <a:srgbClr val="A5A5A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2" name="Google Shape;882;p42"/>
          <p:cNvSpPr/>
          <p:nvPr/>
        </p:nvSpPr>
        <p:spPr>
          <a:xfrm>
            <a:off x="5091545" y="5008333"/>
            <a:ext cx="1931923" cy="256193"/>
          </a:xfrm>
          <a:custGeom>
            <a:rect b="b" l="l" r="r" t="t"/>
            <a:pathLst>
              <a:path extrusionOk="0" h="220" w="1659">
                <a:moveTo>
                  <a:pt x="719" y="0"/>
                </a:moveTo>
                <a:lnTo>
                  <a:pt x="942" y="0"/>
                </a:lnTo>
                <a:lnTo>
                  <a:pt x="1051" y="5"/>
                </a:lnTo>
                <a:lnTo>
                  <a:pt x="1154" y="10"/>
                </a:lnTo>
                <a:lnTo>
                  <a:pt x="1249" y="14"/>
                </a:lnTo>
                <a:lnTo>
                  <a:pt x="1338" y="24"/>
                </a:lnTo>
                <a:lnTo>
                  <a:pt x="1417" y="33"/>
                </a:lnTo>
                <a:lnTo>
                  <a:pt x="1487" y="42"/>
                </a:lnTo>
                <a:lnTo>
                  <a:pt x="1545" y="54"/>
                </a:lnTo>
                <a:lnTo>
                  <a:pt x="1594" y="68"/>
                </a:lnTo>
                <a:lnTo>
                  <a:pt x="1628" y="80"/>
                </a:lnTo>
                <a:lnTo>
                  <a:pt x="1652" y="96"/>
                </a:lnTo>
                <a:lnTo>
                  <a:pt x="1659" y="110"/>
                </a:lnTo>
                <a:lnTo>
                  <a:pt x="1652" y="124"/>
                </a:lnTo>
                <a:lnTo>
                  <a:pt x="1628" y="140"/>
                </a:lnTo>
                <a:lnTo>
                  <a:pt x="1594" y="152"/>
                </a:lnTo>
                <a:lnTo>
                  <a:pt x="1545" y="166"/>
                </a:lnTo>
                <a:lnTo>
                  <a:pt x="1487" y="178"/>
                </a:lnTo>
                <a:lnTo>
                  <a:pt x="1417" y="187"/>
                </a:lnTo>
                <a:lnTo>
                  <a:pt x="1338" y="196"/>
                </a:lnTo>
                <a:lnTo>
                  <a:pt x="1249" y="206"/>
                </a:lnTo>
                <a:lnTo>
                  <a:pt x="1154" y="210"/>
                </a:lnTo>
                <a:lnTo>
                  <a:pt x="1051" y="215"/>
                </a:lnTo>
                <a:lnTo>
                  <a:pt x="942" y="220"/>
                </a:lnTo>
                <a:lnTo>
                  <a:pt x="719" y="220"/>
                </a:lnTo>
                <a:lnTo>
                  <a:pt x="609" y="215"/>
                </a:lnTo>
                <a:lnTo>
                  <a:pt x="507" y="210"/>
                </a:lnTo>
                <a:lnTo>
                  <a:pt x="412" y="206"/>
                </a:lnTo>
                <a:lnTo>
                  <a:pt x="323" y="196"/>
                </a:lnTo>
                <a:lnTo>
                  <a:pt x="244" y="187"/>
                </a:lnTo>
                <a:lnTo>
                  <a:pt x="172" y="178"/>
                </a:lnTo>
                <a:lnTo>
                  <a:pt x="114" y="166"/>
                </a:lnTo>
                <a:lnTo>
                  <a:pt x="65" y="152"/>
                </a:lnTo>
                <a:lnTo>
                  <a:pt x="30" y="140"/>
                </a:lnTo>
                <a:lnTo>
                  <a:pt x="7" y="124"/>
                </a:lnTo>
                <a:lnTo>
                  <a:pt x="0" y="110"/>
                </a:lnTo>
                <a:lnTo>
                  <a:pt x="7" y="96"/>
                </a:lnTo>
                <a:lnTo>
                  <a:pt x="30" y="80"/>
                </a:lnTo>
                <a:lnTo>
                  <a:pt x="65" y="68"/>
                </a:lnTo>
                <a:lnTo>
                  <a:pt x="114" y="54"/>
                </a:lnTo>
                <a:lnTo>
                  <a:pt x="172" y="42"/>
                </a:lnTo>
                <a:lnTo>
                  <a:pt x="244" y="33"/>
                </a:lnTo>
                <a:lnTo>
                  <a:pt x="323" y="24"/>
                </a:lnTo>
                <a:lnTo>
                  <a:pt x="412" y="14"/>
                </a:lnTo>
                <a:lnTo>
                  <a:pt x="507" y="10"/>
                </a:lnTo>
                <a:lnTo>
                  <a:pt x="609" y="5"/>
                </a:lnTo>
                <a:lnTo>
                  <a:pt x="719"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3" name="Google Shape;883;p42"/>
          <p:cNvSpPr/>
          <p:nvPr/>
        </p:nvSpPr>
        <p:spPr>
          <a:xfrm>
            <a:off x="5326776" y="5220273"/>
            <a:ext cx="1468448" cy="610204"/>
          </a:xfrm>
          <a:custGeom>
            <a:rect b="b" l="l" r="r" t="t"/>
            <a:pathLst>
              <a:path extrusionOk="0" h="524" w="1261">
                <a:moveTo>
                  <a:pt x="528" y="0"/>
                </a:moveTo>
                <a:lnTo>
                  <a:pt x="733" y="0"/>
                </a:lnTo>
                <a:lnTo>
                  <a:pt x="831" y="5"/>
                </a:lnTo>
                <a:lnTo>
                  <a:pt x="922" y="10"/>
                </a:lnTo>
                <a:lnTo>
                  <a:pt x="1003" y="17"/>
                </a:lnTo>
                <a:lnTo>
                  <a:pt x="1077" y="26"/>
                </a:lnTo>
                <a:lnTo>
                  <a:pt x="1140" y="35"/>
                </a:lnTo>
                <a:lnTo>
                  <a:pt x="1191" y="45"/>
                </a:lnTo>
                <a:lnTo>
                  <a:pt x="1229" y="59"/>
                </a:lnTo>
                <a:lnTo>
                  <a:pt x="1252" y="71"/>
                </a:lnTo>
                <a:lnTo>
                  <a:pt x="1261" y="85"/>
                </a:lnTo>
                <a:lnTo>
                  <a:pt x="1261" y="524"/>
                </a:lnTo>
                <a:lnTo>
                  <a:pt x="0" y="524"/>
                </a:lnTo>
                <a:lnTo>
                  <a:pt x="0" y="85"/>
                </a:lnTo>
                <a:lnTo>
                  <a:pt x="10" y="71"/>
                </a:lnTo>
                <a:lnTo>
                  <a:pt x="33" y="59"/>
                </a:lnTo>
                <a:lnTo>
                  <a:pt x="70" y="45"/>
                </a:lnTo>
                <a:lnTo>
                  <a:pt x="121" y="35"/>
                </a:lnTo>
                <a:lnTo>
                  <a:pt x="186" y="26"/>
                </a:lnTo>
                <a:lnTo>
                  <a:pt x="258" y="17"/>
                </a:lnTo>
                <a:lnTo>
                  <a:pt x="342" y="10"/>
                </a:lnTo>
                <a:lnTo>
                  <a:pt x="433" y="5"/>
                </a:lnTo>
                <a:lnTo>
                  <a:pt x="528" y="0"/>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4" name="Google Shape;884;p42"/>
          <p:cNvSpPr/>
          <p:nvPr/>
        </p:nvSpPr>
        <p:spPr>
          <a:xfrm>
            <a:off x="5326776" y="5731494"/>
            <a:ext cx="1468448" cy="193309"/>
          </a:xfrm>
          <a:custGeom>
            <a:rect b="b" l="l" r="r" t="t"/>
            <a:pathLst>
              <a:path extrusionOk="0" h="166" w="1261">
                <a:moveTo>
                  <a:pt x="528" y="0"/>
                </a:moveTo>
                <a:lnTo>
                  <a:pt x="733" y="0"/>
                </a:lnTo>
                <a:lnTo>
                  <a:pt x="831" y="5"/>
                </a:lnTo>
                <a:lnTo>
                  <a:pt x="922" y="10"/>
                </a:lnTo>
                <a:lnTo>
                  <a:pt x="1003" y="17"/>
                </a:lnTo>
                <a:lnTo>
                  <a:pt x="1077" y="26"/>
                </a:lnTo>
                <a:lnTo>
                  <a:pt x="1140" y="35"/>
                </a:lnTo>
                <a:lnTo>
                  <a:pt x="1191" y="45"/>
                </a:lnTo>
                <a:lnTo>
                  <a:pt x="1229" y="59"/>
                </a:lnTo>
                <a:lnTo>
                  <a:pt x="1252" y="70"/>
                </a:lnTo>
                <a:lnTo>
                  <a:pt x="1261" y="85"/>
                </a:lnTo>
                <a:lnTo>
                  <a:pt x="1252" y="99"/>
                </a:lnTo>
                <a:lnTo>
                  <a:pt x="1229" y="110"/>
                </a:lnTo>
                <a:lnTo>
                  <a:pt x="1191" y="122"/>
                </a:lnTo>
                <a:lnTo>
                  <a:pt x="1140" y="134"/>
                </a:lnTo>
                <a:lnTo>
                  <a:pt x="1077" y="143"/>
                </a:lnTo>
                <a:lnTo>
                  <a:pt x="1003" y="150"/>
                </a:lnTo>
                <a:lnTo>
                  <a:pt x="922" y="157"/>
                </a:lnTo>
                <a:lnTo>
                  <a:pt x="831" y="162"/>
                </a:lnTo>
                <a:lnTo>
                  <a:pt x="733" y="166"/>
                </a:lnTo>
                <a:lnTo>
                  <a:pt x="528" y="166"/>
                </a:lnTo>
                <a:lnTo>
                  <a:pt x="433" y="162"/>
                </a:lnTo>
                <a:lnTo>
                  <a:pt x="342" y="157"/>
                </a:lnTo>
                <a:lnTo>
                  <a:pt x="258" y="150"/>
                </a:lnTo>
                <a:lnTo>
                  <a:pt x="186" y="143"/>
                </a:lnTo>
                <a:lnTo>
                  <a:pt x="121" y="134"/>
                </a:lnTo>
                <a:lnTo>
                  <a:pt x="70" y="122"/>
                </a:lnTo>
                <a:lnTo>
                  <a:pt x="33" y="110"/>
                </a:lnTo>
                <a:lnTo>
                  <a:pt x="10" y="99"/>
                </a:lnTo>
                <a:lnTo>
                  <a:pt x="0" y="85"/>
                </a:lnTo>
                <a:lnTo>
                  <a:pt x="10" y="70"/>
                </a:lnTo>
                <a:lnTo>
                  <a:pt x="33" y="59"/>
                </a:lnTo>
                <a:lnTo>
                  <a:pt x="70" y="45"/>
                </a:lnTo>
                <a:lnTo>
                  <a:pt x="121" y="35"/>
                </a:lnTo>
                <a:lnTo>
                  <a:pt x="186" y="26"/>
                </a:lnTo>
                <a:lnTo>
                  <a:pt x="258" y="17"/>
                </a:lnTo>
                <a:lnTo>
                  <a:pt x="342" y="10"/>
                </a:lnTo>
                <a:lnTo>
                  <a:pt x="433" y="5"/>
                </a:lnTo>
                <a:lnTo>
                  <a:pt x="528" y="0"/>
                </a:lnTo>
                <a:close/>
              </a:path>
            </a:pathLst>
          </a:custGeom>
          <a:solidFill>
            <a:srgbClr val="7F7F7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885" name="Google Shape;885;p42"/>
          <p:cNvGrpSpPr/>
          <p:nvPr/>
        </p:nvGrpSpPr>
        <p:grpSpPr>
          <a:xfrm>
            <a:off x="5265088" y="2319215"/>
            <a:ext cx="1608135" cy="3321000"/>
            <a:chOff x="5275484" y="1658256"/>
            <a:chExt cx="1911315" cy="3947104"/>
          </a:xfrm>
        </p:grpSpPr>
        <p:sp>
          <p:nvSpPr>
            <p:cNvPr id="886" name="Google Shape;886;p42"/>
            <p:cNvSpPr txBox="1"/>
            <p:nvPr/>
          </p:nvSpPr>
          <p:spPr>
            <a:xfrm>
              <a:off x="5445620" y="1658256"/>
              <a:ext cx="1571042" cy="4389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Awareness</a:t>
              </a:r>
              <a:endParaRPr/>
            </a:p>
          </p:txBody>
        </p:sp>
        <p:sp>
          <p:nvSpPr>
            <p:cNvPr id="887" name="Google Shape;887;p42"/>
            <p:cNvSpPr txBox="1"/>
            <p:nvPr/>
          </p:nvSpPr>
          <p:spPr>
            <a:xfrm>
              <a:off x="5664150" y="2590799"/>
              <a:ext cx="1133986" cy="4389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Interest</a:t>
              </a:r>
              <a:endParaRPr/>
            </a:p>
          </p:txBody>
        </p:sp>
        <p:sp>
          <p:nvSpPr>
            <p:cNvPr id="888" name="Google Shape;888;p42"/>
            <p:cNvSpPr txBox="1"/>
            <p:nvPr/>
          </p:nvSpPr>
          <p:spPr>
            <a:xfrm>
              <a:off x="5275484" y="3519714"/>
              <a:ext cx="1911315" cy="4389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Consideration</a:t>
              </a:r>
              <a:endParaRPr/>
            </a:p>
          </p:txBody>
        </p:sp>
        <p:sp>
          <p:nvSpPr>
            <p:cNvPr id="889" name="Google Shape;889;p42"/>
            <p:cNvSpPr txBox="1"/>
            <p:nvPr/>
          </p:nvSpPr>
          <p:spPr>
            <a:xfrm>
              <a:off x="5481248" y="4372428"/>
              <a:ext cx="1499787" cy="43896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Evaluation</a:t>
              </a:r>
              <a:endParaRPr/>
            </a:p>
          </p:txBody>
        </p:sp>
        <p:sp>
          <p:nvSpPr>
            <p:cNvPr id="890" name="Google Shape;890;p42"/>
            <p:cNvSpPr txBox="1"/>
            <p:nvPr/>
          </p:nvSpPr>
          <p:spPr>
            <a:xfrm>
              <a:off x="5529664" y="5236028"/>
              <a:ext cx="1402948" cy="36933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Purchase</a:t>
              </a:r>
              <a:endParaRPr/>
            </a:p>
          </p:txBody>
        </p:sp>
      </p:grpSp>
      <p:sp>
        <p:nvSpPr>
          <p:cNvPr id="891" name="Google Shape;891;p42"/>
          <p:cNvSpPr txBox="1"/>
          <p:nvPr/>
        </p:nvSpPr>
        <p:spPr>
          <a:xfrm>
            <a:off x="8282226" y="2422718"/>
            <a:ext cx="1299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Insert your own text</a:t>
            </a:r>
            <a:endParaRPr b="1" sz="1400">
              <a:solidFill>
                <a:schemeClr val="dk1"/>
              </a:solidFill>
              <a:latin typeface="Arial"/>
              <a:ea typeface="Arial"/>
              <a:cs typeface="Arial"/>
              <a:sym typeface="Arial"/>
            </a:endParaRPr>
          </a:p>
        </p:txBody>
      </p:sp>
      <p:sp>
        <p:nvSpPr>
          <p:cNvPr id="892" name="Google Shape;892;p42"/>
          <p:cNvSpPr txBox="1"/>
          <p:nvPr/>
        </p:nvSpPr>
        <p:spPr>
          <a:xfrm>
            <a:off x="8282226" y="3903663"/>
            <a:ext cx="1299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Insert your own text</a:t>
            </a:r>
            <a:endParaRPr b="1" sz="1400">
              <a:solidFill>
                <a:schemeClr val="dk1"/>
              </a:solidFill>
              <a:latin typeface="Arial"/>
              <a:ea typeface="Arial"/>
              <a:cs typeface="Arial"/>
              <a:sym typeface="Arial"/>
            </a:endParaRPr>
          </a:p>
        </p:txBody>
      </p:sp>
      <p:sp>
        <p:nvSpPr>
          <p:cNvPr id="893" name="Google Shape;893;p42"/>
          <p:cNvSpPr txBox="1"/>
          <p:nvPr/>
        </p:nvSpPr>
        <p:spPr>
          <a:xfrm>
            <a:off x="8282226" y="5323408"/>
            <a:ext cx="1299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Insert your own text</a:t>
            </a:r>
            <a:endParaRPr b="1" sz="1400">
              <a:solidFill>
                <a:schemeClr val="dk1"/>
              </a:solidFill>
              <a:latin typeface="Arial"/>
              <a:ea typeface="Arial"/>
              <a:cs typeface="Arial"/>
              <a:sym typeface="Arial"/>
            </a:endParaRPr>
          </a:p>
        </p:txBody>
      </p:sp>
      <p:sp>
        <p:nvSpPr>
          <p:cNvPr id="894" name="Google Shape;894;p42"/>
          <p:cNvSpPr txBox="1"/>
          <p:nvPr/>
        </p:nvSpPr>
        <p:spPr>
          <a:xfrm>
            <a:off x="2610646" y="3148997"/>
            <a:ext cx="1299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Insert your own text</a:t>
            </a:r>
            <a:endParaRPr b="1" sz="1400">
              <a:solidFill>
                <a:schemeClr val="dk1"/>
              </a:solidFill>
              <a:latin typeface="Arial"/>
              <a:ea typeface="Arial"/>
              <a:cs typeface="Arial"/>
              <a:sym typeface="Arial"/>
            </a:endParaRPr>
          </a:p>
        </p:txBody>
      </p:sp>
      <p:sp>
        <p:nvSpPr>
          <p:cNvPr id="895" name="Google Shape;895;p42"/>
          <p:cNvSpPr txBox="1"/>
          <p:nvPr/>
        </p:nvSpPr>
        <p:spPr>
          <a:xfrm>
            <a:off x="2610646" y="4594633"/>
            <a:ext cx="1299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Insert your own text</a:t>
            </a:r>
            <a:endParaRPr b="1" sz="1400">
              <a:solidFill>
                <a:schemeClr val="dk1"/>
              </a:solidFill>
              <a:latin typeface="Arial"/>
              <a:ea typeface="Arial"/>
              <a:cs typeface="Arial"/>
              <a:sym typeface="Arial"/>
            </a:endParaRPr>
          </a:p>
        </p:txBody>
      </p:sp>
      <p:sp>
        <p:nvSpPr>
          <p:cNvPr id="896" name="Google Shape;896;p42"/>
          <p:cNvSpPr/>
          <p:nvPr/>
        </p:nvSpPr>
        <p:spPr>
          <a:xfrm>
            <a:off x="4434274"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7" name="Google Shape;897;p42"/>
          <p:cNvSpPr/>
          <p:nvPr/>
        </p:nvSpPr>
        <p:spPr>
          <a:xfrm>
            <a:off x="4814235"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8" name="Google Shape;898;p42"/>
          <p:cNvSpPr/>
          <p:nvPr/>
        </p:nvSpPr>
        <p:spPr>
          <a:xfrm>
            <a:off x="5194196"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9" name="Google Shape;899;p42"/>
          <p:cNvSpPr/>
          <p:nvPr/>
        </p:nvSpPr>
        <p:spPr>
          <a:xfrm>
            <a:off x="5574157"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0" name="Google Shape;900;p42"/>
          <p:cNvSpPr/>
          <p:nvPr/>
        </p:nvSpPr>
        <p:spPr>
          <a:xfrm>
            <a:off x="5954118"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1" name="Google Shape;901;p42"/>
          <p:cNvSpPr/>
          <p:nvPr/>
        </p:nvSpPr>
        <p:spPr>
          <a:xfrm>
            <a:off x="6334079"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2" name="Google Shape;902;p42"/>
          <p:cNvSpPr/>
          <p:nvPr/>
        </p:nvSpPr>
        <p:spPr>
          <a:xfrm>
            <a:off x="6714041"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3" name="Google Shape;903;p42"/>
          <p:cNvSpPr/>
          <p:nvPr/>
        </p:nvSpPr>
        <p:spPr>
          <a:xfrm>
            <a:off x="7094002"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4" name="Google Shape;904;p42"/>
          <p:cNvSpPr/>
          <p:nvPr/>
        </p:nvSpPr>
        <p:spPr>
          <a:xfrm>
            <a:off x="7473961" y="1614871"/>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5" name="Google Shape;905;p42"/>
          <p:cNvSpPr/>
          <p:nvPr/>
        </p:nvSpPr>
        <p:spPr>
          <a:xfrm>
            <a:off x="5566005" y="5976229"/>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6" name="Google Shape;906;p42"/>
          <p:cNvSpPr/>
          <p:nvPr/>
        </p:nvSpPr>
        <p:spPr>
          <a:xfrm>
            <a:off x="5945966" y="5976229"/>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7" name="Google Shape;907;p42"/>
          <p:cNvSpPr/>
          <p:nvPr/>
        </p:nvSpPr>
        <p:spPr>
          <a:xfrm>
            <a:off x="6325927" y="5976229"/>
            <a:ext cx="230068" cy="540548"/>
          </a:xfrm>
          <a:custGeom>
            <a:rect b="b" l="l" r="r" t="t"/>
            <a:pathLst>
              <a:path extrusionOk="0" h="628851" w="267652">
                <a:moveTo>
                  <a:pt x="55468" y="125784"/>
                </a:moveTo>
                <a:lnTo>
                  <a:pt x="212184" y="125784"/>
                </a:lnTo>
                <a:cubicBezTo>
                  <a:pt x="242818" y="125784"/>
                  <a:pt x="267652" y="150618"/>
                  <a:pt x="267652" y="181252"/>
                </a:cubicBezTo>
                <a:lnTo>
                  <a:pt x="265538" y="191723"/>
                </a:lnTo>
                <a:cubicBezTo>
                  <a:pt x="265538" y="245905"/>
                  <a:pt x="265537" y="300087"/>
                  <a:pt x="265537" y="354269"/>
                </a:cubicBezTo>
                <a:cubicBezTo>
                  <a:pt x="265537" y="367525"/>
                  <a:pt x="254790" y="378272"/>
                  <a:pt x="241534" y="378272"/>
                </a:cubicBezTo>
                <a:lnTo>
                  <a:pt x="241535" y="378271"/>
                </a:lnTo>
                <a:cubicBezTo>
                  <a:pt x="228279" y="378271"/>
                  <a:pt x="217532" y="367524"/>
                  <a:pt x="217532" y="354268"/>
                </a:cubicBezTo>
                <a:lnTo>
                  <a:pt x="217532" y="235640"/>
                </a:lnTo>
                <a:cubicBezTo>
                  <a:pt x="215826" y="236631"/>
                  <a:pt x="214015" y="236720"/>
                  <a:pt x="212184" y="236720"/>
                </a:cubicBezTo>
                <a:lnTo>
                  <a:pt x="204597" y="236720"/>
                </a:lnTo>
                <a:lnTo>
                  <a:pt x="204597" y="407666"/>
                </a:lnTo>
                <a:cubicBezTo>
                  <a:pt x="204892" y="407900"/>
                  <a:pt x="204895" y="408142"/>
                  <a:pt x="204895" y="408385"/>
                </a:cubicBezTo>
                <a:cubicBezTo>
                  <a:pt x="204895" y="472633"/>
                  <a:pt x="204894" y="536880"/>
                  <a:pt x="204894" y="601128"/>
                </a:cubicBezTo>
                <a:cubicBezTo>
                  <a:pt x="204894" y="616439"/>
                  <a:pt x="192482" y="628851"/>
                  <a:pt x="177171" y="628851"/>
                </a:cubicBezTo>
                <a:lnTo>
                  <a:pt x="177172" y="628850"/>
                </a:lnTo>
                <a:cubicBezTo>
                  <a:pt x="161861" y="628850"/>
                  <a:pt x="149449" y="616438"/>
                  <a:pt x="149449" y="601127"/>
                </a:cubicBezTo>
                <a:lnTo>
                  <a:pt x="149449" y="410345"/>
                </a:lnTo>
                <a:lnTo>
                  <a:pt x="116233" y="410345"/>
                </a:lnTo>
                <a:cubicBezTo>
                  <a:pt x="116233" y="473143"/>
                  <a:pt x="116232" y="535939"/>
                  <a:pt x="116232" y="598737"/>
                </a:cubicBezTo>
                <a:cubicBezTo>
                  <a:pt x="116232" y="614048"/>
                  <a:pt x="103820" y="626460"/>
                  <a:pt x="88509" y="626460"/>
                </a:cubicBezTo>
                <a:lnTo>
                  <a:pt x="88510" y="626459"/>
                </a:lnTo>
                <a:cubicBezTo>
                  <a:pt x="73199" y="626459"/>
                  <a:pt x="60787" y="614047"/>
                  <a:pt x="60787" y="598736"/>
                </a:cubicBezTo>
                <a:lnTo>
                  <a:pt x="60787" y="410345"/>
                </a:lnTo>
                <a:lnTo>
                  <a:pt x="60787" y="405994"/>
                </a:lnTo>
                <a:lnTo>
                  <a:pt x="60787" y="236720"/>
                </a:lnTo>
                <a:lnTo>
                  <a:pt x="55468" y="236720"/>
                </a:lnTo>
                <a:lnTo>
                  <a:pt x="48883" y="235391"/>
                </a:lnTo>
                <a:cubicBezTo>
                  <a:pt x="48882" y="275816"/>
                  <a:pt x="48882" y="316241"/>
                  <a:pt x="48882" y="356666"/>
                </a:cubicBezTo>
                <a:cubicBezTo>
                  <a:pt x="48882" y="369922"/>
                  <a:pt x="38135" y="380669"/>
                  <a:pt x="24879" y="380669"/>
                </a:cubicBezTo>
                <a:lnTo>
                  <a:pt x="24880" y="380668"/>
                </a:lnTo>
                <a:cubicBezTo>
                  <a:pt x="11624" y="380668"/>
                  <a:pt x="877" y="369921"/>
                  <a:pt x="877" y="356665"/>
                </a:cubicBezTo>
                <a:lnTo>
                  <a:pt x="877" y="192545"/>
                </a:lnTo>
                <a:lnTo>
                  <a:pt x="1820" y="190268"/>
                </a:lnTo>
                <a:cubicBezTo>
                  <a:pt x="259" y="187455"/>
                  <a:pt x="0" y="184384"/>
                  <a:pt x="0" y="181252"/>
                </a:cubicBezTo>
                <a:cubicBezTo>
                  <a:pt x="0" y="150618"/>
                  <a:pt x="24834" y="125784"/>
                  <a:pt x="55468" y="125784"/>
                </a:cubicBezTo>
                <a:close/>
                <a:moveTo>
                  <a:pt x="133372" y="0"/>
                </a:moveTo>
                <a:cubicBezTo>
                  <a:pt x="164819" y="0"/>
                  <a:pt x="190312" y="25493"/>
                  <a:pt x="190312" y="56940"/>
                </a:cubicBezTo>
                <a:cubicBezTo>
                  <a:pt x="190312" y="88387"/>
                  <a:pt x="164819" y="113880"/>
                  <a:pt x="133372" y="113880"/>
                </a:cubicBezTo>
                <a:cubicBezTo>
                  <a:pt x="101925" y="113880"/>
                  <a:pt x="76432" y="88387"/>
                  <a:pt x="76432" y="56940"/>
                </a:cubicBezTo>
                <a:cubicBezTo>
                  <a:pt x="76432" y="25493"/>
                  <a:pt x="101925" y="0"/>
                  <a:pt x="13337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43"/>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Sales Cycle</a:t>
            </a:r>
            <a:br>
              <a:rPr lang="en-US"/>
            </a:br>
            <a:r>
              <a:rPr b="0" lang="en-US"/>
              <a:t>Replace this text with the key takeaway of this Powerpoint slide.</a:t>
            </a:r>
            <a:endParaRPr/>
          </a:p>
        </p:txBody>
      </p:sp>
      <p:sp>
        <p:nvSpPr>
          <p:cNvPr id="913" name="Google Shape;913;p4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914" name="Google Shape;914;p43"/>
          <p:cNvSpPr txBox="1"/>
          <p:nvPr/>
        </p:nvSpPr>
        <p:spPr>
          <a:xfrm>
            <a:off x="613063" y="1735376"/>
            <a:ext cx="1101426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Sales Cycle</a:t>
            </a:r>
            <a:endParaRPr/>
          </a:p>
        </p:txBody>
      </p:sp>
      <p:sp>
        <p:nvSpPr>
          <p:cNvPr id="915" name="Google Shape;915;p43"/>
          <p:cNvSpPr txBox="1"/>
          <p:nvPr/>
        </p:nvSpPr>
        <p:spPr>
          <a:xfrm>
            <a:off x="808845" y="3928495"/>
            <a:ext cx="1440358"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Insert your own text to describe this step</a:t>
            </a:r>
            <a:endParaRPr/>
          </a:p>
        </p:txBody>
      </p:sp>
      <p:sp>
        <p:nvSpPr>
          <p:cNvPr id="916" name="Google Shape;916;p43"/>
          <p:cNvSpPr txBox="1"/>
          <p:nvPr/>
        </p:nvSpPr>
        <p:spPr>
          <a:xfrm>
            <a:off x="808845" y="3077185"/>
            <a:ext cx="1440358" cy="15234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lang="en-US" sz="1100">
                <a:solidFill>
                  <a:schemeClr val="dk2"/>
                </a:solidFill>
                <a:latin typeface="Arial"/>
                <a:ea typeface="Arial"/>
                <a:cs typeface="Arial"/>
                <a:sym typeface="Arial"/>
              </a:rPr>
              <a:t>Potential Leads</a:t>
            </a:r>
            <a:endParaRPr/>
          </a:p>
        </p:txBody>
      </p:sp>
      <p:sp>
        <p:nvSpPr>
          <p:cNvPr id="917" name="Google Shape;917;p43"/>
          <p:cNvSpPr txBox="1"/>
          <p:nvPr/>
        </p:nvSpPr>
        <p:spPr>
          <a:xfrm>
            <a:off x="2635635" y="3928495"/>
            <a:ext cx="1440358"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Insert your own text to describe this step</a:t>
            </a:r>
            <a:endParaRPr/>
          </a:p>
        </p:txBody>
      </p:sp>
      <p:sp>
        <p:nvSpPr>
          <p:cNvPr id="918" name="Google Shape;918;p43"/>
          <p:cNvSpPr txBox="1"/>
          <p:nvPr/>
        </p:nvSpPr>
        <p:spPr>
          <a:xfrm>
            <a:off x="2635635" y="3077185"/>
            <a:ext cx="1440358" cy="15234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lang="en-US" sz="1100">
                <a:solidFill>
                  <a:schemeClr val="dk2"/>
                </a:solidFill>
                <a:latin typeface="Arial"/>
                <a:ea typeface="Arial"/>
                <a:cs typeface="Arial"/>
                <a:sym typeface="Arial"/>
              </a:rPr>
              <a:t>Qualified Leads</a:t>
            </a:r>
            <a:endParaRPr/>
          </a:p>
        </p:txBody>
      </p:sp>
      <p:sp>
        <p:nvSpPr>
          <p:cNvPr id="919" name="Google Shape;919;p43"/>
          <p:cNvSpPr txBox="1"/>
          <p:nvPr/>
        </p:nvSpPr>
        <p:spPr>
          <a:xfrm>
            <a:off x="4462425" y="3928495"/>
            <a:ext cx="1440358"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Insert your own text to describe this step</a:t>
            </a:r>
            <a:endParaRPr/>
          </a:p>
        </p:txBody>
      </p:sp>
      <p:sp>
        <p:nvSpPr>
          <p:cNvPr id="920" name="Google Shape;920;p43"/>
          <p:cNvSpPr txBox="1"/>
          <p:nvPr/>
        </p:nvSpPr>
        <p:spPr>
          <a:xfrm>
            <a:off x="4462425" y="3077185"/>
            <a:ext cx="1440358" cy="15234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lang="en-US" sz="1100">
                <a:solidFill>
                  <a:schemeClr val="dk2"/>
                </a:solidFill>
                <a:latin typeface="Arial"/>
                <a:ea typeface="Arial"/>
                <a:cs typeface="Arial"/>
                <a:sym typeface="Arial"/>
              </a:rPr>
              <a:t>Buying Opportunities</a:t>
            </a:r>
            <a:endParaRPr/>
          </a:p>
        </p:txBody>
      </p:sp>
      <p:sp>
        <p:nvSpPr>
          <p:cNvPr id="921" name="Google Shape;921;p43"/>
          <p:cNvSpPr txBox="1"/>
          <p:nvPr/>
        </p:nvSpPr>
        <p:spPr>
          <a:xfrm>
            <a:off x="6289215" y="3928495"/>
            <a:ext cx="1440358"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Insert your own text to describe this step</a:t>
            </a:r>
            <a:endParaRPr/>
          </a:p>
        </p:txBody>
      </p:sp>
      <p:sp>
        <p:nvSpPr>
          <p:cNvPr id="922" name="Google Shape;922;p43"/>
          <p:cNvSpPr txBox="1"/>
          <p:nvPr/>
        </p:nvSpPr>
        <p:spPr>
          <a:xfrm>
            <a:off x="6289215" y="3077185"/>
            <a:ext cx="1440358" cy="15234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lang="en-US" sz="1100">
                <a:solidFill>
                  <a:schemeClr val="dk2"/>
                </a:solidFill>
                <a:latin typeface="Arial"/>
                <a:ea typeface="Arial"/>
                <a:cs typeface="Arial"/>
                <a:sym typeface="Arial"/>
              </a:rPr>
              <a:t>Close</a:t>
            </a:r>
            <a:endParaRPr/>
          </a:p>
        </p:txBody>
      </p:sp>
      <p:sp>
        <p:nvSpPr>
          <p:cNvPr id="923" name="Google Shape;923;p43"/>
          <p:cNvSpPr txBox="1"/>
          <p:nvPr/>
        </p:nvSpPr>
        <p:spPr>
          <a:xfrm>
            <a:off x="8116005" y="3928495"/>
            <a:ext cx="1440358"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Insert your own text to describe this step</a:t>
            </a:r>
            <a:endParaRPr/>
          </a:p>
        </p:txBody>
      </p:sp>
      <p:sp>
        <p:nvSpPr>
          <p:cNvPr id="924" name="Google Shape;924;p43"/>
          <p:cNvSpPr txBox="1"/>
          <p:nvPr/>
        </p:nvSpPr>
        <p:spPr>
          <a:xfrm>
            <a:off x="8116005" y="3077185"/>
            <a:ext cx="1440358" cy="15234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lang="en-US" sz="1100">
                <a:solidFill>
                  <a:schemeClr val="dk2"/>
                </a:solidFill>
                <a:latin typeface="Arial"/>
                <a:ea typeface="Arial"/>
                <a:cs typeface="Arial"/>
                <a:sym typeface="Arial"/>
              </a:rPr>
              <a:t>Implementation</a:t>
            </a:r>
            <a:endParaRPr/>
          </a:p>
        </p:txBody>
      </p:sp>
      <p:cxnSp>
        <p:nvCxnSpPr>
          <p:cNvPr id="925" name="Google Shape;925;p43"/>
          <p:cNvCxnSpPr/>
          <p:nvPr/>
        </p:nvCxnSpPr>
        <p:spPr>
          <a:xfrm>
            <a:off x="613063" y="3579014"/>
            <a:ext cx="10974099" cy="0"/>
          </a:xfrm>
          <a:prstGeom prst="straightConnector1">
            <a:avLst/>
          </a:prstGeom>
          <a:noFill/>
          <a:ln cap="flat" cmpd="sng" w="9525">
            <a:solidFill>
              <a:srgbClr val="A5A5A5"/>
            </a:solidFill>
            <a:prstDash val="dash"/>
            <a:miter lim="800000"/>
            <a:headEnd len="sm" w="sm" type="none"/>
            <a:tailEnd len="med" w="med" type="triangle"/>
          </a:ln>
        </p:spPr>
      </p:cxnSp>
      <p:sp>
        <p:nvSpPr>
          <p:cNvPr id="926" name="Google Shape;926;p43"/>
          <p:cNvSpPr/>
          <p:nvPr/>
        </p:nvSpPr>
        <p:spPr>
          <a:xfrm>
            <a:off x="1320514" y="3370122"/>
            <a:ext cx="417020" cy="417784"/>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1</a:t>
            </a:r>
            <a:endParaRPr/>
          </a:p>
        </p:txBody>
      </p:sp>
      <p:sp>
        <p:nvSpPr>
          <p:cNvPr id="927" name="Google Shape;927;p43"/>
          <p:cNvSpPr/>
          <p:nvPr/>
        </p:nvSpPr>
        <p:spPr>
          <a:xfrm>
            <a:off x="3147304" y="3370122"/>
            <a:ext cx="417020" cy="417784"/>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2</a:t>
            </a:r>
            <a:endParaRPr/>
          </a:p>
        </p:txBody>
      </p:sp>
      <p:sp>
        <p:nvSpPr>
          <p:cNvPr id="928" name="Google Shape;928;p43"/>
          <p:cNvSpPr/>
          <p:nvPr/>
        </p:nvSpPr>
        <p:spPr>
          <a:xfrm>
            <a:off x="4974094" y="3370122"/>
            <a:ext cx="417020" cy="417784"/>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3</a:t>
            </a:r>
            <a:endParaRPr/>
          </a:p>
        </p:txBody>
      </p:sp>
      <p:sp>
        <p:nvSpPr>
          <p:cNvPr id="929" name="Google Shape;929;p43"/>
          <p:cNvSpPr/>
          <p:nvPr/>
        </p:nvSpPr>
        <p:spPr>
          <a:xfrm>
            <a:off x="6800884" y="3370122"/>
            <a:ext cx="417020" cy="417784"/>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4</a:t>
            </a:r>
            <a:endParaRPr/>
          </a:p>
        </p:txBody>
      </p:sp>
      <p:sp>
        <p:nvSpPr>
          <p:cNvPr id="930" name="Google Shape;930;p43"/>
          <p:cNvSpPr/>
          <p:nvPr/>
        </p:nvSpPr>
        <p:spPr>
          <a:xfrm>
            <a:off x="8627674" y="3370122"/>
            <a:ext cx="417020" cy="417784"/>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5</a:t>
            </a:r>
            <a:endParaRPr/>
          </a:p>
        </p:txBody>
      </p:sp>
      <p:sp>
        <p:nvSpPr>
          <p:cNvPr id="931" name="Google Shape;931;p43"/>
          <p:cNvSpPr/>
          <p:nvPr/>
        </p:nvSpPr>
        <p:spPr>
          <a:xfrm>
            <a:off x="10454466" y="3370122"/>
            <a:ext cx="417020" cy="417784"/>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Arial"/>
                <a:ea typeface="Arial"/>
                <a:cs typeface="Arial"/>
                <a:sym typeface="Arial"/>
              </a:rPr>
              <a:t>6</a:t>
            </a:r>
            <a:endParaRPr/>
          </a:p>
        </p:txBody>
      </p:sp>
      <p:sp>
        <p:nvSpPr>
          <p:cNvPr id="932" name="Google Shape;932;p43"/>
          <p:cNvSpPr txBox="1"/>
          <p:nvPr/>
        </p:nvSpPr>
        <p:spPr>
          <a:xfrm>
            <a:off x="9942797" y="3928495"/>
            <a:ext cx="1440358"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Insert your own text to describe this step</a:t>
            </a:r>
            <a:endParaRPr/>
          </a:p>
        </p:txBody>
      </p:sp>
      <p:sp>
        <p:nvSpPr>
          <p:cNvPr id="933" name="Google Shape;933;p43"/>
          <p:cNvSpPr txBox="1"/>
          <p:nvPr/>
        </p:nvSpPr>
        <p:spPr>
          <a:xfrm>
            <a:off x="9942797" y="3077185"/>
            <a:ext cx="1440358" cy="15234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1" lang="en-US" sz="1100">
                <a:solidFill>
                  <a:schemeClr val="dk2"/>
                </a:solidFill>
                <a:latin typeface="Arial"/>
                <a:ea typeface="Arial"/>
                <a:cs typeface="Arial"/>
                <a:sym typeface="Arial"/>
              </a:rPr>
              <a:t>Customer Service</a:t>
            </a:r>
            <a:endParaRPr/>
          </a:p>
        </p:txBody>
      </p:sp>
      <p:sp>
        <p:nvSpPr>
          <p:cNvPr id="934" name="Google Shape;934;p43"/>
          <p:cNvSpPr/>
          <p:nvPr/>
        </p:nvSpPr>
        <p:spPr>
          <a:xfrm>
            <a:off x="7045036" y="2383640"/>
            <a:ext cx="4542126" cy="344065"/>
          </a:xfrm>
          <a:prstGeom prst="rect">
            <a:avLst/>
          </a:prstGeom>
          <a:solidFill>
            <a:srgbClr val="CCF5CB"/>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200">
                <a:solidFill>
                  <a:schemeClr val="dk2"/>
                </a:solidFill>
                <a:latin typeface="Arial"/>
                <a:ea typeface="Arial"/>
                <a:cs typeface="Arial"/>
                <a:sym typeface="Arial"/>
              </a:rPr>
              <a:t>Post-sales</a:t>
            </a:r>
            <a:endParaRPr/>
          </a:p>
        </p:txBody>
      </p:sp>
      <p:sp>
        <p:nvSpPr>
          <p:cNvPr id="935" name="Google Shape;935;p43"/>
          <p:cNvSpPr/>
          <p:nvPr/>
        </p:nvSpPr>
        <p:spPr>
          <a:xfrm>
            <a:off x="613063" y="2383640"/>
            <a:ext cx="6307282" cy="344065"/>
          </a:xfrm>
          <a:prstGeom prst="rect">
            <a:avLst/>
          </a:prstGeom>
          <a:solidFill>
            <a:srgbClr val="FFE699"/>
          </a:solid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None/>
            </a:pPr>
            <a:r>
              <a:rPr b="1" lang="en-US" sz="1200">
                <a:solidFill>
                  <a:schemeClr val="dk2"/>
                </a:solidFill>
                <a:latin typeface="Arial"/>
                <a:ea typeface="Arial"/>
                <a:cs typeface="Arial"/>
                <a:sym typeface="Arial"/>
              </a:rPr>
              <a:t>Pre-sales</a:t>
            </a:r>
            <a:endParaRPr/>
          </a:p>
        </p:txBody>
      </p:sp>
      <p:sp>
        <p:nvSpPr>
          <p:cNvPr id="936" name="Google Shape;936;p43"/>
          <p:cNvSpPr/>
          <p:nvPr/>
        </p:nvSpPr>
        <p:spPr>
          <a:xfrm>
            <a:off x="4777494" y="4942171"/>
            <a:ext cx="4267200" cy="1266940"/>
          </a:xfrm>
          <a:prstGeom prst="wedgeRoundRectCallout">
            <a:avLst>
              <a:gd fmla="val -41367" name="adj1"/>
              <a:gd fmla="val -112930"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This slide will significantly change depending on your industry</a:t>
            </a:r>
            <a:endParaRPr b="1" sz="1050">
              <a:solidFill>
                <a:srgbClr val="0C287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44"/>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Sales Channel Model</a:t>
            </a:r>
            <a:br>
              <a:rPr lang="en-US"/>
            </a:br>
            <a:r>
              <a:rPr b="0" lang="en-US"/>
              <a:t>Replace this text with the key takeaway of this Powerpoint slide.</a:t>
            </a:r>
            <a:endParaRPr/>
          </a:p>
        </p:txBody>
      </p:sp>
      <p:sp>
        <p:nvSpPr>
          <p:cNvPr id="942" name="Google Shape;942;p4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pic>
        <p:nvPicPr>
          <p:cNvPr descr="Store" id="943" name="Google Shape;943;p44"/>
          <p:cNvPicPr preferRelativeResize="0"/>
          <p:nvPr/>
        </p:nvPicPr>
        <p:blipFill rotWithShape="1">
          <a:blip r:embed="rId3">
            <a:alphaModFix/>
          </a:blip>
          <a:srcRect b="0" l="0" r="0" t="0"/>
          <a:stretch/>
        </p:blipFill>
        <p:spPr>
          <a:xfrm>
            <a:off x="1993739" y="3806902"/>
            <a:ext cx="619735" cy="619735"/>
          </a:xfrm>
          <a:prstGeom prst="rect">
            <a:avLst/>
          </a:prstGeom>
          <a:noFill/>
          <a:ln>
            <a:noFill/>
          </a:ln>
        </p:spPr>
      </p:pic>
      <p:pic>
        <p:nvPicPr>
          <p:cNvPr descr="Smart Phone" id="944" name="Google Shape;944;p44"/>
          <p:cNvPicPr preferRelativeResize="0"/>
          <p:nvPr/>
        </p:nvPicPr>
        <p:blipFill rotWithShape="1">
          <a:blip r:embed="rId4">
            <a:alphaModFix/>
          </a:blip>
          <a:srcRect b="0" l="0" r="0" t="0"/>
          <a:stretch/>
        </p:blipFill>
        <p:spPr>
          <a:xfrm>
            <a:off x="5779226" y="5203119"/>
            <a:ext cx="619735" cy="619735"/>
          </a:xfrm>
          <a:prstGeom prst="rect">
            <a:avLst/>
          </a:prstGeom>
          <a:noFill/>
          <a:ln>
            <a:noFill/>
          </a:ln>
        </p:spPr>
      </p:pic>
      <p:pic>
        <p:nvPicPr>
          <p:cNvPr descr="Call center" id="945" name="Google Shape;945;p44"/>
          <p:cNvPicPr preferRelativeResize="0"/>
          <p:nvPr/>
        </p:nvPicPr>
        <p:blipFill rotWithShape="1">
          <a:blip r:embed="rId5">
            <a:alphaModFix/>
          </a:blip>
          <a:srcRect b="0" l="0" r="0" t="0"/>
          <a:stretch/>
        </p:blipFill>
        <p:spPr>
          <a:xfrm>
            <a:off x="5779226" y="4477770"/>
            <a:ext cx="619735" cy="619735"/>
          </a:xfrm>
          <a:prstGeom prst="rect">
            <a:avLst/>
          </a:prstGeom>
          <a:noFill/>
          <a:ln>
            <a:noFill/>
          </a:ln>
        </p:spPr>
      </p:pic>
      <p:pic>
        <p:nvPicPr>
          <p:cNvPr descr="Store" id="946" name="Google Shape;946;p44"/>
          <p:cNvPicPr preferRelativeResize="0"/>
          <p:nvPr/>
        </p:nvPicPr>
        <p:blipFill rotWithShape="1">
          <a:blip r:embed="rId3">
            <a:alphaModFix/>
          </a:blip>
          <a:srcRect b="0" l="0" r="0" t="0"/>
          <a:stretch/>
        </p:blipFill>
        <p:spPr>
          <a:xfrm>
            <a:off x="5779226" y="3806902"/>
            <a:ext cx="619735" cy="619735"/>
          </a:xfrm>
          <a:prstGeom prst="rect">
            <a:avLst/>
          </a:prstGeom>
          <a:noFill/>
          <a:ln>
            <a:noFill/>
          </a:ln>
        </p:spPr>
      </p:pic>
      <p:pic>
        <p:nvPicPr>
          <p:cNvPr descr="Laptop" id="947" name="Google Shape;947;p44"/>
          <p:cNvPicPr preferRelativeResize="0"/>
          <p:nvPr/>
        </p:nvPicPr>
        <p:blipFill rotWithShape="1">
          <a:blip r:embed="rId6">
            <a:alphaModFix/>
          </a:blip>
          <a:srcRect b="0" l="0" r="0" t="0"/>
          <a:stretch/>
        </p:blipFill>
        <p:spPr>
          <a:xfrm>
            <a:off x="9564284" y="5873139"/>
            <a:ext cx="619735" cy="619735"/>
          </a:xfrm>
          <a:prstGeom prst="rect">
            <a:avLst/>
          </a:prstGeom>
          <a:noFill/>
          <a:ln>
            <a:noFill/>
          </a:ln>
        </p:spPr>
      </p:pic>
      <p:pic>
        <p:nvPicPr>
          <p:cNvPr descr="Smart Phone" id="948" name="Google Shape;948;p44"/>
          <p:cNvPicPr preferRelativeResize="0"/>
          <p:nvPr/>
        </p:nvPicPr>
        <p:blipFill rotWithShape="1">
          <a:blip r:embed="rId4">
            <a:alphaModFix/>
          </a:blip>
          <a:srcRect b="0" l="0" r="0" t="0"/>
          <a:stretch/>
        </p:blipFill>
        <p:spPr>
          <a:xfrm>
            <a:off x="9564284" y="5203119"/>
            <a:ext cx="619735" cy="619735"/>
          </a:xfrm>
          <a:prstGeom prst="rect">
            <a:avLst/>
          </a:prstGeom>
          <a:noFill/>
          <a:ln>
            <a:noFill/>
          </a:ln>
        </p:spPr>
      </p:pic>
      <p:pic>
        <p:nvPicPr>
          <p:cNvPr descr="Call center" id="949" name="Google Shape;949;p44"/>
          <p:cNvPicPr preferRelativeResize="0"/>
          <p:nvPr/>
        </p:nvPicPr>
        <p:blipFill rotWithShape="1">
          <a:blip r:embed="rId5">
            <a:alphaModFix/>
          </a:blip>
          <a:srcRect b="0" l="0" r="0" t="0"/>
          <a:stretch/>
        </p:blipFill>
        <p:spPr>
          <a:xfrm>
            <a:off x="9564284" y="4477770"/>
            <a:ext cx="619735" cy="619735"/>
          </a:xfrm>
          <a:prstGeom prst="rect">
            <a:avLst/>
          </a:prstGeom>
          <a:noFill/>
          <a:ln>
            <a:noFill/>
          </a:ln>
        </p:spPr>
      </p:pic>
      <p:pic>
        <p:nvPicPr>
          <p:cNvPr descr="Store" id="950" name="Google Shape;950;p44"/>
          <p:cNvPicPr preferRelativeResize="0"/>
          <p:nvPr/>
        </p:nvPicPr>
        <p:blipFill rotWithShape="1">
          <a:blip r:embed="rId3">
            <a:alphaModFix/>
          </a:blip>
          <a:srcRect b="0" l="0" r="0" t="0"/>
          <a:stretch/>
        </p:blipFill>
        <p:spPr>
          <a:xfrm>
            <a:off x="9564284" y="3806902"/>
            <a:ext cx="619735" cy="619735"/>
          </a:xfrm>
          <a:prstGeom prst="rect">
            <a:avLst/>
          </a:prstGeom>
          <a:noFill/>
          <a:ln>
            <a:noFill/>
          </a:ln>
        </p:spPr>
      </p:pic>
      <p:sp>
        <p:nvSpPr>
          <p:cNvPr id="951" name="Google Shape;951;p44"/>
          <p:cNvSpPr/>
          <p:nvPr/>
        </p:nvSpPr>
        <p:spPr>
          <a:xfrm>
            <a:off x="9569351" y="2124567"/>
            <a:ext cx="609600" cy="443720"/>
          </a:xfrm>
          <a:prstGeom prst="downArrow">
            <a:avLst>
              <a:gd fmla="val 50000" name="adj1"/>
              <a:gd fmla="val 50000" name="adj2"/>
            </a:avLst>
          </a:prstGeom>
          <a:solidFill>
            <a:srgbClr val="00B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952" name="Google Shape;952;p44"/>
          <p:cNvSpPr txBox="1"/>
          <p:nvPr/>
        </p:nvSpPr>
        <p:spPr>
          <a:xfrm>
            <a:off x="604837" y="2679295"/>
            <a:ext cx="3397538" cy="478381"/>
          </a:xfrm>
          <a:prstGeom prst="rect">
            <a:avLst/>
          </a:prstGeom>
          <a:solidFill>
            <a:schemeClr val="dk1"/>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Single channel</a:t>
            </a:r>
            <a:endParaRPr/>
          </a:p>
        </p:txBody>
      </p:sp>
      <p:sp>
        <p:nvSpPr>
          <p:cNvPr id="953" name="Google Shape;953;p44"/>
          <p:cNvSpPr txBox="1"/>
          <p:nvPr/>
        </p:nvSpPr>
        <p:spPr>
          <a:xfrm>
            <a:off x="4389893" y="2679295"/>
            <a:ext cx="3398400" cy="478381"/>
          </a:xfrm>
          <a:prstGeom prst="rect">
            <a:avLst/>
          </a:prstGeom>
          <a:solidFill>
            <a:schemeClr val="dk1"/>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Multi channel</a:t>
            </a:r>
            <a:endParaRPr/>
          </a:p>
        </p:txBody>
      </p:sp>
      <p:sp>
        <p:nvSpPr>
          <p:cNvPr id="954" name="Google Shape;954;p44"/>
          <p:cNvSpPr txBox="1"/>
          <p:nvPr/>
        </p:nvSpPr>
        <p:spPr>
          <a:xfrm>
            <a:off x="8174951" y="2679295"/>
            <a:ext cx="3398400" cy="478381"/>
          </a:xfrm>
          <a:prstGeom prst="rect">
            <a:avLst/>
          </a:prstGeom>
          <a:solidFill>
            <a:schemeClr val="dk1"/>
          </a:solid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Omni channel</a:t>
            </a:r>
            <a:endParaRPr/>
          </a:p>
        </p:txBody>
      </p:sp>
      <p:sp>
        <p:nvSpPr>
          <p:cNvPr id="955" name="Google Shape;955;p44"/>
          <p:cNvSpPr txBox="1"/>
          <p:nvPr/>
        </p:nvSpPr>
        <p:spPr>
          <a:xfrm>
            <a:off x="604837" y="3238950"/>
            <a:ext cx="33984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This focuses on one sales channel</a:t>
            </a:r>
            <a:endParaRPr/>
          </a:p>
        </p:txBody>
      </p:sp>
      <p:sp>
        <p:nvSpPr>
          <p:cNvPr id="956" name="Google Shape;956;p44"/>
          <p:cNvSpPr txBox="1"/>
          <p:nvPr/>
        </p:nvSpPr>
        <p:spPr>
          <a:xfrm>
            <a:off x="4389893" y="3238950"/>
            <a:ext cx="33984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This enables sales across multiple channels</a:t>
            </a:r>
            <a:endParaRPr/>
          </a:p>
        </p:txBody>
      </p:sp>
      <p:sp>
        <p:nvSpPr>
          <p:cNvPr id="957" name="Google Shape;957;p44"/>
          <p:cNvSpPr txBox="1"/>
          <p:nvPr/>
        </p:nvSpPr>
        <p:spPr>
          <a:xfrm>
            <a:off x="8174951" y="3238950"/>
            <a:ext cx="33984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Sales are made by using two or more channels simultaneously</a:t>
            </a:r>
            <a:endParaRPr/>
          </a:p>
        </p:txBody>
      </p:sp>
      <p:cxnSp>
        <p:nvCxnSpPr>
          <p:cNvPr id="958" name="Google Shape;958;p44"/>
          <p:cNvCxnSpPr/>
          <p:nvPr/>
        </p:nvCxnSpPr>
        <p:spPr>
          <a:xfrm>
            <a:off x="7981191" y="2679295"/>
            <a:ext cx="0" cy="3707650"/>
          </a:xfrm>
          <a:prstGeom prst="straightConnector1">
            <a:avLst/>
          </a:prstGeom>
          <a:noFill/>
          <a:ln cap="flat" cmpd="sng" w="9525">
            <a:solidFill>
              <a:srgbClr val="A5A5A5"/>
            </a:solidFill>
            <a:prstDash val="solid"/>
            <a:miter lim="800000"/>
            <a:headEnd len="sm" w="sm" type="none"/>
            <a:tailEnd len="sm" w="sm" type="none"/>
          </a:ln>
        </p:spPr>
      </p:cxnSp>
      <p:cxnSp>
        <p:nvCxnSpPr>
          <p:cNvPr id="959" name="Google Shape;959;p44"/>
          <p:cNvCxnSpPr/>
          <p:nvPr/>
        </p:nvCxnSpPr>
        <p:spPr>
          <a:xfrm>
            <a:off x="4196134" y="2679295"/>
            <a:ext cx="0" cy="3707650"/>
          </a:xfrm>
          <a:prstGeom prst="straightConnector1">
            <a:avLst/>
          </a:prstGeom>
          <a:noFill/>
          <a:ln cap="flat" cmpd="sng" w="9525">
            <a:solidFill>
              <a:srgbClr val="A5A5A5"/>
            </a:solidFill>
            <a:prstDash val="solid"/>
            <a:miter lim="800000"/>
            <a:headEnd len="sm" w="sm" type="none"/>
            <a:tailEnd len="sm" w="sm" type="none"/>
          </a:ln>
        </p:spPr>
      </p:cxnSp>
      <p:sp>
        <p:nvSpPr>
          <p:cNvPr id="960" name="Google Shape;960;p44"/>
          <p:cNvSpPr/>
          <p:nvPr/>
        </p:nvSpPr>
        <p:spPr>
          <a:xfrm>
            <a:off x="1934332" y="2124567"/>
            <a:ext cx="738548" cy="443720"/>
          </a:xfrm>
          <a:prstGeom prst="downArrow">
            <a:avLst>
              <a:gd fmla="val 50000" name="adj1"/>
              <a:gd fmla="val 50000" name="adj2"/>
            </a:avLst>
          </a:prstGeom>
          <a:solidFill>
            <a:srgbClr val="00B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961" name="Google Shape;961;p44"/>
          <p:cNvSpPr txBox="1"/>
          <p:nvPr/>
        </p:nvSpPr>
        <p:spPr>
          <a:xfrm>
            <a:off x="604837" y="1654881"/>
            <a:ext cx="339753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Arial"/>
                <a:ea typeface="Arial"/>
                <a:cs typeface="Arial"/>
                <a:sym typeface="Arial"/>
              </a:rPr>
              <a:t>Current state</a:t>
            </a:r>
            <a:endParaRPr/>
          </a:p>
        </p:txBody>
      </p:sp>
      <p:sp>
        <p:nvSpPr>
          <p:cNvPr id="962" name="Google Shape;962;p44"/>
          <p:cNvSpPr txBox="1"/>
          <p:nvPr/>
        </p:nvSpPr>
        <p:spPr>
          <a:xfrm>
            <a:off x="8175382" y="1654881"/>
            <a:ext cx="339753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chemeClr val="dk1"/>
                </a:solidFill>
                <a:latin typeface="Arial"/>
                <a:ea typeface="Arial"/>
                <a:cs typeface="Arial"/>
                <a:sym typeface="Arial"/>
              </a:rPr>
              <a:t>Target state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45"/>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Sales Channel Strategy</a:t>
            </a:r>
            <a:br>
              <a:rPr lang="en-US"/>
            </a:br>
            <a:r>
              <a:rPr b="0" lang="en-US"/>
              <a:t>Replace this text with the key takeaway of this Powerpoint slide.</a:t>
            </a:r>
            <a:endParaRPr/>
          </a:p>
        </p:txBody>
      </p:sp>
      <p:sp>
        <p:nvSpPr>
          <p:cNvPr id="968" name="Google Shape;968;p4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969" name="Google Shape;969;p45"/>
          <p:cNvGraphicFramePr/>
          <p:nvPr/>
        </p:nvGraphicFramePr>
        <p:xfrm>
          <a:off x="630381" y="1676133"/>
          <a:ext cx="3000000" cy="3000000"/>
        </p:xfrm>
        <a:graphic>
          <a:graphicData uri="http://schemas.openxmlformats.org/drawingml/2006/table">
            <a:tbl>
              <a:tblPr bandRow="1" firstRow="1">
                <a:noFill/>
                <a:tableStyleId>{148D8925-725D-496F-A5EC-AC3963D42A22}</a:tableStyleId>
              </a:tblPr>
              <a:tblGrid>
                <a:gridCol w="2191350"/>
                <a:gridCol w="2191350"/>
                <a:gridCol w="2191350"/>
                <a:gridCol w="2191350"/>
                <a:gridCol w="2191350"/>
              </a:tblGrid>
              <a:tr h="651425">
                <a:tc>
                  <a:txBody>
                    <a:bodyPr/>
                    <a:lstStyle/>
                    <a:p>
                      <a:pPr indent="0" lvl="0" marL="0" marR="0" rtl="0" algn="l">
                        <a:spcBef>
                          <a:spcPts val="0"/>
                        </a:spcBef>
                        <a:spcAft>
                          <a:spcPts val="0"/>
                        </a:spcAft>
                        <a:buNone/>
                      </a:pPr>
                      <a:r>
                        <a:rPr lang="en-US" sz="1600" u="none" cap="none" strike="noStrike">
                          <a:latin typeface="Arial"/>
                          <a:ea typeface="Arial"/>
                          <a:cs typeface="Arial"/>
                          <a:sym typeface="Arial"/>
                        </a:rPr>
                        <a:t>Sales </a:t>
                      </a:r>
                      <a:endParaRPr/>
                    </a:p>
                    <a:p>
                      <a:pPr indent="0" lvl="0" marL="0" marR="0" rtl="0" algn="l">
                        <a:spcBef>
                          <a:spcPts val="0"/>
                        </a:spcBef>
                        <a:spcAft>
                          <a:spcPts val="0"/>
                        </a:spcAft>
                        <a:buNone/>
                      </a:pPr>
                      <a:r>
                        <a:rPr lang="en-US" sz="1600">
                          <a:latin typeface="Arial"/>
                          <a:ea typeface="Arial"/>
                          <a:cs typeface="Arial"/>
                          <a:sym typeface="Arial"/>
                        </a:rPr>
                        <a:t>Channel</a:t>
                      </a:r>
                      <a:endParaRPr/>
                    </a:p>
                  </a:txBody>
                  <a:tcPr marT="45725" marB="45725" marR="91450" marL="91450" anchor="ctr">
                    <a:lnL cap="flat" cmpd="sng" w="9525">
                      <a:solidFill>
                        <a:schemeClr val="dk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600">
                          <a:latin typeface="Arial"/>
                          <a:ea typeface="Arial"/>
                          <a:cs typeface="Arial"/>
                          <a:sym typeface="Arial"/>
                        </a:rPr>
                        <a:t>Distribution Strategy</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600">
                          <a:latin typeface="Arial"/>
                          <a:ea typeface="Arial"/>
                          <a:cs typeface="Arial"/>
                          <a:sym typeface="Arial"/>
                        </a:rPr>
                        <a:t>Products &amp; Services</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600">
                          <a:latin typeface="Arial"/>
                          <a:ea typeface="Arial"/>
                          <a:cs typeface="Arial"/>
                          <a:sym typeface="Arial"/>
                        </a:rPr>
                        <a:t>Cost </a:t>
                      </a:r>
                      <a:endParaRPr/>
                    </a:p>
                    <a:p>
                      <a:pPr indent="0" lvl="0" marL="0" marR="0" rtl="0" algn="l">
                        <a:spcBef>
                          <a:spcPts val="0"/>
                        </a:spcBef>
                        <a:spcAft>
                          <a:spcPts val="0"/>
                        </a:spcAft>
                        <a:buNone/>
                      </a:pPr>
                      <a:r>
                        <a:rPr lang="en-US" sz="1600">
                          <a:latin typeface="Arial"/>
                          <a:ea typeface="Arial"/>
                          <a:cs typeface="Arial"/>
                          <a:sym typeface="Arial"/>
                        </a:rPr>
                        <a:t>Involved</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c>
                  <a:txBody>
                    <a:bodyPr/>
                    <a:lstStyle/>
                    <a:p>
                      <a:pPr indent="0" lvl="0" marL="0" marR="0" rtl="0" algn="l">
                        <a:spcBef>
                          <a:spcPts val="0"/>
                        </a:spcBef>
                        <a:spcAft>
                          <a:spcPts val="0"/>
                        </a:spcAft>
                        <a:buNone/>
                      </a:pPr>
                      <a:r>
                        <a:rPr lang="en-US" sz="1600">
                          <a:latin typeface="Arial"/>
                          <a:ea typeface="Arial"/>
                          <a:cs typeface="Arial"/>
                          <a:sym typeface="Arial"/>
                        </a:rPr>
                        <a:t>Expected </a:t>
                      </a:r>
                      <a:endParaRPr/>
                    </a:p>
                    <a:p>
                      <a:pPr indent="0" lvl="0" marL="0" marR="0" rtl="0" algn="l">
                        <a:spcBef>
                          <a:spcPts val="0"/>
                        </a:spcBef>
                        <a:spcAft>
                          <a:spcPts val="0"/>
                        </a:spcAft>
                        <a:buNone/>
                      </a:pPr>
                      <a:r>
                        <a:rPr lang="en-US" sz="1600">
                          <a:latin typeface="Arial"/>
                          <a:ea typeface="Arial"/>
                          <a:cs typeface="Arial"/>
                          <a:sym typeface="Arial"/>
                        </a:rPr>
                        <a:t>Sales</a:t>
                      </a:r>
                      <a:endParaRPr/>
                    </a:p>
                  </a:txBody>
                  <a:tcPr marT="45725" marB="45725" marR="91450" marL="9145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dk1"/>
                    </a:solidFill>
                  </a:tcPr>
                </a:tc>
              </a:tr>
              <a:tr h="1017400">
                <a:tc>
                  <a:txBody>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Physical store</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how you intent to use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List down all the products &amp; services sold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all the cost involved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percentage of sales expected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r h="1017400">
                <a:tc>
                  <a:txBody>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Website</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how you intent to use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List down all the products &amp; services sold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all the cost involved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percentage of sales expected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017400">
                <a:tc>
                  <a:txBody>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Mobile app</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how you intent to use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List down all the products &amp; services sold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all the cost involved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percentage of sales expected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1017400">
                <a:tc>
                  <a:txBody>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Call center</a:t>
                      </a:r>
                      <a:endParaRPr/>
                    </a:p>
                  </a:txBody>
                  <a:tcPr marT="45725" marB="45725" marR="91450" marL="91450">
                    <a:lnL cap="flat" cmpd="sng" w="9525">
                      <a:solidFill>
                        <a:schemeClr val="dk1"/>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how you intent to use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List down all the products &amp; services sold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all the cost involved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Arial"/>
                        <a:buNone/>
                      </a:pPr>
                      <a:r>
                        <a:rPr b="0" i="0" lang="en-US" sz="1200" u="none" cap="none" strike="noStrike">
                          <a:solidFill>
                            <a:schemeClr val="dk1"/>
                          </a:solidFill>
                          <a:latin typeface="Arial"/>
                          <a:ea typeface="Arial"/>
                          <a:cs typeface="Arial"/>
                          <a:sym typeface="Arial"/>
                        </a:rPr>
                        <a:t>List down percentage of sales expected on this sales channel</a:t>
                      </a:r>
                      <a:endParaRPr/>
                    </a:p>
                  </a:txBody>
                  <a:tcPr marT="45725" marB="45725" marR="91450" marL="91450">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970" name="Google Shape;970;p45"/>
          <p:cNvSpPr/>
          <p:nvPr/>
        </p:nvSpPr>
        <p:spPr>
          <a:xfrm>
            <a:off x="1219200" y="4953000"/>
            <a:ext cx="4267200" cy="1266940"/>
          </a:xfrm>
          <a:prstGeom prst="wedgeRoundRectCallout">
            <a:avLst>
              <a:gd fmla="val -37400" name="adj1"/>
              <a:gd fmla="val -8232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Replace this text by the relevant channel that you are using or will be using</a:t>
            </a:r>
            <a:endParaRPr b="1" sz="1050">
              <a:solidFill>
                <a:srgbClr val="0C287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46"/>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Sales Department Budget</a:t>
            </a:r>
            <a:br>
              <a:rPr lang="en-US"/>
            </a:br>
            <a:r>
              <a:rPr b="0" lang="en-US"/>
              <a:t>Replace this text with the key takeaway of this Powerpoint slide.</a:t>
            </a:r>
            <a:endParaRPr/>
          </a:p>
        </p:txBody>
      </p:sp>
      <p:sp>
        <p:nvSpPr>
          <p:cNvPr id="976" name="Google Shape;976;p4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pic>
        <p:nvPicPr>
          <p:cNvPr id="977" name="Google Shape;977;p46"/>
          <p:cNvPicPr preferRelativeResize="0"/>
          <p:nvPr/>
        </p:nvPicPr>
        <p:blipFill rotWithShape="1">
          <a:blip r:embed="rId3">
            <a:alphaModFix/>
          </a:blip>
          <a:srcRect b="0" l="0" r="0" t="0"/>
          <a:stretch/>
        </p:blipFill>
        <p:spPr>
          <a:xfrm>
            <a:off x="1631373" y="2563147"/>
            <a:ext cx="8929254" cy="3641736"/>
          </a:xfrm>
          <a:prstGeom prst="rect">
            <a:avLst/>
          </a:prstGeom>
          <a:noFill/>
          <a:ln>
            <a:noFill/>
          </a:ln>
        </p:spPr>
      </p:pic>
      <p:sp>
        <p:nvSpPr>
          <p:cNvPr id="978" name="Google Shape;978;p46"/>
          <p:cNvSpPr txBox="1"/>
          <p:nvPr/>
        </p:nvSpPr>
        <p:spPr>
          <a:xfrm>
            <a:off x="3276600" y="1723749"/>
            <a:ext cx="5638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Sales Department Budget </a:t>
            </a:r>
            <a:r>
              <a:rPr lang="en-US" sz="1800">
                <a:solidFill>
                  <a:schemeClr val="dk1"/>
                </a:solidFill>
                <a:latin typeface="Arial"/>
                <a:ea typeface="Arial"/>
                <a:cs typeface="Arial"/>
                <a:sym typeface="Arial"/>
              </a:rPr>
              <a:t>(US$)</a:t>
            </a:r>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Past &amp; Projection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47"/>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Sales Department Headcount</a:t>
            </a:r>
            <a:br>
              <a:rPr lang="en-US"/>
            </a:br>
            <a:r>
              <a:rPr b="0" lang="en-US"/>
              <a:t>Replace this text with the key takeaway of this Powerpoint slide.</a:t>
            </a:r>
            <a:endParaRPr/>
          </a:p>
        </p:txBody>
      </p:sp>
      <p:sp>
        <p:nvSpPr>
          <p:cNvPr id="984" name="Google Shape;984;p4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985" name="Google Shape;985;p47"/>
          <p:cNvSpPr txBox="1"/>
          <p:nvPr/>
        </p:nvSpPr>
        <p:spPr>
          <a:xfrm>
            <a:off x="3276600" y="1723749"/>
            <a:ext cx="5638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Sales Department Headcount</a:t>
            </a:r>
            <a:endParaRPr sz="1800">
              <a:solidFill>
                <a:schemeClr val="dk1"/>
              </a:solidFill>
              <a:latin typeface="Arial"/>
              <a:ea typeface="Arial"/>
              <a:cs typeface="Arial"/>
              <a:sym typeface="Arial"/>
            </a:endParaRPr>
          </a:p>
          <a:p>
            <a:pPr indent="0" lvl="0" marL="0" marR="0" rtl="0" algn="ctr">
              <a:spcBef>
                <a:spcPts val="0"/>
              </a:spcBef>
              <a:spcAft>
                <a:spcPts val="0"/>
              </a:spcAft>
              <a:buNone/>
            </a:pPr>
            <a:r>
              <a:rPr lang="en-US" sz="1800">
                <a:solidFill>
                  <a:schemeClr val="dk1"/>
                </a:solidFill>
                <a:latin typeface="Arial"/>
                <a:ea typeface="Arial"/>
                <a:cs typeface="Arial"/>
                <a:sym typeface="Arial"/>
              </a:rPr>
              <a:t>Past &amp; Projection</a:t>
            </a:r>
            <a:endParaRPr/>
          </a:p>
        </p:txBody>
      </p:sp>
      <p:pic>
        <p:nvPicPr>
          <p:cNvPr id="986" name="Google Shape;986;p47"/>
          <p:cNvPicPr preferRelativeResize="0"/>
          <p:nvPr/>
        </p:nvPicPr>
        <p:blipFill rotWithShape="1">
          <a:blip r:embed="rId3">
            <a:alphaModFix/>
          </a:blip>
          <a:srcRect b="0" l="0" r="0" t="0"/>
          <a:stretch/>
        </p:blipFill>
        <p:spPr>
          <a:xfrm>
            <a:off x="1631373" y="2563147"/>
            <a:ext cx="8928000" cy="381319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48"/>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a:t>
            </a:r>
            <a:br>
              <a:rPr lang="en-US" sz="2400"/>
            </a:br>
            <a:r>
              <a:rPr b="0" lang="en-US" sz="2400"/>
              <a:t>4.Sales Plan</a:t>
            </a:r>
            <a:endParaRPr/>
          </a:p>
        </p:txBody>
      </p:sp>
      <p:pic>
        <p:nvPicPr>
          <p:cNvPr descr="List" id="992" name="Google Shape;992;p48"/>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993" name="Google Shape;993;p48"/>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994" name="Google Shape;994;p48"/>
          <p:cNvSpPr/>
          <p:nvPr/>
        </p:nvSpPr>
        <p:spPr>
          <a:xfrm>
            <a:off x="5378700" y="159528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48"/>
          <p:cNvSpPr txBox="1"/>
          <p:nvPr/>
        </p:nvSpPr>
        <p:spPr>
          <a:xfrm>
            <a:off x="5588793" y="180537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1.Internal Analysis</a:t>
            </a:r>
            <a:endParaRPr/>
          </a:p>
        </p:txBody>
      </p:sp>
      <p:grpSp>
        <p:nvGrpSpPr>
          <p:cNvPr id="996" name="Google Shape;996;p48"/>
          <p:cNvGrpSpPr/>
          <p:nvPr/>
        </p:nvGrpSpPr>
        <p:grpSpPr>
          <a:xfrm>
            <a:off x="6662510" y="2631708"/>
            <a:ext cx="594154" cy="616618"/>
            <a:chOff x="3532270" y="886369"/>
            <a:chExt cx="507902" cy="527105"/>
          </a:xfrm>
        </p:grpSpPr>
        <p:sp>
          <p:nvSpPr>
            <p:cNvPr id="997" name="Google Shape;997;p48"/>
            <p:cNvSpPr/>
            <p:nvPr/>
          </p:nvSpPr>
          <p:spPr>
            <a:xfrm rot="2160000">
              <a:off x="3622675" y="942976"/>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48"/>
            <p:cNvSpPr txBox="1"/>
            <p:nvPr/>
          </p:nvSpPr>
          <p:spPr>
            <a:xfrm rot="2160000">
              <a:off x="3632045" y="996915"/>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999" name="Google Shape;999;p48"/>
          <p:cNvSpPr/>
          <p:nvPr/>
        </p:nvSpPr>
        <p:spPr>
          <a:xfrm>
            <a:off x="7123396" y="2862879"/>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00" name="Google Shape;1000;p48"/>
          <p:cNvSpPr txBox="1"/>
          <p:nvPr/>
        </p:nvSpPr>
        <p:spPr>
          <a:xfrm>
            <a:off x="7333489" y="3072972"/>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2.External Analysis</a:t>
            </a:r>
            <a:endParaRPr/>
          </a:p>
        </p:txBody>
      </p:sp>
      <p:grpSp>
        <p:nvGrpSpPr>
          <p:cNvPr id="1001" name="Google Shape;1001;p48"/>
          <p:cNvGrpSpPr/>
          <p:nvPr/>
        </p:nvGrpSpPr>
        <p:grpSpPr>
          <a:xfrm>
            <a:off x="7221474" y="4338624"/>
            <a:ext cx="578723" cy="513531"/>
            <a:chOff x="4010090" y="2345495"/>
            <a:chExt cx="494711" cy="438982"/>
          </a:xfrm>
        </p:grpSpPr>
        <p:sp>
          <p:nvSpPr>
            <p:cNvPr id="1002" name="Google Shape;1002;p48"/>
            <p:cNvSpPr/>
            <p:nvPr/>
          </p:nvSpPr>
          <p:spPr>
            <a:xfrm rot="6480000">
              <a:off x="4093900" y="235804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48"/>
            <p:cNvSpPr txBox="1"/>
            <p:nvPr/>
          </p:nvSpPr>
          <p:spPr>
            <a:xfrm rot="-4320000">
              <a:off x="4158126" y="239415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04" name="Google Shape;1004;p48"/>
          <p:cNvSpPr/>
          <p:nvPr/>
        </p:nvSpPr>
        <p:spPr>
          <a:xfrm>
            <a:off x="6456981" y="491389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48"/>
          <p:cNvSpPr txBox="1"/>
          <p:nvPr/>
        </p:nvSpPr>
        <p:spPr>
          <a:xfrm>
            <a:off x="6667074"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3.Sales Strategy</a:t>
            </a:r>
            <a:endParaRPr/>
          </a:p>
        </p:txBody>
      </p:sp>
      <p:grpSp>
        <p:nvGrpSpPr>
          <p:cNvPr id="1006" name="Google Shape;1006;p48"/>
          <p:cNvGrpSpPr/>
          <p:nvPr/>
        </p:nvGrpSpPr>
        <p:grpSpPr>
          <a:xfrm>
            <a:off x="5915511" y="5389105"/>
            <a:ext cx="382639" cy="484178"/>
            <a:chOff x="2893711" y="3243481"/>
            <a:chExt cx="327092" cy="413891"/>
          </a:xfrm>
        </p:grpSpPr>
        <p:sp>
          <p:nvSpPr>
            <p:cNvPr id="1007" name="Google Shape;1007;p48"/>
            <p:cNvSpPr/>
            <p:nvPr/>
          </p:nvSpPr>
          <p:spPr>
            <a:xfrm rot="10800000">
              <a:off x="2893711" y="324348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48"/>
            <p:cNvSpPr txBox="1"/>
            <p:nvPr/>
          </p:nvSpPr>
          <p:spPr>
            <a:xfrm>
              <a:off x="2991839" y="3326259"/>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09" name="Google Shape;1009;p48"/>
          <p:cNvSpPr/>
          <p:nvPr/>
        </p:nvSpPr>
        <p:spPr>
          <a:xfrm>
            <a:off x="4300418" y="4913894"/>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48"/>
          <p:cNvSpPr txBox="1"/>
          <p:nvPr/>
        </p:nvSpPr>
        <p:spPr>
          <a:xfrm>
            <a:off x="4510511"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4.Sales Plan</a:t>
            </a:r>
            <a:endParaRPr/>
          </a:p>
        </p:txBody>
      </p:sp>
      <p:grpSp>
        <p:nvGrpSpPr>
          <p:cNvPr id="1011" name="Google Shape;1011;p48"/>
          <p:cNvGrpSpPr/>
          <p:nvPr/>
        </p:nvGrpSpPr>
        <p:grpSpPr>
          <a:xfrm>
            <a:off x="4398496" y="4359222"/>
            <a:ext cx="578723" cy="513531"/>
            <a:chOff x="1596919" y="2363103"/>
            <a:chExt cx="494711" cy="438982"/>
          </a:xfrm>
        </p:grpSpPr>
        <p:sp>
          <p:nvSpPr>
            <p:cNvPr id="1012" name="Google Shape;1012;p48"/>
            <p:cNvSpPr/>
            <p:nvPr/>
          </p:nvSpPr>
          <p:spPr>
            <a:xfrm rot="-6480000">
              <a:off x="1680728" y="237564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48"/>
            <p:cNvSpPr txBox="1"/>
            <p:nvPr/>
          </p:nvSpPr>
          <p:spPr>
            <a:xfrm rot="4320000">
              <a:off x="1744954" y="2505090"/>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14" name="Google Shape;1014;p48"/>
          <p:cNvSpPr/>
          <p:nvPr/>
        </p:nvSpPr>
        <p:spPr>
          <a:xfrm>
            <a:off x="3634003" y="2862879"/>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48"/>
          <p:cNvSpPr txBox="1"/>
          <p:nvPr/>
        </p:nvSpPr>
        <p:spPr>
          <a:xfrm>
            <a:off x="3718836" y="3072972"/>
            <a:ext cx="124584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5.Implemen-tation</a:t>
            </a:r>
            <a:endParaRPr/>
          </a:p>
        </p:txBody>
      </p:sp>
      <p:grpSp>
        <p:nvGrpSpPr>
          <p:cNvPr id="1016" name="Google Shape;1016;p48"/>
          <p:cNvGrpSpPr/>
          <p:nvPr/>
        </p:nvGrpSpPr>
        <p:grpSpPr>
          <a:xfrm>
            <a:off x="4879426" y="2554570"/>
            <a:ext cx="594154" cy="616618"/>
            <a:chOff x="2040848" y="897252"/>
            <a:chExt cx="507902" cy="527105"/>
          </a:xfrm>
        </p:grpSpPr>
        <p:sp>
          <p:nvSpPr>
            <p:cNvPr id="1017" name="Google Shape;1017;p48"/>
            <p:cNvSpPr/>
            <p:nvPr/>
          </p:nvSpPr>
          <p:spPr>
            <a:xfrm rot="-2160000">
              <a:off x="2131253" y="95385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48"/>
            <p:cNvSpPr txBox="1"/>
            <p:nvPr/>
          </p:nvSpPr>
          <p:spPr>
            <a:xfrm rot="-2160000">
              <a:off x="2140623" y="106547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19" name="Google Shape;1019;p48"/>
          <p:cNvSpPr txBox="1"/>
          <p:nvPr/>
        </p:nvSpPr>
        <p:spPr>
          <a:xfrm>
            <a:off x="5203304" y="3503473"/>
            <a:ext cx="18447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Sales Strategy &amp; Plan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3" name="Shape 1023"/>
        <p:cNvGrpSpPr/>
        <p:nvPr/>
      </p:nvGrpSpPr>
      <p:grpSpPr>
        <a:xfrm>
          <a:off x="0" y="0"/>
          <a:ext cx="0" cy="0"/>
          <a:chOff x="0" y="0"/>
          <a:chExt cx="0" cy="0"/>
        </a:xfrm>
      </p:grpSpPr>
      <p:sp>
        <p:nvSpPr>
          <p:cNvPr id="1024" name="Google Shape;1024;p49"/>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1025" name="Google Shape;1025;p49"/>
          <p:cNvSpPr txBox="1"/>
          <p:nvPr>
            <p:ph idx="1" type="body"/>
          </p:nvPr>
        </p:nvSpPr>
        <p:spPr>
          <a:xfrm>
            <a:off x="1037492" y="1927644"/>
            <a:ext cx="9729788" cy="4555093"/>
          </a:xfrm>
          <a:prstGeom prst="rect">
            <a:avLst/>
          </a:prstGeom>
          <a:noFill/>
          <a:ln>
            <a:noFill/>
          </a:ln>
        </p:spPr>
        <p:txBody>
          <a:bodyPr anchorCtr="0" anchor="t" bIns="45700" lIns="91425" spcFirstLastPara="1" rIns="91425" wrap="square" tIns="45700">
            <a:spAutoFit/>
          </a:bodyPr>
          <a:lstStyle/>
          <a:p>
            <a:pPr indent="-342900" lvl="0" marL="457200" rtl="0" algn="l">
              <a:lnSpc>
                <a:spcPct val="100000"/>
              </a:lnSpc>
              <a:spcBef>
                <a:spcPts val="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Internal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External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Strategy</a:t>
            </a:r>
            <a:endParaRPr/>
          </a:p>
          <a:p>
            <a:pPr indent="-342900" lvl="0" marL="457200" rtl="0" algn="l">
              <a:lnSpc>
                <a:spcPct val="100000"/>
              </a:lnSpc>
              <a:spcBef>
                <a:spcPts val="6000"/>
              </a:spcBef>
              <a:spcAft>
                <a:spcPts val="0"/>
              </a:spcAft>
              <a:buClr>
                <a:srgbClr val="002776"/>
              </a:buClr>
              <a:buSzPts val="1800"/>
              <a:buFont typeface="Arial"/>
              <a:buAutoNum type="arabicPeriod"/>
            </a:pPr>
            <a:r>
              <a:rPr b="1" lang="en-US">
                <a:solidFill>
                  <a:srgbClr val="002776"/>
                </a:solidFill>
                <a:latin typeface="Arial"/>
                <a:ea typeface="Arial"/>
                <a:cs typeface="Arial"/>
                <a:sym typeface="Arial"/>
              </a:rPr>
              <a:t>Sales Plan</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Implementation</a:t>
            </a:r>
            <a:endParaRPr/>
          </a:p>
        </p:txBody>
      </p:sp>
      <p:sp>
        <p:nvSpPr>
          <p:cNvPr id="1026" name="Google Shape;1026;p49"/>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ist" id="1027" name="Google Shape;1027;p49"/>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028" name="Google Shape;1028;p49"/>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029" name="Google Shape;1029;p49"/>
          <p:cNvSpPr/>
          <p:nvPr/>
        </p:nvSpPr>
        <p:spPr>
          <a:xfrm>
            <a:off x="5993713" y="2543866"/>
            <a:ext cx="3733800" cy="1143000"/>
          </a:xfrm>
          <a:prstGeom prst="wedgeRoundRectCallout">
            <a:avLst>
              <a:gd fmla="val -80574" name="adj1"/>
              <a:gd fmla="val 1706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Second option to formalize your table of contents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50"/>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Plan of actions</a:t>
            </a:r>
            <a:br>
              <a:rPr lang="en-US"/>
            </a:br>
            <a:r>
              <a:rPr b="0" lang="en-US"/>
              <a:t>Replace this text with the key takeaway of this Powerpoint slide.</a:t>
            </a:r>
            <a:endParaRPr/>
          </a:p>
        </p:txBody>
      </p:sp>
      <p:sp>
        <p:nvSpPr>
          <p:cNvPr id="1035" name="Google Shape;1035;p50"/>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1036" name="Google Shape;1036;p50"/>
          <p:cNvGraphicFramePr/>
          <p:nvPr/>
        </p:nvGraphicFramePr>
        <p:xfrm>
          <a:off x="608403" y="1681630"/>
          <a:ext cx="3000000" cy="3000000"/>
        </p:xfrm>
        <a:graphic>
          <a:graphicData uri="http://schemas.openxmlformats.org/drawingml/2006/table">
            <a:tbl>
              <a:tblPr>
                <a:noFill/>
                <a:tableStyleId>{148D8925-725D-496F-A5EC-AC3963D42A22}</a:tableStyleId>
              </a:tblPr>
              <a:tblGrid>
                <a:gridCol w="2283325"/>
                <a:gridCol w="724625"/>
                <a:gridCol w="724625"/>
                <a:gridCol w="724625"/>
                <a:gridCol w="724625"/>
                <a:gridCol w="724625"/>
                <a:gridCol w="724625"/>
                <a:gridCol w="724625"/>
                <a:gridCol w="724625"/>
                <a:gridCol w="724625"/>
                <a:gridCol w="724625"/>
                <a:gridCol w="724625"/>
                <a:gridCol w="724625"/>
              </a:tblGrid>
              <a:tr h="525225">
                <a:tc>
                  <a:txBody>
                    <a:bodyPr/>
                    <a:lstStyle/>
                    <a:p>
                      <a:pPr indent="0" lvl="0" marL="0" marR="0" rtl="0" algn="r">
                        <a:lnSpc>
                          <a:spcPct val="106000"/>
                        </a:lnSpc>
                        <a:spcBef>
                          <a:spcPts val="0"/>
                        </a:spcBef>
                        <a:spcAft>
                          <a:spcPts val="0"/>
                        </a:spcAft>
                        <a:buClr>
                          <a:schemeClr val="dk1"/>
                        </a:buClr>
                        <a:buSzPts val="1200"/>
                        <a:buFont typeface="Noto Sans Symbols"/>
                        <a:buNone/>
                      </a:pPr>
                      <a:r>
                        <a:rPr b="1" lang="en-US" sz="1200" u="none" cap="none" strike="noStrike">
                          <a:solidFill>
                            <a:schemeClr val="dk2"/>
                          </a:solidFill>
                        </a:rPr>
                        <a:t>Month</a:t>
                      </a:r>
                      <a:endParaRPr b="1" i="0" sz="1200" u="none" cap="none" strike="noStrike">
                        <a:solidFill>
                          <a:schemeClr val="dk2"/>
                        </a:solidFill>
                        <a:latin typeface="Arial"/>
                        <a:ea typeface="Arial"/>
                        <a:cs typeface="Arial"/>
                        <a:sym typeface="Arial"/>
                      </a:endParaRPr>
                    </a:p>
                  </a:txBody>
                  <a:tcPr marT="46800" marB="46800" marR="86400" marL="86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Jan</a:t>
                      </a:r>
                      <a:endParaRPr/>
                    </a:p>
                  </a:txBody>
                  <a:tcPr marT="46800" marB="46800" marR="86400" marL="86400" anchor="ctr">
                    <a:lnL cap="flat" cmpd="sng" w="9525">
                      <a:solidFill>
                        <a:srgbClr val="000000">
                          <a:alpha val="0"/>
                        </a:srgbClr>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lang="en-US" sz="1200" u="none" cap="none" strike="noStrike">
                          <a:solidFill>
                            <a:schemeClr val="lt1"/>
                          </a:solidFill>
                        </a:rPr>
                        <a:t>Feb</a:t>
                      </a:r>
                      <a:endParaRPr b="1" i="0" sz="1200" u="none" cap="none" strike="noStrike">
                        <a:solidFill>
                          <a:schemeClr val="lt1"/>
                        </a:solidFill>
                        <a:latin typeface="Arial"/>
                        <a:ea typeface="Arial"/>
                        <a:cs typeface="Arial"/>
                        <a:sym typeface="Arial"/>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Mar</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Apr</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May</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Jun</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Jul</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Aug</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Sep</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Oct</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Nov</a:t>
                      </a:r>
                      <a:endParaRPr/>
                    </a:p>
                  </a:txBody>
                  <a:tcPr marT="46800" marB="46800" marR="86400" marL="864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1" i="0" lang="en-US" sz="1200" u="none" cap="none" strike="noStrike">
                          <a:solidFill>
                            <a:schemeClr val="lt1"/>
                          </a:solidFill>
                          <a:latin typeface="Arial"/>
                          <a:ea typeface="Arial"/>
                          <a:cs typeface="Arial"/>
                          <a:sym typeface="Arial"/>
                        </a:rPr>
                        <a:t>Dec</a:t>
                      </a:r>
                      <a:endParaRPr/>
                    </a:p>
                  </a:txBody>
                  <a:tcPr marT="46800" marB="46800" marR="86400" marL="86400" anchor="ctr">
                    <a:lnL cap="flat" cmpd="sng" w="12700">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1.1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rgbClr val="000000">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1.2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1.3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2.1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2.2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2.3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3.1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3.2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2500">
                <a:tc>
                  <a:txBody>
                    <a:bodyPr/>
                    <a:lstStyle/>
                    <a:p>
                      <a:pPr indent="0" lvl="0" marL="0" marR="0" rtl="0" algn="l">
                        <a:lnSpc>
                          <a:spcPct val="106000"/>
                        </a:lnSpc>
                        <a:spcBef>
                          <a:spcPts val="0"/>
                        </a:spcBef>
                        <a:spcAft>
                          <a:spcPts val="0"/>
                        </a:spcAft>
                        <a:buClr>
                          <a:schemeClr val="dk2"/>
                        </a:buClr>
                        <a:buSzPts val="1050"/>
                        <a:buFont typeface="Arial"/>
                        <a:buNone/>
                      </a:pPr>
                      <a:r>
                        <a:rPr lang="en-US" sz="1050" u="none" cap="none" strike="noStrike">
                          <a:solidFill>
                            <a:schemeClr val="lt1"/>
                          </a:solidFill>
                        </a:rPr>
                        <a:t>3.3 Insert name of initiative</a:t>
                      </a:r>
                      <a:endParaRPr b="0" i="0" sz="1050" u="none" cap="none" strike="noStrike">
                        <a:solidFill>
                          <a:schemeClr val="lt1"/>
                        </a:solidFill>
                        <a:latin typeface="Arial"/>
                        <a:ea typeface="Arial"/>
                        <a:cs typeface="Arial"/>
                        <a:sym typeface="Arial"/>
                      </a:endParaRPr>
                    </a:p>
                  </a:txBody>
                  <a:tcPr marT="46800" marB="4680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800" marB="4680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037" name="Google Shape;1037;p50"/>
          <p:cNvSpPr/>
          <p:nvPr/>
        </p:nvSpPr>
        <p:spPr>
          <a:xfrm>
            <a:off x="3040165" y="2343497"/>
            <a:ext cx="3197290" cy="185737"/>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38" name="Google Shape;1038;p50"/>
          <p:cNvSpPr/>
          <p:nvPr/>
        </p:nvSpPr>
        <p:spPr>
          <a:xfrm>
            <a:off x="5291318" y="2849228"/>
            <a:ext cx="2283778" cy="185738"/>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39" name="Google Shape;1039;p50"/>
          <p:cNvSpPr/>
          <p:nvPr/>
        </p:nvSpPr>
        <p:spPr>
          <a:xfrm>
            <a:off x="8588462" y="6064597"/>
            <a:ext cx="2675283" cy="185738"/>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40" name="Google Shape;1040;p50"/>
          <p:cNvSpPr/>
          <p:nvPr/>
        </p:nvSpPr>
        <p:spPr>
          <a:xfrm>
            <a:off x="3040165" y="3262091"/>
            <a:ext cx="6929636" cy="185737"/>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41" name="Google Shape;1041;p50"/>
          <p:cNvSpPr/>
          <p:nvPr/>
        </p:nvSpPr>
        <p:spPr>
          <a:xfrm>
            <a:off x="3040165" y="3713500"/>
            <a:ext cx="3197290" cy="185737"/>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42" name="Google Shape;1042;p50"/>
          <p:cNvSpPr/>
          <p:nvPr/>
        </p:nvSpPr>
        <p:spPr>
          <a:xfrm>
            <a:off x="5291318" y="4219231"/>
            <a:ext cx="2283778" cy="185738"/>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43" name="Google Shape;1043;p50"/>
          <p:cNvSpPr/>
          <p:nvPr/>
        </p:nvSpPr>
        <p:spPr>
          <a:xfrm>
            <a:off x="8588462" y="5124797"/>
            <a:ext cx="2675283" cy="185738"/>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44" name="Google Shape;1044;p50"/>
          <p:cNvSpPr/>
          <p:nvPr/>
        </p:nvSpPr>
        <p:spPr>
          <a:xfrm>
            <a:off x="5291318" y="4639643"/>
            <a:ext cx="2283778" cy="185738"/>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045" name="Google Shape;1045;p50"/>
          <p:cNvSpPr/>
          <p:nvPr/>
        </p:nvSpPr>
        <p:spPr>
          <a:xfrm>
            <a:off x="5291318" y="5607397"/>
            <a:ext cx="2283778" cy="185738"/>
          </a:xfrm>
          <a:prstGeom prst="roundRect">
            <a:avLst>
              <a:gd fmla="val 16667" name="adj"/>
            </a:avLst>
          </a:prstGeom>
          <a:solidFill>
            <a:srgbClr val="2F75FF"/>
          </a:solidFill>
          <a:ln>
            <a:noFill/>
          </a:ln>
        </p:spPr>
        <p:txBody>
          <a:bodyPr anchorCtr="0" anchor="ctr" bIns="46800" lIns="93600" spcFirstLastPara="1" rIns="93600" wrap="square" tIns="468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51"/>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a:t>
            </a:r>
            <a:br>
              <a:rPr lang="en-US" sz="2400"/>
            </a:br>
            <a:r>
              <a:rPr b="0" lang="en-US" sz="2400"/>
              <a:t>4.Sales Plan</a:t>
            </a:r>
            <a:endParaRPr/>
          </a:p>
        </p:txBody>
      </p:sp>
      <p:pic>
        <p:nvPicPr>
          <p:cNvPr descr="List" id="1051" name="Google Shape;1051;p51"/>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052" name="Google Shape;1052;p51"/>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053" name="Google Shape;1053;p51"/>
          <p:cNvSpPr/>
          <p:nvPr/>
        </p:nvSpPr>
        <p:spPr>
          <a:xfrm>
            <a:off x="5378700" y="159528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51"/>
          <p:cNvSpPr txBox="1"/>
          <p:nvPr/>
        </p:nvSpPr>
        <p:spPr>
          <a:xfrm>
            <a:off x="5588793" y="180537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1.Internal Analysis</a:t>
            </a:r>
            <a:endParaRPr/>
          </a:p>
        </p:txBody>
      </p:sp>
      <p:grpSp>
        <p:nvGrpSpPr>
          <p:cNvPr id="1055" name="Google Shape;1055;p51"/>
          <p:cNvGrpSpPr/>
          <p:nvPr/>
        </p:nvGrpSpPr>
        <p:grpSpPr>
          <a:xfrm>
            <a:off x="6662510" y="2631708"/>
            <a:ext cx="594154" cy="616618"/>
            <a:chOff x="3532270" y="886369"/>
            <a:chExt cx="507902" cy="527105"/>
          </a:xfrm>
        </p:grpSpPr>
        <p:sp>
          <p:nvSpPr>
            <p:cNvPr id="1056" name="Google Shape;1056;p51"/>
            <p:cNvSpPr/>
            <p:nvPr/>
          </p:nvSpPr>
          <p:spPr>
            <a:xfrm rot="2160000">
              <a:off x="3622675" y="942976"/>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1"/>
            <p:cNvSpPr txBox="1"/>
            <p:nvPr/>
          </p:nvSpPr>
          <p:spPr>
            <a:xfrm rot="2160000">
              <a:off x="3632045" y="996915"/>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58" name="Google Shape;1058;p51"/>
          <p:cNvSpPr/>
          <p:nvPr/>
        </p:nvSpPr>
        <p:spPr>
          <a:xfrm>
            <a:off x="7123396" y="2862879"/>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059" name="Google Shape;1059;p51"/>
          <p:cNvSpPr txBox="1"/>
          <p:nvPr/>
        </p:nvSpPr>
        <p:spPr>
          <a:xfrm>
            <a:off x="7333489" y="3072972"/>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2.External Analysis</a:t>
            </a:r>
            <a:endParaRPr/>
          </a:p>
        </p:txBody>
      </p:sp>
      <p:grpSp>
        <p:nvGrpSpPr>
          <p:cNvPr id="1060" name="Google Shape;1060;p51"/>
          <p:cNvGrpSpPr/>
          <p:nvPr/>
        </p:nvGrpSpPr>
        <p:grpSpPr>
          <a:xfrm>
            <a:off x="7221474" y="4338624"/>
            <a:ext cx="578723" cy="513531"/>
            <a:chOff x="4010090" y="2345495"/>
            <a:chExt cx="494711" cy="438982"/>
          </a:xfrm>
        </p:grpSpPr>
        <p:sp>
          <p:nvSpPr>
            <p:cNvPr id="1061" name="Google Shape;1061;p51"/>
            <p:cNvSpPr/>
            <p:nvPr/>
          </p:nvSpPr>
          <p:spPr>
            <a:xfrm rot="6480000">
              <a:off x="4093900" y="235804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1"/>
            <p:cNvSpPr txBox="1"/>
            <p:nvPr/>
          </p:nvSpPr>
          <p:spPr>
            <a:xfrm rot="-4320000">
              <a:off x="4158126" y="239415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63" name="Google Shape;1063;p51"/>
          <p:cNvSpPr/>
          <p:nvPr/>
        </p:nvSpPr>
        <p:spPr>
          <a:xfrm>
            <a:off x="6456981" y="491389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1"/>
          <p:cNvSpPr txBox="1"/>
          <p:nvPr/>
        </p:nvSpPr>
        <p:spPr>
          <a:xfrm>
            <a:off x="6667074"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3.Sales Strategy</a:t>
            </a:r>
            <a:endParaRPr/>
          </a:p>
        </p:txBody>
      </p:sp>
      <p:grpSp>
        <p:nvGrpSpPr>
          <p:cNvPr id="1065" name="Google Shape;1065;p51"/>
          <p:cNvGrpSpPr/>
          <p:nvPr/>
        </p:nvGrpSpPr>
        <p:grpSpPr>
          <a:xfrm>
            <a:off x="5915511" y="5389105"/>
            <a:ext cx="382639" cy="484178"/>
            <a:chOff x="2893711" y="3243481"/>
            <a:chExt cx="327092" cy="413891"/>
          </a:xfrm>
        </p:grpSpPr>
        <p:sp>
          <p:nvSpPr>
            <p:cNvPr id="1066" name="Google Shape;1066;p51"/>
            <p:cNvSpPr/>
            <p:nvPr/>
          </p:nvSpPr>
          <p:spPr>
            <a:xfrm rot="10800000">
              <a:off x="2893711" y="3243481"/>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1"/>
            <p:cNvSpPr txBox="1"/>
            <p:nvPr/>
          </p:nvSpPr>
          <p:spPr>
            <a:xfrm>
              <a:off x="2991839" y="3326259"/>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68" name="Google Shape;1068;p51"/>
          <p:cNvSpPr/>
          <p:nvPr/>
        </p:nvSpPr>
        <p:spPr>
          <a:xfrm>
            <a:off x="4300418" y="4913894"/>
            <a:ext cx="1434601" cy="1434601"/>
          </a:xfrm>
          <a:prstGeom prst="ellipse">
            <a:avLst/>
          </a:prstGeom>
          <a:solidFill>
            <a:srgbClr val="A5A5A5"/>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51"/>
          <p:cNvSpPr txBox="1"/>
          <p:nvPr/>
        </p:nvSpPr>
        <p:spPr>
          <a:xfrm>
            <a:off x="4510511" y="5123987"/>
            <a:ext cx="101441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4.Sales Plan</a:t>
            </a:r>
            <a:endParaRPr/>
          </a:p>
        </p:txBody>
      </p:sp>
      <p:grpSp>
        <p:nvGrpSpPr>
          <p:cNvPr id="1070" name="Google Shape;1070;p51"/>
          <p:cNvGrpSpPr/>
          <p:nvPr/>
        </p:nvGrpSpPr>
        <p:grpSpPr>
          <a:xfrm>
            <a:off x="4398496" y="4359222"/>
            <a:ext cx="578723" cy="513531"/>
            <a:chOff x="1596919" y="2363103"/>
            <a:chExt cx="494711" cy="438982"/>
          </a:xfrm>
        </p:grpSpPr>
        <p:sp>
          <p:nvSpPr>
            <p:cNvPr id="1071" name="Google Shape;1071;p51"/>
            <p:cNvSpPr/>
            <p:nvPr/>
          </p:nvSpPr>
          <p:spPr>
            <a:xfrm rot="-6480000">
              <a:off x="1680728" y="237564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1"/>
            <p:cNvSpPr txBox="1"/>
            <p:nvPr/>
          </p:nvSpPr>
          <p:spPr>
            <a:xfrm rot="4320000">
              <a:off x="1744954" y="2505090"/>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73" name="Google Shape;1073;p51"/>
          <p:cNvSpPr/>
          <p:nvPr/>
        </p:nvSpPr>
        <p:spPr>
          <a:xfrm>
            <a:off x="3634003" y="2862879"/>
            <a:ext cx="1434601" cy="1434601"/>
          </a:xfrm>
          <a:prstGeom prst="ellipse">
            <a:avLst/>
          </a:prstGeom>
          <a:solidFill>
            <a:schemeClr val="dk1"/>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51"/>
          <p:cNvSpPr txBox="1"/>
          <p:nvPr/>
        </p:nvSpPr>
        <p:spPr>
          <a:xfrm>
            <a:off x="3718836" y="3072972"/>
            <a:ext cx="1245846" cy="1014416"/>
          </a:xfrm>
          <a:prstGeom prst="rect">
            <a:avLst/>
          </a:prstGeom>
          <a:noFill/>
          <a:ln>
            <a:noFill/>
          </a:ln>
        </p:spPr>
        <p:txBody>
          <a:bodyPr anchorCtr="0" anchor="ctr" bIns="33000" lIns="33000" spcFirstLastPara="1" rIns="33000" wrap="square" tIns="330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5.Implemen-tation</a:t>
            </a:r>
            <a:endParaRPr/>
          </a:p>
        </p:txBody>
      </p:sp>
      <p:grpSp>
        <p:nvGrpSpPr>
          <p:cNvPr id="1075" name="Google Shape;1075;p51"/>
          <p:cNvGrpSpPr/>
          <p:nvPr/>
        </p:nvGrpSpPr>
        <p:grpSpPr>
          <a:xfrm>
            <a:off x="4879426" y="2554570"/>
            <a:ext cx="594154" cy="616618"/>
            <a:chOff x="2040848" y="897252"/>
            <a:chExt cx="507902" cy="527105"/>
          </a:xfrm>
        </p:grpSpPr>
        <p:sp>
          <p:nvSpPr>
            <p:cNvPr id="1076" name="Google Shape;1076;p51"/>
            <p:cNvSpPr/>
            <p:nvPr/>
          </p:nvSpPr>
          <p:spPr>
            <a:xfrm rot="-2160000">
              <a:off x="2131253" y="953859"/>
              <a:ext cx="327092" cy="413891"/>
            </a:xfrm>
            <a:prstGeom prst="rightArrow">
              <a:avLst>
                <a:gd fmla="val 60000" name="adj1"/>
                <a:gd fmla="val 50000" name="adj2"/>
              </a:avLst>
            </a:prstGeom>
            <a:solidFill>
              <a:srgbClr val="BFBF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51"/>
            <p:cNvSpPr txBox="1"/>
            <p:nvPr/>
          </p:nvSpPr>
          <p:spPr>
            <a:xfrm rot="-2160000">
              <a:off x="2140623" y="1065476"/>
              <a:ext cx="228964" cy="248335"/>
            </a:xfrm>
            <a:prstGeom prst="rect">
              <a:avLst/>
            </a:prstGeom>
            <a:solidFill>
              <a:srgbClr val="BFBFBF"/>
            </a:solid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800"/>
                <a:buFont typeface="Arial"/>
                <a:buNone/>
              </a:pPr>
              <a:r>
                <a:t/>
              </a:r>
              <a:endParaRPr sz="1800">
                <a:solidFill>
                  <a:schemeClr val="lt1"/>
                </a:solidFill>
                <a:latin typeface="Arial"/>
                <a:ea typeface="Arial"/>
                <a:cs typeface="Arial"/>
                <a:sym typeface="Arial"/>
              </a:endParaRPr>
            </a:p>
          </p:txBody>
        </p:sp>
      </p:grpSp>
      <p:sp>
        <p:nvSpPr>
          <p:cNvPr id="1078" name="Google Shape;1078;p51"/>
          <p:cNvSpPr txBox="1"/>
          <p:nvPr/>
        </p:nvSpPr>
        <p:spPr>
          <a:xfrm>
            <a:off x="5203304" y="3503473"/>
            <a:ext cx="1844700"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Arial"/>
                <a:ea typeface="Arial"/>
                <a:cs typeface="Arial"/>
                <a:sym typeface="Arial"/>
              </a:rPr>
              <a:t>Sales Strategy &amp; Plan</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52"/>
          <p:cNvSpPr txBox="1"/>
          <p:nvPr>
            <p:ph type="title"/>
          </p:nvPr>
        </p:nvSpPr>
        <p:spPr>
          <a:xfrm>
            <a:off x="514115" y="365126"/>
            <a:ext cx="11073048" cy="10913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2060"/>
              </a:buClr>
              <a:buSzPts val="2400"/>
              <a:buFont typeface="Arial"/>
              <a:buNone/>
            </a:pPr>
            <a:r>
              <a:rPr lang="en-US" sz="2400"/>
              <a:t>Table of Contents</a:t>
            </a:r>
            <a:endParaRPr/>
          </a:p>
        </p:txBody>
      </p:sp>
      <p:sp>
        <p:nvSpPr>
          <p:cNvPr id="1084" name="Google Shape;1084;p52"/>
          <p:cNvSpPr txBox="1"/>
          <p:nvPr>
            <p:ph idx="1" type="body"/>
          </p:nvPr>
        </p:nvSpPr>
        <p:spPr>
          <a:xfrm>
            <a:off x="1037492" y="1927644"/>
            <a:ext cx="9729788" cy="4555093"/>
          </a:xfrm>
          <a:prstGeom prst="rect">
            <a:avLst/>
          </a:prstGeom>
          <a:noFill/>
          <a:ln>
            <a:noFill/>
          </a:ln>
        </p:spPr>
        <p:txBody>
          <a:bodyPr anchorCtr="0" anchor="t" bIns="45700" lIns="91425" spcFirstLastPara="1" rIns="91425" wrap="square" tIns="45700">
            <a:spAutoFit/>
          </a:bodyPr>
          <a:lstStyle/>
          <a:p>
            <a:pPr indent="-342900" lvl="0" marL="457200" rtl="0" algn="l">
              <a:lnSpc>
                <a:spcPct val="100000"/>
              </a:lnSpc>
              <a:spcBef>
                <a:spcPts val="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Internal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External Analysis</a:t>
            </a:r>
            <a:endParaRPr/>
          </a:p>
          <a:p>
            <a:pPr indent="-342900" lvl="0" marL="457200" rtl="0" algn="l">
              <a:lnSpc>
                <a:spcPct val="100000"/>
              </a:lnSpc>
              <a:spcBef>
                <a:spcPts val="58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Strategy</a:t>
            </a:r>
            <a:endParaRPr/>
          </a:p>
          <a:p>
            <a:pPr indent="-342900" lvl="0" marL="457200" rtl="0" algn="l">
              <a:lnSpc>
                <a:spcPct val="100000"/>
              </a:lnSpc>
              <a:spcBef>
                <a:spcPts val="6000"/>
              </a:spcBef>
              <a:spcAft>
                <a:spcPts val="0"/>
              </a:spcAft>
              <a:buClr>
                <a:srgbClr val="002776"/>
              </a:buClr>
              <a:buSzPts val="1800"/>
              <a:buFont typeface="Arial"/>
              <a:buAutoNum type="arabicPeriod"/>
            </a:pPr>
            <a:r>
              <a:rPr lang="en-US">
                <a:solidFill>
                  <a:srgbClr val="002776"/>
                </a:solidFill>
                <a:latin typeface="Arial"/>
                <a:ea typeface="Arial"/>
                <a:cs typeface="Arial"/>
                <a:sym typeface="Arial"/>
              </a:rPr>
              <a:t>Sales Plan</a:t>
            </a:r>
            <a:endParaRPr/>
          </a:p>
          <a:p>
            <a:pPr indent="-342900" lvl="0" marL="457200" rtl="0" algn="l">
              <a:lnSpc>
                <a:spcPct val="100000"/>
              </a:lnSpc>
              <a:spcBef>
                <a:spcPts val="6000"/>
              </a:spcBef>
              <a:spcAft>
                <a:spcPts val="0"/>
              </a:spcAft>
              <a:buClr>
                <a:srgbClr val="002776"/>
              </a:buClr>
              <a:buSzPts val="1800"/>
              <a:buFont typeface="Arial"/>
              <a:buAutoNum type="arabicPeriod"/>
            </a:pPr>
            <a:r>
              <a:rPr b="1" lang="en-US">
                <a:solidFill>
                  <a:srgbClr val="002776"/>
                </a:solidFill>
                <a:latin typeface="Arial"/>
                <a:ea typeface="Arial"/>
                <a:cs typeface="Arial"/>
                <a:sym typeface="Arial"/>
              </a:rPr>
              <a:t>Implementation</a:t>
            </a:r>
            <a:endParaRPr/>
          </a:p>
        </p:txBody>
      </p:sp>
      <p:sp>
        <p:nvSpPr>
          <p:cNvPr id="1085" name="Google Shape;1085;p52"/>
          <p:cNvSpPr/>
          <p:nvPr/>
        </p:nvSpPr>
        <p:spPr>
          <a:xfrm>
            <a:off x="890954" y="1927644"/>
            <a:ext cx="146538" cy="449581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List" id="1086" name="Google Shape;1086;p52"/>
          <p:cNvPicPr preferRelativeResize="0"/>
          <p:nvPr/>
        </p:nvPicPr>
        <p:blipFill rotWithShape="1">
          <a:blip r:embed="rId3">
            <a:alphaModFix/>
          </a:blip>
          <a:srcRect b="0" l="0" r="0" t="0"/>
          <a:stretch/>
        </p:blipFill>
        <p:spPr>
          <a:xfrm>
            <a:off x="10828137" y="511345"/>
            <a:ext cx="914400" cy="914400"/>
          </a:xfrm>
          <a:prstGeom prst="rect">
            <a:avLst/>
          </a:prstGeom>
          <a:noFill/>
          <a:ln>
            <a:noFill/>
          </a:ln>
        </p:spPr>
      </p:pic>
      <p:sp>
        <p:nvSpPr>
          <p:cNvPr id="1087" name="Google Shape;1087;p52"/>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088" name="Google Shape;1088;p52"/>
          <p:cNvSpPr/>
          <p:nvPr/>
        </p:nvSpPr>
        <p:spPr>
          <a:xfrm>
            <a:off x="5993713" y="2543866"/>
            <a:ext cx="3733800" cy="1143000"/>
          </a:xfrm>
          <a:prstGeom prst="wedgeRoundRectCallout">
            <a:avLst>
              <a:gd fmla="val -80574" name="adj1"/>
              <a:gd fmla="val 17069"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Second option to formalize your table of contents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53"/>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Dashboard - Sales Strategic Objectives Status</a:t>
            </a:r>
            <a:br>
              <a:rPr lang="en-US"/>
            </a:br>
            <a:r>
              <a:rPr b="0" lang="en-US"/>
              <a:t>Replace this text with the key takeaway of this Powerpoint slide.</a:t>
            </a:r>
            <a:endParaRPr/>
          </a:p>
        </p:txBody>
      </p:sp>
      <p:sp>
        <p:nvSpPr>
          <p:cNvPr id="1094" name="Google Shape;1094;p53"/>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095" name="Google Shape;1095;p53"/>
          <p:cNvSpPr/>
          <p:nvPr/>
        </p:nvSpPr>
        <p:spPr>
          <a:xfrm>
            <a:off x="614149" y="1665240"/>
            <a:ext cx="1810259" cy="146523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Mission</a:t>
            </a:r>
            <a:endParaRPr/>
          </a:p>
        </p:txBody>
      </p:sp>
      <p:sp>
        <p:nvSpPr>
          <p:cNvPr id="1096" name="Google Shape;1096;p53"/>
          <p:cNvSpPr/>
          <p:nvPr/>
        </p:nvSpPr>
        <p:spPr>
          <a:xfrm>
            <a:off x="614149" y="4761169"/>
            <a:ext cx="1810259" cy="1462986"/>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Sales Strategic Objectives</a:t>
            </a:r>
            <a:endParaRPr/>
          </a:p>
        </p:txBody>
      </p:sp>
      <p:sp>
        <p:nvSpPr>
          <p:cNvPr id="1097" name="Google Shape;1097;p53"/>
          <p:cNvSpPr/>
          <p:nvPr/>
        </p:nvSpPr>
        <p:spPr>
          <a:xfrm>
            <a:off x="2491900" y="1665240"/>
            <a:ext cx="9095263" cy="146523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2"/>
                </a:solidFill>
                <a:latin typeface="Arial"/>
                <a:ea typeface="Arial"/>
                <a:cs typeface="Arial"/>
                <a:sym typeface="Arial"/>
              </a:rPr>
              <a:t>Insert your Mission statement in this grey bow</a:t>
            </a:r>
            <a:endParaRPr b="1" sz="1600">
              <a:solidFill>
                <a:schemeClr val="dk2"/>
              </a:solidFill>
              <a:latin typeface="Arial"/>
              <a:ea typeface="Arial"/>
              <a:cs typeface="Arial"/>
              <a:sym typeface="Arial"/>
            </a:endParaRPr>
          </a:p>
        </p:txBody>
      </p:sp>
      <p:sp>
        <p:nvSpPr>
          <p:cNvPr id="1098" name="Google Shape;1098;p53"/>
          <p:cNvSpPr/>
          <p:nvPr/>
        </p:nvSpPr>
        <p:spPr>
          <a:xfrm>
            <a:off x="614149" y="3213204"/>
            <a:ext cx="1810259" cy="1465237"/>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Vision</a:t>
            </a:r>
            <a:endParaRPr/>
          </a:p>
        </p:txBody>
      </p:sp>
      <p:sp>
        <p:nvSpPr>
          <p:cNvPr id="1099" name="Google Shape;1099;p53"/>
          <p:cNvSpPr/>
          <p:nvPr/>
        </p:nvSpPr>
        <p:spPr>
          <a:xfrm>
            <a:off x="2491900" y="3213204"/>
            <a:ext cx="9095263" cy="146523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Arial"/>
                <a:ea typeface="Arial"/>
                <a:cs typeface="Arial"/>
                <a:sym typeface="Arial"/>
              </a:rPr>
              <a:t>Insert your Vision statement in this grey bow</a:t>
            </a:r>
            <a:endParaRPr b="1" sz="1600">
              <a:solidFill>
                <a:schemeClr val="dk1"/>
              </a:solidFill>
              <a:latin typeface="Arial"/>
              <a:ea typeface="Arial"/>
              <a:cs typeface="Arial"/>
              <a:sym typeface="Arial"/>
            </a:endParaRPr>
          </a:p>
        </p:txBody>
      </p:sp>
      <p:sp>
        <p:nvSpPr>
          <p:cNvPr id="1100" name="Google Shape;1100;p53"/>
          <p:cNvSpPr/>
          <p:nvPr/>
        </p:nvSpPr>
        <p:spPr>
          <a:xfrm>
            <a:off x="2491900" y="4761169"/>
            <a:ext cx="9095263" cy="1462986"/>
          </a:xfrm>
          <a:prstGeom prst="rect">
            <a:avLst/>
          </a:prstGeom>
          <a:solidFill>
            <a:srgbClr val="F2F2F2"/>
          </a:solidFill>
          <a:ln>
            <a:noFill/>
          </a:ln>
        </p:spPr>
        <p:txBody>
          <a:bodyPr anchorCtr="0" anchor="t" bIns="91425" lIns="91425" spcFirstLastPara="1" rIns="91425" wrap="square" tIns="91425">
            <a:noAutofit/>
          </a:bodyPr>
          <a:lstStyle/>
          <a:p>
            <a:pPr indent="-39687" lvl="0" marL="169863" marR="0" rtl="0" algn="l">
              <a:spcBef>
                <a:spcPts val="0"/>
              </a:spcBef>
              <a:spcAft>
                <a:spcPts val="0"/>
              </a:spcAft>
              <a:buClr>
                <a:schemeClr val="dk1"/>
              </a:buClr>
              <a:buSzPts val="1200"/>
              <a:buFont typeface="Arial"/>
              <a:buNone/>
            </a:pPr>
            <a:r>
              <a:t/>
            </a:r>
            <a:endParaRPr sz="1200">
              <a:solidFill>
                <a:srgbClr val="002060"/>
              </a:solidFill>
              <a:latin typeface="Arial"/>
              <a:ea typeface="Arial"/>
              <a:cs typeface="Arial"/>
              <a:sym typeface="Arial"/>
            </a:endParaRPr>
          </a:p>
        </p:txBody>
      </p:sp>
      <p:sp>
        <p:nvSpPr>
          <p:cNvPr id="1101" name="Google Shape;1101;p53"/>
          <p:cNvSpPr/>
          <p:nvPr/>
        </p:nvSpPr>
        <p:spPr>
          <a:xfrm>
            <a:off x="2721251" y="5099943"/>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#1</a:t>
            </a:r>
            <a:endParaRPr/>
          </a:p>
        </p:txBody>
      </p:sp>
      <p:sp>
        <p:nvSpPr>
          <p:cNvPr id="1102" name="Google Shape;1102;p53"/>
          <p:cNvSpPr/>
          <p:nvPr/>
        </p:nvSpPr>
        <p:spPr>
          <a:xfrm>
            <a:off x="5894008" y="5099943"/>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#2</a:t>
            </a:r>
            <a:endParaRPr/>
          </a:p>
        </p:txBody>
      </p:sp>
      <p:sp>
        <p:nvSpPr>
          <p:cNvPr id="1103" name="Google Shape;1103;p53"/>
          <p:cNvSpPr/>
          <p:nvPr/>
        </p:nvSpPr>
        <p:spPr>
          <a:xfrm>
            <a:off x="9066764" y="5099943"/>
            <a:ext cx="2348147" cy="785438"/>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Insert strategic objective #3</a:t>
            </a:r>
            <a:endParaRPr/>
          </a:p>
        </p:txBody>
      </p:sp>
      <p:sp>
        <p:nvSpPr>
          <p:cNvPr id="1104" name="Google Shape;1104;p53"/>
          <p:cNvSpPr/>
          <p:nvPr/>
        </p:nvSpPr>
        <p:spPr>
          <a:xfrm>
            <a:off x="7848129" y="5144855"/>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05" name="Google Shape;1105;p53"/>
          <p:cNvSpPr/>
          <p:nvPr/>
        </p:nvSpPr>
        <p:spPr>
          <a:xfrm>
            <a:off x="4684870" y="5144855"/>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06" name="Google Shape;1106;p53"/>
          <p:cNvSpPr/>
          <p:nvPr/>
        </p:nvSpPr>
        <p:spPr>
          <a:xfrm>
            <a:off x="11044684" y="5144855"/>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07" name="Google Shape;1107;p53"/>
          <p:cNvSpPr/>
          <p:nvPr/>
        </p:nvSpPr>
        <p:spPr>
          <a:xfrm>
            <a:off x="6477542" y="6336070"/>
            <a:ext cx="1051570"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Slightly behind target</a:t>
            </a:r>
            <a:endParaRPr/>
          </a:p>
        </p:txBody>
      </p:sp>
      <p:sp>
        <p:nvSpPr>
          <p:cNvPr id="1108" name="Google Shape;1108;p53"/>
          <p:cNvSpPr/>
          <p:nvPr/>
        </p:nvSpPr>
        <p:spPr>
          <a:xfrm>
            <a:off x="8141242" y="6336070"/>
            <a:ext cx="1474763"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Meeting target or above target</a:t>
            </a:r>
            <a:endParaRPr/>
          </a:p>
        </p:txBody>
      </p:sp>
      <p:sp>
        <p:nvSpPr>
          <p:cNvPr id="1109" name="Google Shape;1109;p53"/>
          <p:cNvSpPr/>
          <p:nvPr/>
        </p:nvSpPr>
        <p:spPr>
          <a:xfrm>
            <a:off x="4463057" y="6329045"/>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10" name="Google Shape;1110;p53"/>
          <p:cNvSpPr/>
          <p:nvPr/>
        </p:nvSpPr>
        <p:spPr>
          <a:xfrm>
            <a:off x="6269949" y="6329045"/>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11" name="Google Shape;1111;p53"/>
          <p:cNvSpPr/>
          <p:nvPr/>
        </p:nvSpPr>
        <p:spPr>
          <a:xfrm>
            <a:off x="7922219" y="6329045"/>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12" name="Google Shape;1112;p53"/>
          <p:cNvSpPr/>
          <p:nvPr/>
        </p:nvSpPr>
        <p:spPr>
          <a:xfrm>
            <a:off x="4670650" y="6336070"/>
            <a:ext cx="1292020" cy="123111"/>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800">
                <a:solidFill>
                  <a:schemeClr val="dk1"/>
                </a:solidFill>
                <a:latin typeface="Arial"/>
                <a:ea typeface="Arial"/>
                <a:cs typeface="Arial"/>
                <a:sym typeface="Arial"/>
              </a:rPr>
              <a:t>Significantly behind target</a:t>
            </a:r>
            <a:endParaRPr/>
          </a:p>
        </p:txBody>
      </p:sp>
      <p:sp>
        <p:nvSpPr>
          <p:cNvPr id="1113" name="Google Shape;1113;p53"/>
          <p:cNvSpPr/>
          <p:nvPr/>
        </p:nvSpPr>
        <p:spPr>
          <a:xfrm>
            <a:off x="5628755" y="3130476"/>
            <a:ext cx="4267200" cy="1266940"/>
          </a:xfrm>
          <a:prstGeom prst="wedgeRoundRectCallout">
            <a:avLst>
              <a:gd fmla="val 5479" name="adj1"/>
              <a:gd fmla="val 102278" name="adj2"/>
              <a:gd fmla="val 16667" name="adj3"/>
            </a:avLst>
          </a:prstGeom>
          <a:solidFill>
            <a:srgbClr val="FFE48F"/>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050">
                <a:solidFill>
                  <a:srgbClr val="0C2870"/>
                </a:solidFill>
                <a:latin typeface="Arial"/>
                <a:ea typeface="Arial"/>
                <a:cs typeface="Arial"/>
                <a:sym typeface="Arial"/>
              </a:rPr>
              <a:t>This little circles will help the Organization to have clear understanding of the status of each Sales Strategic Objectives. The best practice here is simple: “The simpler the better”. What is too complicated is rarely fully implemented.</a:t>
            </a:r>
            <a:endParaRPr b="1" sz="1050">
              <a:solidFill>
                <a:srgbClr val="0C287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p54"/>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Dashboard - KPIs Status</a:t>
            </a:r>
            <a:br>
              <a:rPr lang="en-US"/>
            </a:br>
            <a:r>
              <a:rPr b="0" lang="en-US"/>
              <a:t>Replace this text with the key takeaway of this Powerpoint slide.</a:t>
            </a:r>
            <a:endParaRPr/>
          </a:p>
        </p:txBody>
      </p:sp>
      <p:sp>
        <p:nvSpPr>
          <p:cNvPr id="1119" name="Google Shape;1119;p54"/>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120" name="Google Shape;1120;p54"/>
          <p:cNvSpPr/>
          <p:nvPr/>
        </p:nvSpPr>
        <p:spPr>
          <a:xfrm>
            <a:off x="607820" y="2226595"/>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#1</a:t>
            </a:r>
            <a:endParaRPr/>
          </a:p>
        </p:txBody>
      </p:sp>
      <p:sp>
        <p:nvSpPr>
          <p:cNvPr id="1121" name="Google Shape;1121;p54"/>
          <p:cNvSpPr/>
          <p:nvPr/>
        </p:nvSpPr>
        <p:spPr>
          <a:xfrm>
            <a:off x="607820" y="1706804"/>
            <a:ext cx="3808370"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Sales Strategic Objectives</a:t>
            </a:r>
            <a:endParaRPr/>
          </a:p>
        </p:txBody>
      </p:sp>
      <p:sp>
        <p:nvSpPr>
          <p:cNvPr id="1122" name="Google Shape;1122;p54"/>
          <p:cNvSpPr/>
          <p:nvPr/>
        </p:nvSpPr>
        <p:spPr>
          <a:xfrm>
            <a:off x="4515090" y="1706804"/>
            <a:ext cx="3758205"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KPIs</a:t>
            </a:r>
            <a:endParaRPr/>
          </a:p>
        </p:txBody>
      </p:sp>
      <p:sp>
        <p:nvSpPr>
          <p:cNvPr id="1123" name="Google Shape;1123;p54"/>
          <p:cNvSpPr/>
          <p:nvPr/>
        </p:nvSpPr>
        <p:spPr>
          <a:xfrm>
            <a:off x="4515090" y="2226595"/>
            <a:ext cx="3758205"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p:txBody>
      </p:sp>
      <p:sp>
        <p:nvSpPr>
          <p:cNvPr id="1124" name="Google Shape;1124;p54"/>
          <p:cNvSpPr/>
          <p:nvPr/>
        </p:nvSpPr>
        <p:spPr>
          <a:xfrm>
            <a:off x="8372195" y="1706804"/>
            <a:ext cx="1978003"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Targets</a:t>
            </a:r>
            <a:endParaRPr/>
          </a:p>
        </p:txBody>
      </p:sp>
      <p:sp>
        <p:nvSpPr>
          <p:cNvPr id="1125" name="Google Shape;1125;p54"/>
          <p:cNvSpPr/>
          <p:nvPr/>
        </p:nvSpPr>
        <p:spPr>
          <a:xfrm>
            <a:off x="8372195" y="2226595"/>
            <a:ext cx="1978003"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p:txBody>
      </p:sp>
      <p:sp>
        <p:nvSpPr>
          <p:cNvPr id="1126" name="Google Shape;1126;p54"/>
          <p:cNvSpPr/>
          <p:nvPr/>
        </p:nvSpPr>
        <p:spPr>
          <a:xfrm>
            <a:off x="607820" y="3650495"/>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#2</a:t>
            </a:r>
            <a:endParaRPr/>
          </a:p>
        </p:txBody>
      </p:sp>
      <p:sp>
        <p:nvSpPr>
          <p:cNvPr id="1127" name="Google Shape;1127;p54"/>
          <p:cNvSpPr/>
          <p:nvPr/>
        </p:nvSpPr>
        <p:spPr>
          <a:xfrm>
            <a:off x="4515090" y="3650495"/>
            <a:ext cx="3758205"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p:txBody>
      </p:sp>
      <p:sp>
        <p:nvSpPr>
          <p:cNvPr id="1128" name="Google Shape;1128;p54"/>
          <p:cNvSpPr/>
          <p:nvPr/>
        </p:nvSpPr>
        <p:spPr>
          <a:xfrm>
            <a:off x="8372195" y="3650495"/>
            <a:ext cx="1978003"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p:txBody>
      </p:sp>
      <p:sp>
        <p:nvSpPr>
          <p:cNvPr id="1129" name="Google Shape;1129;p54"/>
          <p:cNvSpPr/>
          <p:nvPr/>
        </p:nvSpPr>
        <p:spPr>
          <a:xfrm>
            <a:off x="607820" y="5074394"/>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#3</a:t>
            </a:r>
            <a:endParaRPr/>
          </a:p>
        </p:txBody>
      </p:sp>
      <p:sp>
        <p:nvSpPr>
          <p:cNvPr id="1130" name="Google Shape;1130;p54"/>
          <p:cNvSpPr/>
          <p:nvPr/>
        </p:nvSpPr>
        <p:spPr>
          <a:xfrm>
            <a:off x="4515090" y="5074394"/>
            <a:ext cx="3758205"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KPI</a:t>
            </a:r>
            <a:endParaRPr/>
          </a:p>
        </p:txBody>
      </p:sp>
      <p:sp>
        <p:nvSpPr>
          <p:cNvPr id="1131" name="Google Shape;1131;p54"/>
          <p:cNvSpPr/>
          <p:nvPr/>
        </p:nvSpPr>
        <p:spPr>
          <a:xfrm>
            <a:off x="8372195" y="5074394"/>
            <a:ext cx="1978003" cy="1348569"/>
          </a:xfrm>
          <a:prstGeom prst="rect">
            <a:avLst/>
          </a:prstGeom>
          <a:solidFill>
            <a:schemeClr val="lt1"/>
          </a:solidFill>
          <a:ln>
            <a:noFill/>
          </a:ln>
        </p:spPr>
        <p:txBody>
          <a:bodyPr anchorCtr="0" anchor="ctr" bIns="45700" lIns="91425" spcFirstLastPara="1" rIns="18275" wrap="square" tIns="45700">
            <a:noAutofit/>
          </a:bodyPr>
          <a:lstStyle/>
          <a:p>
            <a:pPr indent="-114300" lvl="0" marL="114300" marR="0" rtl="0" algn="l">
              <a:spcBef>
                <a:spcPts val="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a:p>
            <a:pPr indent="-114300" lvl="0" marL="114300" marR="0" rtl="0" algn="l">
              <a:spcBef>
                <a:spcPts val="800"/>
              </a:spcBef>
              <a:spcAft>
                <a:spcPts val="0"/>
              </a:spcAft>
              <a:buClr>
                <a:schemeClr val="dk1"/>
              </a:buClr>
              <a:buSzPts val="1200"/>
              <a:buFont typeface="Arial"/>
              <a:buChar char="•"/>
            </a:pPr>
            <a:r>
              <a:rPr lang="en-US" sz="1200">
                <a:solidFill>
                  <a:schemeClr val="dk1"/>
                </a:solidFill>
                <a:latin typeface="Arial"/>
                <a:ea typeface="Arial"/>
                <a:cs typeface="Arial"/>
                <a:sym typeface="Arial"/>
              </a:rPr>
              <a:t>Insert Target</a:t>
            </a:r>
            <a:endParaRPr/>
          </a:p>
        </p:txBody>
      </p:sp>
      <p:sp>
        <p:nvSpPr>
          <p:cNvPr id="1132" name="Google Shape;1132;p54"/>
          <p:cNvSpPr/>
          <p:nvPr/>
        </p:nvSpPr>
        <p:spPr>
          <a:xfrm>
            <a:off x="10449098" y="1706804"/>
            <a:ext cx="1138065"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Status</a:t>
            </a:r>
            <a:endParaRPr/>
          </a:p>
        </p:txBody>
      </p:sp>
      <p:sp>
        <p:nvSpPr>
          <p:cNvPr id="1133" name="Google Shape;1133;p54"/>
          <p:cNvSpPr/>
          <p:nvPr/>
        </p:nvSpPr>
        <p:spPr>
          <a:xfrm>
            <a:off x="10449098" y="2226595"/>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1134" name="Google Shape;1134;p54"/>
          <p:cNvSpPr/>
          <p:nvPr/>
        </p:nvSpPr>
        <p:spPr>
          <a:xfrm>
            <a:off x="10449098" y="3650495"/>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1135" name="Google Shape;1135;p54"/>
          <p:cNvSpPr/>
          <p:nvPr/>
        </p:nvSpPr>
        <p:spPr>
          <a:xfrm>
            <a:off x="10449098" y="5074394"/>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1136" name="Google Shape;1136;p54"/>
          <p:cNvSpPr/>
          <p:nvPr/>
        </p:nvSpPr>
        <p:spPr>
          <a:xfrm>
            <a:off x="10949550" y="3094879"/>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37" name="Google Shape;1137;p54"/>
          <p:cNvSpPr/>
          <p:nvPr/>
        </p:nvSpPr>
        <p:spPr>
          <a:xfrm>
            <a:off x="10949550" y="2821907"/>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38" name="Google Shape;1138;p54"/>
          <p:cNvSpPr/>
          <p:nvPr/>
        </p:nvSpPr>
        <p:spPr>
          <a:xfrm>
            <a:off x="10949550" y="2569720"/>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39" name="Google Shape;1139;p54"/>
          <p:cNvSpPr/>
          <p:nvPr/>
        </p:nvSpPr>
        <p:spPr>
          <a:xfrm>
            <a:off x="10949550" y="4518779"/>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40" name="Google Shape;1140;p54"/>
          <p:cNvSpPr/>
          <p:nvPr/>
        </p:nvSpPr>
        <p:spPr>
          <a:xfrm>
            <a:off x="10949550" y="4245807"/>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41" name="Google Shape;1141;p54"/>
          <p:cNvSpPr/>
          <p:nvPr/>
        </p:nvSpPr>
        <p:spPr>
          <a:xfrm>
            <a:off x="10949550" y="3993620"/>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42" name="Google Shape;1142;p54"/>
          <p:cNvSpPr/>
          <p:nvPr/>
        </p:nvSpPr>
        <p:spPr>
          <a:xfrm>
            <a:off x="10949550" y="5942678"/>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43" name="Google Shape;1143;p54"/>
          <p:cNvSpPr/>
          <p:nvPr/>
        </p:nvSpPr>
        <p:spPr>
          <a:xfrm>
            <a:off x="10949550" y="5669706"/>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44" name="Google Shape;1144;p54"/>
          <p:cNvSpPr/>
          <p:nvPr/>
        </p:nvSpPr>
        <p:spPr>
          <a:xfrm>
            <a:off x="10949550" y="5417519"/>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55"/>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Dashboard - Initiatives Detailed Level Status</a:t>
            </a:r>
            <a:br>
              <a:rPr lang="en-US"/>
            </a:br>
            <a:r>
              <a:rPr b="0" lang="en-US"/>
              <a:t>Replace this text with the key takeaway of this Powerpoint slide.</a:t>
            </a:r>
            <a:endParaRPr/>
          </a:p>
        </p:txBody>
      </p:sp>
      <p:sp>
        <p:nvSpPr>
          <p:cNvPr id="1150" name="Google Shape;1150;p55"/>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151" name="Google Shape;1151;p55"/>
          <p:cNvSpPr/>
          <p:nvPr/>
        </p:nvSpPr>
        <p:spPr>
          <a:xfrm>
            <a:off x="607820" y="2226595"/>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#1</a:t>
            </a:r>
            <a:endParaRPr/>
          </a:p>
        </p:txBody>
      </p:sp>
      <p:sp>
        <p:nvSpPr>
          <p:cNvPr id="1152" name="Google Shape;1152;p55"/>
          <p:cNvSpPr/>
          <p:nvPr/>
        </p:nvSpPr>
        <p:spPr>
          <a:xfrm>
            <a:off x="607820" y="1706804"/>
            <a:ext cx="3808370"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Sales Strategic Objectives</a:t>
            </a:r>
            <a:endParaRPr/>
          </a:p>
        </p:txBody>
      </p:sp>
      <p:sp>
        <p:nvSpPr>
          <p:cNvPr id="1153" name="Google Shape;1153;p55"/>
          <p:cNvSpPr/>
          <p:nvPr/>
        </p:nvSpPr>
        <p:spPr>
          <a:xfrm>
            <a:off x="4515090" y="1706804"/>
            <a:ext cx="5835108"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Initiatives</a:t>
            </a:r>
            <a:endParaRPr/>
          </a:p>
        </p:txBody>
      </p:sp>
      <p:sp>
        <p:nvSpPr>
          <p:cNvPr id="1154" name="Google Shape;1154;p55"/>
          <p:cNvSpPr/>
          <p:nvPr/>
        </p:nvSpPr>
        <p:spPr>
          <a:xfrm>
            <a:off x="4515090" y="2226595"/>
            <a:ext cx="5835108"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1.1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1.2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1.3 Insert the name of the initiative</a:t>
            </a:r>
            <a:endParaRPr/>
          </a:p>
        </p:txBody>
      </p:sp>
      <p:sp>
        <p:nvSpPr>
          <p:cNvPr id="1155" name="Google Shape;1155;p55"/>
          <p:cNvSpPr/>
          <p:nvPr/>
        </p:nvSpPr>
        <p:spPr>
          <a:xfrm>
            <a:off x="607820" y="3650495"/>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#2</a:t>
            </a:r>
            <a:endParaRPr/>
          </a:p>
        </p:txBody>
      </p:sp>
      <p:sp>
        <p:nvSpPr>
          <p:cNvPr id="1156" name="Google Shape;1156;p55"/>
          <p:cNvSpPr/>
          <p:nvPr/>
        </p:nvSpPr>
        <p:spPr>
          <a:xfrm>
            <a:off x="4515090" y="3650495"/>
            <a:ext cx="5835108"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2.1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2.2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2.3 Insert the name of the initiative</a:t>
            </a:r>
            <a:endParaRPr/>
          </a:p>
        </p:txBody>
      </p:sp>
      <p:sp>
        <p:nvSpPr>
          <p:cNvPr id="1157" name="Google Shape;1157;p55"/>
          <p:cNvSpPr/>
          <p:nvPr/>
        </p:nvSpPr>
        <p:spPr>
          <a:xfrm>
            <a:off x="607820" y="5074394"/>
            <a:ext cx="3808370"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ctr">
              <a:lnSpc>
                <a:spcPct val="90000"/>
              </a:lnSpc>
              <a:spcBef>
                <a:spcPts val="0"/>
              </a:spcBef>
              <a:spcAft>
                <a:spcPts val="0"/>
              </a:spcAft>
              <a:buClr>
                <a:schemeClr val="dk1"/>
              </a:buClr>
              <a:buSzPts val="1400"/>
              <a:buFont typeface="Arial"/>
              <a:buNone/>
            </a:pPr>
            <a:r>
              <a:rPr b="1" lang="en-US" sz="1400">
                <a:solidFill>
                  <a:schemeClr val="dk1"/>
                </a:solidFill>
                <a:latin typeface="Arial"/>
                <a:ea typeface="Arial"/>
                <a:cs typeface="Arial"/>
                <a:sym typeface="Arial"/>
              </a:rPr>
              <a:t>Insert the sales Strategic Objectives #3</a:t>
            </a:r>
            <a:endParaRPr/>
          </a:p>
        </p:txBody>
      </p:sp>
      <p:sp>
        <p:nvSpPr>
          <p:cNvPr id="1158" name="Google Shape;1158;p55"/>
          <p:cNvSpPr/>
          <p:nvPr/>
        </p:nvSpPr>
        <p:spPr>
          <a:xfrm>
            <a:off x="4515090" y="5074394"/>
            <a:ext cx="5835108" cy="1348569"/>
          </a:xfrm>
          <a:prstGeom prst="rect">
            <a:avLst/>
          </a:prstGeom>
          <a:solidFill>
            <a:schemeClr val="lt1"/>
          </a:solidFill>
          <a:ln>
            <a:noFill/>
          </a:ln>
        </p:spPr>
        <p:txBody>
          <a:bodyPr anchorCtr="0" anchor="ctr" bIns="45700" lIns="91425" spcFirstLastPara="1" rIns="1827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3.1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3.2 Insert the name of the initiative</a:t>
            </a:r>
            <a:endParaRPr/>
          </a:p>
          <a:p>
            <a:pPr indent="0" lvl="0" marL="0" marR="0" rtl="0" algn="l">
              <a:spcBef>
                <a:spcPts val="800"/>
              </a:spcBef>
              <a:spcAft>
                <a:spcPts val="0"/>
              </a:spcAft>
              <a:buNone/>
            </a:pPr>
            <a:r>
              <a:rPr lang="en-US" sz="1200">
                <a:solidFill>
                  <a:schemeClr val="dk1"/>
                </a:solidFill>
                <a:latin typeface="Arial"/>
                <a:ea typeface="Arial"/>
                <a:cs typeface="Arial"/>
                <a:sym typeface="Arial"/>
              </a:rPr>
              <a:t>3.3 Insert the name of the initiative</a:t>
            </a:r>
            <a:endParaRPr/>
          </a:p>
        </p:txBody>
      </p:sp>
      <p:sp>
        <p:nvSpPr>
          <p:cNvPr id="1159" name="Google Shape;1159;p55"/>
          <p:cNvSpPr/>
          <p:nvPr/>
        </p:nvSpPr>
        <p:spPr>
          <a:xfrm>
            <a:off x="10449098" y="1706804"/>
            <a:ext cx="1138065" cy="4679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Arial"/>
                <a:ea typeface="Arial"/>
                <a:cs typeface="Arial"/>
                <a:sym typeface="Arial"/>
              </a:rPr>
              <a:t>Status</a:t>
            </a:r>
            <a:endParaRPr/>
          </a:p>
        </p:txBody>
      </p:sp>
      <p:sp>
        <p:nvSpPr>
          <p:cNvPr id="1160" name="Google Shape;1160;p55"/>
          <p:cNvSpPr/>
          <p:nvPr/>
        </p:nvSpPr>
        <p:spPr>
          <a:xfrm>
            <a:off x="10449098" y="2226595"/>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1161" name="Google Shape;1161;p55"/>
          <p:cNvSpPr/>
          <p:nvPr/>
        </p:nvSpPr>
        <p:spPr>
          <a:xfrm>
            <a:off x="10449098" y="3650495"/>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1162" name="Google Shape;1162;p55"/>
          <p:cNvSpPr/>
          <p:nvPr/>
        </p:nvSpPr>
        <p:spPr>
          <a:xfrm>
            <a:off x="10449098" y="5074394"/>
            <a:ext cx="1138065" cy="1348569"/>
          </a:xfrm>
          <a:prstGeom prst="rect">
            <a:avLst/>
          </a:prstGeom>
          <a:solidFill>
            <a:schemeClr val="lt1"/>
          </a:solidFill>
          <a:ln>
            <a:noFill/>
          </a:ln>
        </p:spPr>
        <p:txBody>
          <a:bodyPr anchorCtr="0" anchor="ctr" bIns="45700" lIns="91425" spcFirstLastPara="1" rIns="18275" wrap="square" tIns="45700">
            <a:noAutofit/>
          </a:bodyPr>
          <a:lstStyle/>
          <a:p>
            <a:pPr indent="-38100" lvl="0" marL="114300" marR="0" rtl="0" algn="l">
              <a:spcBef>
                <a:spcPts val="0"/>
              </a:spcBef>
              <a:spcAft>
                <a:spcPts val="0"/>
              </a:spcAft>
              <a:buClr>
                <a:schemeClr val="dk1"/>
              </a:buClr>
              <a:buSzPts val="1200"/>
              <a:buFont typeface="Arial"/>
              <a:buNone/>
            </a:pPr>
            <a:r>
              <a:t/>
            </a:r>
            <a:endParaRPr sz="1200">
              <a:solidFill>
                <a:schemeClr val="dk2"/>
              </a:solidFill>
              <a:latin typeface="Arial"/>
              <a:ea typeface="Arial"/>
              <a:cs typeface="Arial"/>
              <a:sym typeface="Arial"/>
            </a:endParaRPr>
          </a:p>
        </p:txBody>
      </p:sp>
      <p:sp>
        <p:nvSpPr>
          <p:cNvPr id="1163" name="Google Shape;1163;p55"/>
          <p:cNvSpPr/>
          <p:nvPr/>
        </p:nvSpPr>
        <p:spPr>
          <a:xfrm>
            <a:off x="10949550" y="3094879"/>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64" name="Google Shape;1164;p55"/>
          <p:cNvSpPr/>
          <p:nvPr/>
        </p:nvSpPr>
        <p:spPr>
          <a:xfrm>
            <a:off x="10949550" y="2821907"/>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65" name="Google Shape;1165;p55"/>
          <p:cNvSpPr/>
          <p:nvPr/>
        </p:nvSpPr>
        <p:spPr>
          <a:xfrm>
            <a:off x="10949550" y="2569720"/>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66" name="Google Shape;1166;p55"/>
          <p:cNvSpPr/>
          <p:nvPr/>
        </p:nvSpPr>
        <p:spPr>
          <a:xfrm>
            <a:off x="10949550" y="4518779"/>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67" name="Google Shape;1167;p55"/>
          <p:cNvSpPr/>
          <p:nvPr/>
        </p:nvSpPr>
        <p:spPr>
          <a:xfrm>
            <a:off x="10949550" y="4245807"/>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68" name="Google Shape;1168;p55"/>
          <p:cNvSpPr/>
          <p:nvPr/>
        </p:nvSpPr>
        <p:spPr>
          <a:xfrm>
            <a:off x="10949550" y="3993620"/>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69" name="Google Shape;1169;p55"/>
          <p:cNvSpPr/>
          <p:nvPr/>
        </p:nvSpPr>
        <p:spPr>
          <a:xfrm>
            <a:off x="10949550" y="5942678"/>
            <a:ext cx="137160" cy="137160"/>
          </a:xfrm>
          <a:prstGeom prst="ellipse">
            <a:avLst/>
          </a:prstGeom>
          <a:solidFill>
            <a:srgbClr val="FF0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70" name="Google Shape;1170;p55"/>
          <p:cNvSpPr/>
          <p:nvPr/>
        </p:nvSpPr>
        <p:spPr>
          <a:xfrm>
            <a:off x="10949550" y="5669706"/>
            <a:ext cx="137160" cy="137160"/>
          </a:xfrm>
          <a:prstGeom prst="ellipse">
            <a:avLst/>
          </a:prstGeom>
          <a:solidFill>
            <a:srgbClr val="FFC00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
        <p:nvSpPr>
          <p:cNvPr id="1171" name="Google Shape;1171;p55"/>
          <p:cNvSpPr/>
          <p:nvPr/>
        </p:nvSpPr>
        <p:spPr>
          <a:xfrm>
            <a:off x="10949550" y="5417519"/>
            <a:ext cx="137160" cy="137160"/>
          </a:xfrm>
          <a:prstGeom prst="ellipse">
            <a:avLst/>
          </a:prstGeom>
          <a:solidFill>
            <a:srgbClr val="92D050"/>
          </a:solidFill>
          <a:ln>
            <a:noFill/>
          </a:ln>
        </p:spPr>
        <p:txBody>
          <a:bodyPr anchorCtr="0" anchor="ctr" bIns="45700" lIns="91425" spcFirstLastPara="1" rIns="91425" wrap="square" tIns="45700">
            <a:noAutofit/>
          </a:bodyPr>
          <a:lstStyle/>
          <a:p>
            <a:pPr indent="-106353" lvl="0" marL="182553" marR="0" rtl="0" algn="just">
              <a:lnSpc>
                <a:spcPct val="91666"/>
              </a:lnSpc>
              <a:spcBef>
                <a:spcPts val="0"/>
              </a:spcBef>
              <a:spcAft>
                <a:spcPts val="0"/>
              </a:spcAft>
              <a:buClr>
                <a:srgbClr val="000000"/>
              </a:buClr>
              <a:buSzPts val="1200"/>
              <a:buFont typeface="Noto Sans Symbols"/>
              <a:buNone/>
            </a:pPr>
            <a:r>
              <a:t/>
            </a:r>
            <a:endParaRPr sz="1200">
              <a:solidFill>
                <a:srgbClr val="0C287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56"/>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Dashboard - Initiatives Detailed Level Status</a:t>
            </a:r>
            <a:br>
              <a:rPr lang="en-US"/>
            </a:br>
            <a:r>
              <a:rPr b="0" lang="en-US"/>
              <a:t>Replace this text with the key takeaway of this Powerpoint slide.</a:t>
            </a:r>
            <a:endParaRPr/>
          </a:p>
        </p:txBody>
      </p:sp>
      <p:sp>
        <p:nvSpPr>
          <p:cNvPr id="1177" name="Google Shape;1177;p56"/>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graphicFrame>
        <p:nvGraphicFramePr>
          <p:cNvPr id="1178" name="Google Shape;1178;p56"/>
          <p:cNvGraphicFramePr/>
          <p:nvPr/>
        </p:nvGraphicFramePr>
        <p:xfrm>
          <a:off x="619991" y="1664290"/>
          <a:ext cx="3000000" cy="3000000"/>
        </p:xfrm>
        <a:graphic>
          <a:graphicData uri="http://schemas.openxmlformats.org/drawingml/2006/table">
            <a:tbl>
              <a:tblPr>
                <a:noFill/>
                <a:tableStyleId>{148D8925-725D-496F-A5EC-AC3963D42A22}</a:tableStyleId>
              </a:tblPr>
              <a:tblGrid>
                <a:gridCol w="2170600"/>
                <a:gridCol w="799700"/>
                <a:gridCol w="799700"/>
                <a:gridCol w="1570575"/>
                <a:gridCol w="897050"/>
                <a:gridCol w="1576525"/>
                <a:gridCol w="1576525"/>
                <a:gridCol w="1576525"/>
              </a:tblGrid>
              <a:tr h="510875">
                <a:tc>
                  <a:txBody>
                    <a:bodyPr/>
                    <a:lstStyle/>
                    <a:p>
                      <a:pPr indent="0" lvl="0" marL="0" marR="0" rtl="0" algn="r">
                        <a:lnSpc>
                          <a:spcPct val="106000"/>
                        </a:lnSpc>
                        <a:spcBef>
                          <a:spcPts val="0"/>
                        </a:spcBef>
                        <a:spcAft>
                          <a:spcPts val="0"/>
                        </a:spcAft>
                        <a:buClr>
                          <a:schemeClr val="dk1"/>
                        </a:buClr>
                        <a:buSzPts val="1200"/>
                        <a:buFont typeface="Noto Sans Symbols"/>
                        <a:buNone/>
                      </a:pPr>
                      <a:r>
                        <a:t/>
                      </a:r>
                      <a:endParaRPr b="1" i="0" sz="1200" u="none" cap="none" strike="noStrike">
                        <a:solidFill>
                          <a:schemeClr val="dk2"/>
                        </a:solidFill>
                        <a:latin typeface="Arial"/>
                        <a:ea typeface="Arial"/>
                        <a:cs typeface="Arial"/>
                        <a:sym typeface="Arial"/>
                      </a:endParaRPr>
                    </a:p>
                  </a:txBody>
                  <a:tcPr marT="46350" marB="46350" marR="86400" marL="864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2F2F2"/>
                    </a:solidFill>
                  </a:tcPr>
                </a:tc>
                <a:tc>
                  <a:txBody>
                    <a:bodyPr/>
                    <a:lstStyle/>
                    <a:p>
                      <a:pPr indent="0" lvl="0" marL="0" marR="0" rtl="0" algn="ctr">
                        <a:lnSpc>
                          <a:spcPct val="106000"/>
                        </a:lnSpc>
                        <a:spcBef>
                          <a:spcPts val="0"/>
                        </a:spcBef>
                        <a:spcAft>
                          <a:spcPts val="0"/>
                        </a:spcAft>
                        <a:buClr>
                          <a:schemeClr val="dk1"/>
                        </a:buClr>
                        <a:buSzPts val="1050"/>
                        <a:buFont typeface="Noto Sans Symbols"/>
                        <a:buNone/>
                      </a:pPr>
                      <a:r>
                        <a:rPr b="1" lang="en-US" sz="1050" u="none" cap="none" strike="noStrike">
                          <a:solidFill>
                            <a:schemeClr val="lt1"/>
                          </a:solidFill>
                          <a:latin typeface="Arial"/>
                          <a:ea typeface="Arial"/>
                          <a:cs typeface="Arial"/>
                          <a:sym typeface="Arial"/>
                        </a:rPr>
                        <a:t>Status</a:t>
                      </a:r>
                      <a:endParaRPr b="1" i="0" sz="1050" u="none" cap="none" strike="noStrike">
                        <a:solidFill>
                          <a:schemeClr val="lt1"/>
                        </a:solidFill>
                        <a:latin typeface="Arial"/>
                        <a:ea typeface="Arial"/>
                        <a:cs typeface="Arial"/>
                        <a:sym typeface="Arial"/>
                      </a:endParaRPr>
                    </a:p>
                  </a:txBody>
                  <a:tcPr marT="46350" marB="46350" marR="86400" marL="86400" anchor="ctr">
                    <a:lnL cap="flat" cmpd="sng" w="9525">
                      <a:solidFill>
                        <a:srgbClr val="000000">
                          <a:alpha val="0"/>
                        </a:srgbClr>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50"/>
                        <a:buFont typeface="Noto Sans Symbols"/>
                        <a:buNone/>
                      </a:pPr>
                      <a:r>
                        <a:rPr b="1" i="0" lang="en-US" sz="1050" u="none" cap="none" strike="noStrike">
                          <a:solidFill>
                            <a:schemeClr val="lt1"/>
                          </a:solidFill>
                          <a:latin typeface="Arial"/>
                          <a:ea typeface="Arial"/>
                          <a:cs typeface="Arial"/>
                          <a:sym typeface="Arial"/>
                        </a:rPr>
                        <a:t>Owner</a:t>
                      </a:r>
                      <a:endParaRPr/>
                    </a:p>
                  </a:txBody>
                  <a:tcPr marT="46350" marB="46350" marR="86400" marL="864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50"/>
                        <a:buFont typeface="Noto Sans Symbols"/>
                        <a:buNone/>
                      </a:pPr>
                      <a:r>
                        <a:rPr b="1" i="0" lang="en-US" sz="1050" u="none" cap="none" strike="noStrike">
                          <a:solidFill>
                            <a:schemeClr val="lt1"/>
                          </a:solidFill>
                          <a:latin typeface="Arial"/>
                          <a:ea typeface="Arial"/>
                          <a:cs typeface="Arial"/>
                          <a:sym typeface="Arial"/>
                        </a:rPr>
                        <a:t>Objective</a:t>
                      </a:r>
                      <a:endParaRPr/>
                    </a:p>
                  </a:txBody>
                  <a:tcPr marT="46350" marB="46350" marR="86400" marL="864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50"/>
                        <a:buFont typeface="Noto Sans Symbols"/>
                        <a:buNone/>
                      </a:pPr>
                      <a:r>
                        <a:rPr b="1" i="0" lang="en-US" sz="1050" u="none" cap="none" strike="noStrike">
                          <a:solidFill>
                            <a:schemeClr val="lt1"/>
                          </a:solidFill>
                          <a:latin typeface="Arial"/>
                          <a:ea typeface="Arial"/>
                          <a:cs typeface="Arial"/>
                          <a:sym typeface="Arial"/>
                        </a:rPr>
                        <a:t>Deadline</a:t>
                      </a:r>
                      <a:endParaRPr b="1" i="0" sz="1050" u="none" cap="none" strike="noStrike">
                        <a:solidFill>
                          <a:schemeClr val="lt1"/>
                        </a:solidFill>
                        <a:latin typeface="Arial"/>
                        <a:ea typeface="Arial"/>
                        <a:cs typeface="Arial"/>
                        <a:sym typeface="Arial"/>
                      </a:endParaRPr>
                    </a:p>
                  </a:txBody>
                  <a:tcPr marT="46350" marB="46350" marR="86400" marL="864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50"/>
                        <a:buFont typeface="Noto Sans Symbols"/>
                        <a:buNone/>
                      </a:pPr>
                      <a:r>
                        <a:rPr b="1" i="0" lang="en-US" sz="1050" u="none" cap="none" strike="noStrike">
                          <a:solidFill>
                            <a:schemeClr val="lt1"/>
                          </a:solidFill>
                          <a:latin typeface="Arial"/>
                          <a:ea typeface="Arial"/>
                          <a:cs typeface="Arial"/>
                          <a:sym typeface="Arial"/>
                        </a:rPr>
                        <a:t>Key Risks</a:t>
                      </a:r>
                      <a:endParaRPr/>
                    </a:p>
                  </a:txBody>
                  <a:tcPr marT="46350" marB="46350" marR="86400" marL="864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50"/>
                        <a:buFont typeface="Noto Sans Symbols"/>
                        <a:buNone/>
                      </a:pPr>
                      <a:r>
                        <a:rPr b="1" i="0" lang="en-US" sz="1050" u="none" cap="none" strike="noStrike">
                          <a:solidFill>
                            <a:schemeClr val="lt1"/>
                          </a:solidFill>
                          <a:latin typeface="Arial"/>
                          <a:ea typeface="Arial"/>
                          <a:cs typeface="Arial"/>
                          <a:sym typeface="Arial"/>
                        </a:rPr>
                        <a:t>Key Issues</a:t>
                      </a:r>
                      <a:endParaRPr/>
                    </a:p>
                  </a:txBody>
                  <a:tcPr marT="46350" marB="46350" marR="86400" marL="86400"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c>
                  <a:txBody>
                    <a:bodyPr/>
                    <a:lstStyle/>
                    <a:p>
                      <a:pPr indent="0" lvl="0" marL="0" marR="0" rtl="0" algn="ctr">
                        <a:lnSpc>
                          <a:spcPct val="106000"/>
                        </a:lnSpc>
                        <a:spcBef>
                          <a:spcPts val="0"/>
                        </a:spcBef>
                        <a:spcAft>
                          <a:spcPts val="0"/>
                        </a:spcAft>
                        <a:buClr>
                          <a:schemeClr val="dk1"/>
                        </a:buClr>
                        <a:buSzPts val="1050"/>
                        <a:buFont typeface="Noto Sans Symbols"/>
                        <a:buNone/>
                      </a:pPr>
                      <a:r>
                        <a:rPr b="1" i="0" lang="en-US" sz="1050" u="none" cap="none" strike="noStrike">
                          <a:solidFill>
                            <a:schemeClr val="lt1"/>
                          </a:solidFill>
                          <a:latin typeface="Arial"/>
                          <a:ea typeface="Arial"/>
                          <a:cs typeface="Arial"/>
                          <a:sym typeface="Arial"/>
                        </a:rPr>
                        <a:t>Inter-dependencies</a:t>
                      </a:r>
                      <a:endParaRPr/>
                    </a:p>
                  </a:txBody>
                  <a:tcPr marT="46350" marB="46350" marR="86400" marL="86400" anchor="ctr">
                    <a:lnL cap="flat" cmpd="sng" w="9525">
                      <a:solidFill>
                        <a:schemeClr val="lt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2"/>
                    </a:solidFill>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rgbClr val="000000">
                          <a:alpha val="0"/>
                        </a:srgbClr>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B050"/>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0" i="0" lang="en-US" sz="1200" u="none" cap="none" strike="noStrike">
                          <a:solidFill>
                            <a:schemeClr val="dk2"/>
                          </a:solidFill>
                          <a:latin typeface="Arial"/>
                          <a:ea typeface="Arial"/>
                          <a:cs typeface="Arial"/>
                          <a:sym typeface="Arial"/>
                        </a:rPr>
                        <a:t>AD</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12700">
                      <a:solidFill>
                        <a:schemeClr val="lt1"/>
                      </a:solidFill>
                      <a:prstDash val="solid"/>
                      <a:round/>
                      <a:headEnd len="sm" w="sm" type="none"/>
                      <a:tailEnd len="sm" w="sm" type="none"/>
                    </a:lnT>
                    <a:lnB cap="flat" cmpd="sng" w="9525">
                      <a:solidFill>
                        <a:srgbClr val="BFBFBF"/>
                      </a:solidFill>
                      <a:prstDash val="solid"/>
                      <a:round/>
                      <a:headEnd len="sm" w="sm" type="none"/>
                      <a:tailEnd len="sm" w="sm" type="none"/>
                    </a:lnB>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B050"/>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0" i="0" lang="en-US" sz="1200" u="none" cap="none" strike="noStrike">
                          <a:solidFill>
                            <a:schemeClr val="dk2"/>
                          </a:solidFill>
                          <a:latin typeface="Arial"/>
                          <a:ea typeface="Arial"/>
                          <a:cs typeface="Arial"/>
                          <a:sym typeface="Arial"/>
                        </a:rPr>
                        <a:t>JF</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B050"/>
                    </a:solidFill>
                  </a:tcPr>
                </a:tc>
                <a:tc>
                  <a:txBody>
                    <a:bodyPr/>
                    <a:lstStyle/>
                    <a:p>
                      <a:pPr indent="0" lvl="0" marL="0" marR="0" rtl="0" algn="ctr">
                        <a:lnSpc>
                          <a:spcPct val="106000"/>
                        </a:lnSpc>
                        <a:spcBef>
                          <a:spcPts val="0"/>
                        </a:spcBef>
                        <a:spcAft>
                          <a:spcPts val="0"/>
                        </a:spcAft>
                        <a:buClr>
                          <a:schemeClr val="dk1"/>
                        </a:buClr>
                        <a:buSzPts val="1200"/>
                        <a:buFont typeface="Noto Sans Symbols"/>
                        <a:buNone/>
                      </a:pPr>
                      <a:r>
                        <a:rPr b="0" i="0" lang="en-US" sz="1200" u="none" cap="none" strike="noStrike">
                          <a:solidFill>
                            <a:schemeClr val="dk2"/>
                          </a:solidFill>
                          <a:latin typeface="Arial"/>
                          <a:ea typeface="Arial"/>
                          <a:cs typeface="Arial"/>
                          <a:sym typeface="Arial"/>
                        </a:rPr>
                        <a:t>AD</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00B050"/>
                    </a:solidFill>
                  </a:tcPr>
                </a:tc>
                <a:tc>
                  <a:txBody>
                    <a:bodyPr/>
                    <a:lstStyle/>
                    <a:p>
                      <a:pPr indent="0" lvl="0" marL="0" marR="0" rtl="0" algn="ctr">
                        <a:lnSpc>
                          <a:spcPct val="106000"/>
                        </a:lnSpc>
                        <a:spcBef>
                          <a:spcPts val="0"/>
                        </a:spcBef>
                        <a:spcAft>
                          <a:spcPts val="0"/>
                        </a:spcAft>
                        <a:buClr>
                          <a:srgbClr val="000000"/>
                        </a:buClr>
                        <a:buSzPts val="1200"/>
                        <a:buFont typeface="Noto Sans Symbols"/>
                        <a:buNone/>
                      </a:pPr>
                      <a:r>
                        <a:rPr b="0" i="0" lang="en-US" sz="1200" u="none" cap="none" strike="noStrike">
                          <a:solidFill>
                            <a:schemeClr val="dk2"/>
                          </a:solidFill>
                          <a:latin typeface="Arial"/>
                          <a:ea typeface="Arial"/>
                          <a:cs typeface="Arial"/>
                          <a:sym typeface="Arial"/>
                        </a:rPr>
                        <a:t>JF</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C000"/>
                    </a:solidFill>
                  </a:tcPr>
                </a:tc>
                <a:tc>
                  <a:txBody>
                    <a:bodyPr/>
                    <a:lstStyle/>
                    <a:p>
                      <a:pPr indent="0" lvl="0" marL="0" marR="0" rtl="0" algn="ctr">
                        <a:lnSpc>
                          <a:spcPct val="106000"/>
                        </a:lnSpc>
                        <a:spcBef>
                          <a:spcPts val="0"/>
                        </a:spcBef>
                        <a:spcAft>
                          <a:spcPts val="0"/>
                        </a:spcAft>
                        <a:buClr>
                          <a:srgbClr val="000000"/>
                        </a:buClr>
                        <a:buSzPts val="1200"/>
                        <a:buFont typeface="Noto Sans Symbols"/>
                        <a:buNone/>
                      </a:pPr>
                      <a:r>
                        <a:rPr b="0" i="0" lang="en-US" sz="1200" u="none" cap="none" strike="noStrike">
                          <a:solidFill>
                            <a:schemeClr val="dk2"/>
                          </a:solidFill>
                          <a:latin typeface="Arial"/>
                          <a:ea typeface="Arial"/>
                          <a:cs typeface="Arial"/>
                          <a:sym typeface="Arial"/>
                        </a:rPr>
                        <a:t>JF</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C00000"/>
                    </a:solidFill>
                  </a:tcPr>
                </a:tc>
                <a:tc>
                  <a:txBody>
                    <a:bodyPr/>
                    <a:lstStyle/>
                    <a:p>
                      <a:pPr indent="0" lvl="0" marL="0" marR="0" rtl="0" algn="ctr">
                        <a:lnSpc>
                          <a:spcPct val="106000"/>
                        </a:lnSpc>
                        <a:spcBef>
                          <a:spcPts val="0"/>
                        </a:spcBef>
                        <a:spcAft>
                          <a:spcPts val="0"/>
                        </a:spcAft>
                        <a:buClr>
                          <a:srgbClr val="000000"/>
                        </a:buClr>
                        <a:buSzPts val="1200"/>
                        <a:buFont typeface="Noto Sans Symbols"/>
                        <a:buNone/>
                      </a:pPr>
                      <a:r>
                        <a:rPr b="0" i="0" lang="en-US" sz="1200" u="none" cap="none" strike="noStrike">
                          <a:solidFill>
                            <a:schemeClr val="dk2"/>
                          </a:solidFill>
                          <a:latin typeface="Arial"/>
                          <a:ea typeface="Arial"/>
                          <a:cs typeface="Arial"/>
                          <a:sym typeface="Arial"/>
                        </a:rPr>
                        <a:t>JF</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C00000"/>
                    </a:solidFill>
                  </a:tcPr>
                </a:tc>
                <a:tc>
                  <a:txBody>
                    <a:bodyPr/>
                    <a:lstStyle/>
                    <a:p>
                      <a:pPr indent="0" lvl="0" marL="0" marR="0" rtl="0" algn="ctr">
                        <a:lnSpc>
                          <a:spcPct val="106000"/>
                        </a:lnSpc>
                        <a:spcBef>
                          <a:spcPts val="0"/>
                        </a:spcBef>
                        <a:spcAft>
                          <a:spcPts val="0"/>
                        </a:spcAft>
                        <a:buClr>
                          <a:srgbClr val="000000"/>
                        </a:buClr>
                        <a:buSzPts val="1200"/>
                        <a:buFont typeface="Noto Sans Symbols"/>
                        <a:buNone/>
                      </a:pPr>
                      <a:r>
                        <a:rPr b="0" i="0" lang="en-US" sz="1200" u="none" cap="none" strike="noStrike">
                          <a:solidFill>
                            <a:schemeClr val="dk2"/>
                          </a:solidFill>
                          <a:latin typeface="Arial"/>
                          <a:ea typeface="Arial"/>
                          <a:cs typeface="Arial"/>
                          <a:sym typeface="Arial"/>
                        </a:rPr>
                        <a:t>JF</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C000"/>
                    </a:solidFill>
                  </a:tcPr>
                </a:tc>
                <a:tc>
                  <a:txBody>
                    <a:bodyPr/>
                    <a:lstStyle/>
                    <a:p>
                      <a:pPr indent="0" lvl="0" marL="0" marR="0" rtl="0" algn="ctr">
                        <a:lnSpc>
                          <a:spcPct val="106000"/>
                        </a:lnSpc>
                        <a:spcBef>
                          <a:spcPts val="0"/>
                        </a:spcBef>
                        <a:spcAft>
                          <a:spcPts val="0"/>
                        </a:spcAft>
                        <a:buClr>
                          <a:srgbClr val="000000"/>
                        </a:buClr>
                        <a:buSzPts val="1200"/>
                        <a:buFont typeface="Noto Sans Symbols"/>
                        <a:buNone/>
                      </a:pPr>
                      <a:r>
                        <a:rPr b="0" i="0" lang="en-US" sz="1200" u="none" cap="none" strike="noStrike">
                          <a:solidFill>
                            <a:schemeClr val="dk2"/>
                          </a:solidFill>
                          <a:latin typeface="Arial"/>
                          <a:ea typeface="Arial"/>
                          <a:cs typeface="Arial"/>
                          <a:sym typeface="Arial"/>
                        </a:rPr>
                        <a:t>JF</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rgbClr val="BFBFBF"/>
                      </a:solidFill>
                      <a:prstDash val="solid"/>
                      <a:round/>
                      <a:headEnd len="sm" w="sm" type="none"/>
                      <a:tailEnd len="sm" w="sm" type="none"/>
                    </a:lnB>
                  </a:tcPr>
                </a:tc>
              </a:tr>
              <a:tr h="461025">
                <a:tc>
                  <a:txBody>
                    <a:bodyPr/>
                    <a:lstStyle/>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Insert name of the </a:t>
                      </a:r>
                      <a:endParaRPr/>
                    </a:p>
                    <a:p>
                      <a:pPr indent="0" lvl="0" marL="0" marR="0" rtl="0" algn="l">
                        <a:lnSpc>
                          <a:spcPct val="100000"/>
                        </a:lnSpc>
                        <a:spcBef>
                          <a:spcPts val="0"/>
                        </a:spcBef>
                        <a:spcAft>
                          <a:spcPts val="0"/>
                        </a:spcAft>
                        <a:buClr>
                          <a:srgbClr val="002776"/>
                        </a:buClr>
                        <a:buSzPts val="1000"/>
                        <a:buFont typeface="Arial"/>
                        <a:buNone/>
                      </a:pPr>
                      <a:r>
                        <a:rPr b="0" i="0" lang="en-US" sz="1000" u="none" cap="none" strike="noStrike">
                          <a:solidFill>
                            <a:schemeClr val="lt1"/>
                          </a:solidFill>
                          <a:latin typeface="Arial"/>
                          <a:ea typeface="Arial"/>
                          <a:cs typeface="Arial"/>
                          <a:sym typeface="Arial"/>
                        </a:rPr>
                        <a:t>initiative</a:t>
                      </a:r>
                      <a:endParaRPr/>
                    </a:p>
                  </a:txBody>
                  <a:tcPr marT="46350" marB="46350" marR="86400" marL="86400" anchor="ctr">
                    <a:lnL cap="flat" cmpd="sng" w="9525">
                      <a:solidFill>
                        <a:schemeClr val="dk1"/>
                      </a:solidFill>
                      <a:prstDash val="solid"/>
                      <a:round/>
                      <a:headEnd len="sm" w="sm" type="none"/>
                      <a:tailEnd len="sm" w="sm" type="none"/>
                    </a:lnL>
                    <a:lnT cap="flat" cmpd="sng" w="9525">
                      <a:solidFill>
                        <a:schemeClr val="lt1"/>
                      </a:solidFill>
                      <a:prstDash val="solid"/>
                      <a:round/>
                      <a:headEnd len="sm" w="sm" type="none"/>
                      <a:tailEnd len="sm" w="sm" type="none"/>
                    </a:lnT>
                    <a:lnB cap="flat" cmpd="sng" w="9525">
                      <a:solidFill>
                        <a:schemeClr val="dk1"/>
                      </a:solidFill>
                      <a:prstDash val="solid"/>
                      <a:round/>
                      <a:headEnd len="sm" w="sm" type="none"/>
                      <a:tailEnd len="sm" w="sm" type="none"/>
                    </a:lnB>
                    <a:solidFill>
                      <a:schemeClr val="dk1"/>
                    </a:solidFill>
                  </a:tcPr>
                </a:tc>
                <a:tc>
                  <a:txBody>
                    <a:bodyPr/>
                    <a:lstStyle/>
                    <a:p>
                      <a:pPr indent="0" lvl="0" marL="0" marR="0" rtl="0" algn="l">
                        <a:lnSpc>
                          <a:spcPct val="106000"/>
                        </a:lnSpc>
                        <a:spcBef>
                          <a:spcPts val="0"/>
                        </a:spcBef>
                        <a:spcAft>
                          <a:spcPts val="0"/>
                        </a:spcAft>
                        <a:buClr>
                          <a:schemeClr val="dk1"/>
                        </a:buClr>
                        <a:buSzPts val="1200"/>
                        <a:buFont typeface="Noto Sans Symbols"/>
                        <a:buNone/>
                      </a:pPr>
                      <a:r>
                        <a:t/>
                      </a:r>
                      <a:endParaRPr b="0" i="0" sz="1200" u="none" cap="none" strike="noStrike">
                        <a:solidFill>
                          <a:schemeClr val="dk1"/>
                        </a:solidFill>
                        <a:latin typeface="Arial"/>
                        <a:ea typeface="Arial"/>
                        <a:cs typeface="Arial"/>
                        <a:sym typeface="Arial"/>
                      </a:endParaRPr>
                    </a:p>
                  </a:txBody>
                  <a:tcPr marT="46350" marB="46350" marR="86400" marL="86400" anchor="ctr">
                    <a:lnR cap="flat" cmpd="sng" w="9525">
                      <a:solidFill>
                        <a:srgbClr val="BFBFBF"/>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dk1"/>
                      </a:solidFill>
                      <a:prstDash val="solid"/>
                      <a:round/>
                      <a:headEnd len="sm" w="sm" type="none"/>
                      <a:tailEnd len="sm" w="sm" type="none"/>
                    </a:lnB>
                    <a:solidFill>
                      <a:srgbClr val="FFC000"/>
                    </a:solidFill>
                  </a:tcPr>
                </a:tc>
                <a:tc>
                  <a:txBody>
                    <a:bodyPr/>
                    <a:lstStyle/>
                    <a:p>
                      <a:pPr indent="0" lvl="0" marL="0" marR="0" rtl="0" algn="ctr">
                        <a:lnSpc>
                          <a:spcPct val="106000"/>
                        </a:lnSpc>
                        <a:spcBef>
                          <a:spcPts val="0"/>
                        </a:spcBef>
                        <a:spcAft>
                          <a:spcPts val="0"/>
                        </a:spcAft>
                        <a:buClr>
                          <a:srgbClr val="000000"/>
                        </a:buClr>
                        <a:buSzPts val="1200"/>
                        <a:buFont typeface="Noto Sans Symbols"/>
                        <a:buNone/>
                      </a:pPr>
                      <a:r>
                        <a:rPr b="0" i="0" lang="en-US" sz="1200" u="none" cap="none" strike="noStrike">
                          <a:solidFill>
                            <a:schemeClr val="dk2"/>
                          </a:solidFill>
                          <a:latin typeface="Arial"/>
                          <a:ea typeface="Arial"/>
                          <a:cs typeface="Arial"/>
                          <a:sym typeface="Arial"/>
                        </a:rPr>
                        <a:t>MJ</a:t>
                      </a:r>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rgbClr val="BFBFBF"/>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6000"/>
                        </a:lnSpc>
                        <a:spcBef>
                          <a:spcPts val="0"/>
                        </a:spcBef>
                        <a:spcAft>
                          <a:spcPts val="0"/>
                        </a:spcAft>
                        <a:buClr>
                          <a:schemeClr val="dk1"/>
                        </a:buClr>
                        <a:buSzPts val="900"/>
                        <a:buFont typeface="Noto Sans Symbols"/>
                        <a:buNone/>
                      </a:pPr>
                      <a:r>
                        <a:t/>
                      </a:r>
                      <a:endParaRPr b="0" i="0" sz="900" u="none" cap="none" strike="noStrike">
                        <a:solidFill>
                          <a:srgbClr val="002060"/>
                        </a:solidFill>
                        <a:latin typeface="Arial"/>
                        <a:ea typeface="Arial"/>
                        <a:cs typeface="Arial"/>
                        <a:sym typeface="Arial"/>
                      </a:endParaRPr>
                    </a:p>
                  </a:txBody>
                  <a:tcPr marT="46350" marB="46350" marR="86400" marL="86400" anchor="ctr">
                    <a:lnL cap="flat" cmpd="sng" w="9525">
                      <a:solidFill>
                        <a:srgbClr val="BFBFBF"/>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BFBFBF"/>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57"/>
          <p:cNvSpPr txBox="1"/>
          <p:nvPr>
            <p:ph type="title"/>
          </p:nvPr>
        </p:nvSpPr>
        <p:spPr>
          <a:xfrm>
            <a:off x="514114" y="365126"/>
            <a:ext cx="11073049" cy="1091318"/>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2060"/>
              </a:buClr>
              <a:buSzPts val="2400"/>
              <a:buFont typeface="Arial"/>
              <a:buNone/>
            </a:pPr>
            <a:r>
              <a:rPr lang="en-US"/>
              <a:t>Next steps</a:t>
            </a:r>
            <a:endParaRPr b="0"/>
          </a:p>
        </p:txBody>
      </p:sp>
      <p:sp>
        <p:nvSpPr>
          <p:cNvPr id="1184" name="Google Shape;1184;p57"/>
          <p:cNvSpPr txBox="1"/>
          <p:nvPr>
            <p:ph idx="12" type="sldNum"/>
          </p:nvPr>
        </p:nvSpPr>
        <p:spPr>
          <a:xfrm>
            <a:off x="9181195" y="6632714"/>
            <a:ext cx="2743200" cy="187565"/>
          </a:xfrm>
          <a:prstGeom prst="rect">
            <a:avLst/>
          </a:prstGeom>
          <a:noFill/>
          <a:ln>
            <a:noFill/>
          </a:ln>
        </p:spPr>
        <p:txBody>
          <a:bodyPr anchorCtr="0" anchor="ctr" bIns="45700" lIns="91425" spcFirstLastPara="1" rIns="0" wrap="square" tIns="0">
            <a:noAutofit/>
          </a:bodyPr>
          <a:lstStyle/>
          <a:p>
            <a:pPr indent="0" lvl="0" marL="0" rtl="0" algn="r">
              <a:spcBef>
                <a:spcPts val="0"/>
              </a:spcBef>
              <a:spcAft>
                <a:spcPts val="0"/>
              </a:spcAft>
              <a:buNone/>
            </a:pPr>
            <a:fld id="{00000000-1234-1234-1234-123412341234}" type="slidenum">
              <a:rPr lang="en-US" sz="1000">
                <a:solidFill>
                  <a:srgbClr val="ADAFBB"/>
                </a:solidFill>
              </a:rPr>
              <a:t>‹#›</a:t>
            </a:fld>
            <a:endParaRPr sz="1000">
              <a:solidFill>
                <a:srgbClr val="ADAFBB"/>
              </a:solidFill>
            </a:endParaRPr>
          </a:p>
        </p:txBody>
      </p:sp>
      <p:sp>
        <p:nvSpPr>
          <p:cNvPr id="1185" name="Google Shape;1185;p57"/>
          <p:cNvSpPr txBox="1"/>
          <p:nvPr/>
        </p:nvSpPr>
        <p:spPr>
          <a:xfrm>
            <a:off x="514114" y="1662545"/>
            <a:ext cx="11073048" cy="3347070"/>
          </a:xfrm>
          <a:prstGeom prst="rect">
            <a:avLst/>
          </a:prstGeom>
          <a:noFill/>
          <a:ln>
            <a:noFill/>
          </a:ln>
        </p:spPr>
        <p:txBody>
          <a:bodyPr anchorCtr="0" anchor="t" bIns="45700" lIns="91425" spcFirstLastPara="1" rIns="91425" wrap="square" tIns="45700">
            <a:spAutoFit/>
          </a:bodyPr>
          <a:lstStyle/>
          <a:p>
            <a:pPr indent="-114300" lvl="0" marL="114300" marR="0" rtl="0" algn="l">
              <a:spcBef>
                <a:spcPts val="0"/>
              </a:spcBef>
              <a:spcAft>
                <a:spcPts val="0"/>
              </a:spcAft>
              <a:buClr>
                <a:schemeClr val="dk1"/>
              </a:buClr>
              <a:buSzPts val="1600"/>
              <a:buFont typeface="Arial"/>
              <a:buChar char="•"/>
            </a:pPr>
            <a:r>
              <a:rPr lang="en-US" sz="1600">
                <a:solidFill>
                  <a:schemeClr val="dk1"/>
                </a:solidFill>
                <a:latin typeface="Arial"/>
                <a:ea typeface="Arial"/>
                <a:cs typeface="Arial"/>
                <a:sym typeface="Arial"/>
              </a:rPr>
              <a:t>Once your </a:t>
            </a:r>
            <a:r>
              <a:rPr b="1" lang="en-US" sz="1600">
                <a:solidFill>
                  <a:schemeClr val="dk1"/>
                </a:solidFill>
                <a:latin typeface="Arial"/>
                <a:ea typeface="Arial"/>
                <a:cs typeface="Arial"/>
                <a:sym typeface="Arial"/>
              </a:rPr>
              <a:t>Sales Strategy and Plan </a:t>
            </a:r>
            <a:r>
              <a:rPr lang="en-US" sz="1600">
                <a:solidFill>
                  <a:schemeClr val="dk1"/>
                </a:solidFill>
                <a:latin typeface="Arial"/>
                <a:ea typeface="Arial"/>
                <a:cs typeface="Arial"/>
                <a:sym typeface="Arial"/>
              </a:rPr>
              <a:t>has been approved, </a:t>
            </a:r>
            <a:r>
              <a:rPr b="1" lang="en-US" sz="1600">
                <a:solidFill>
                  <a:schemeClr val="dk1"/>
                </a:solidFill>
                <a:latin typeface="Arial"/>
                <a:ea typeface="Arial"/>
                <a:cs typeface="Arial"/>
                <a:sym typeface="Arial"/>
              </a:rPr>
              <a:t>communicate</a:t>
            </a:r>
            <a:r>
              <a:rPr lang="en-US" sz="1600">
                <a:solidFill>
                  <a:schemeClr val="dk1"/>
                </a:solidFill>
                <a:latin typeface="Arial"/>
                <a:ea typeface="Arial"/>
                <a:cs typeface="Arial"/>
                <a:sym typeface="Arial"/>
              </a:rPr>
              <a:t> it to the Organization (Note: most of the key stakeholders should have already been highly engaged in the preparation of this deliverable)</a:t>
            </a:r>
            <a:endParaRPr/>
          </a:p>
          <a:p>
            <a:pPr indent="-114300" lvl="0" marL="114300" marR="0" rtl="0" algn="l">
              <a:spcBef>
                <a:spcPts val="1600"/>
              </a:spcBef>
              <a:spcAft>
                <a:spcPts val="0"/>
              </a:spcAft>
              <a:buClr>
                <a:schemeClr val="dk1"/>
              </a:buClr>
              <a:buSzPts val="1600"/>
              <a:buFont typeface="Arial"/>
              <a:buChar char="•"/>
            </a:pPr>
            <a:r>
              <a:rPr lang="en-US" sz="1600">
                <a:solidFill>
                  <a:schemeClr val="dk1"/>
                </a:solidFill>
                <a:latin typeface="Arial"/>
                <a:ea typeface="Arial"/>
                <a:cs typeface="Arial"/>
                <a:sym typeface="Arial"/>
              </a:rPr>
              <a:t>Make sure everyone has a clear understanding of the different </a:t>
            </a:r>
            <a:r>
              <a:rPr b="1" lang="en-US" sz="1600">
                <a:solidFill>
                  <a:schemeClr val="dk1"/>
                </a:solidFill>
                <a:latin typeface="Arial"/>
                <a:ea typeface="Arial"/>
                <a:cs typeface="Arial"/>
                <a:sym typeface="Arial"/>
              </a:rPr>
              <a:t>roles &amp; responsibilities</a:t>
            </a:r>
            <a:endParaRPr/>
          </a:p>
          <a:p>
            <a:pPr indent="-114300" lvl="0" marL="114300" marR="0" rtl="0" algn="l">
              <a:spcBef>
                <a:spcPts val="1600"/>
              </a:spcBef>
              <a:spcAft>
                <a:spcPts val="0"/>
              </a:spcAft>
              <a:buClr>
                <a:schemeClr val="dk1"/>
              </a:buClr>
              <a:buSzPts val="1600"/>
              <a:buFont typeface="Arial"/>
              <a:buChar char="•"/>
            </a:pPr>
            <a:r>
              <a:rPr lang="en-US" sz="1600">
                <a:solidFill>
                  <a:schemeClr val="dk1"/>
                </a:solidFill>
                <a:latin typeface="Arial"/>
                <a:ea typeface="Arial"/>
                <a:cs typeface="Arial"/>
                <a:sym typeface="Arial"/>
              </a:rPr>
              <a:t>Set up a </a:t>
            </a:r>
            <a:r>
              <a:rPr b="1" lang="en-US" sz="1600">
                <a:solidFill>
                  <a:schemeClr val="dk1"/>
                </a:solidFill>
                <a:latin typeface="Arial"/>
                <a:ea typeface="Arial"/>
                <a:cs typeface="Arial"/>
                <a:sym typeface="Arial"/>
              </a:rPr>
              <a:t>45-min weekly meeting </a:t>
            </a:r>
            <a:r>
              <a:rPr lang="en-US" sz="1600">
                <a:solidFill>
                  <a:schemeClr val="dk1"/>
                </a:solidFill>
                <a:latin typeface="Arial"/>
                <a:ea typeface="Arial"/>
                <a:cs typeface="Arial"/>
                <a:sym typeface="Arial"/>
              </a:rPr>
              <a:t>with all the key stakeholders to follow the Sales Strategic Objectives progress</a:t>
            </a:r>
            <a:endParaRPr sz="1600">
              <a:solidFill>
                <a:schemeClr val="dk1"/>
              </a:solidFill>
              <a:latin typeface="Arial"/>
              <a:ea typeface="Arial"/>
              <a:cs typeface="Arial"/>
              <a:sym typeface="Arial"/>
            </a:endParaRPr>
          </a:p>
          <a:p>
            <a:pPr indent="-114300" lvl="0" marL="114300" marR="0" rtl="0" algn="l">
              <a:spcBef>
                <a:spcPts val="1600"/>
              </a:spcBef>
              <a:spcAft>
                <a:spcPts val="0"/>
              </a:spcAft>
              <a:buClr>
                <a:schemeClr val="dk1"/>
              </a:buClr>
              <a:buSzPts val="1600"/>
              <a:buFont typeface="Arial"/>
              <a:buChar char="•"/>
            </a:pPr>
            <a:r>
              <a:rPr lang="en-US" sz="1600">
                <a:solidFill>
                  <a:schemeClr val="dk1"/>
                </a:solidFill>
                <a:latin typeface="Arial"/>
                <a:ea typeface="Arial"/>
                <a:cs typeface="Arial"/>
                <a:sym typeface="Arial"/>
              </a:rPr>
              <a:t>Display the </a:t>
            </a:r>
            <a:r>
              <a:rPr b="1" lang="en-US" sz="1600">
                <a:solidFill>
                  <a:schemeClr val="dk1"/>
                </a:solidFill>
                <a:latin typeface="Arial"/>
                <a:ea typeface="Arial"/>
                <a:cs typeface="Arial"/>
                <a:sym typeface="Arial"/>
              </a:rPr>
              <a:t>dashboards</a:t>
            </a:r>
            <a:r>
              <a:rPr lang="en-US" sz="1600">
                <a:solidFill>
                  <a:schemeClr val="dk1"/>
                </a:solidFill>
                <a:latin typeface="Arial"/>
                <a:ea typeface="Arial"/>
                <a:cs typeface="Arial"/>
                <a:sym typeface="Arial"/>
              </a:rPr>
              <a:t> on the meeting room. Choose the method below that best suits your company:</a:t>
            </a:r>
            <a:endParaRPr/>
          </a:p>
          <a:p>
            <a:pPr indent="-134938" lvl="1" marL="280988" marR="0" rtl="0" algn="l">
              <a:spcBef>
                <a:spcPts val="13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Print the dashboards on A1 and stick them on the meeting room wall</a:t>
            </a:r>
            <a:endParaRPr/>
          </a:p>
          <a:p>
            <a:pPr indent="-134938" lvl="1" marL="280988" marR="0" rtl="0" algn="l">
              <a:spcBef>
                <a:spcPts val="10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Reproduce the dashboards using post-it notes, tapes and Sharpy pens</a:t>
            </a:r>
            <a:endParaRPr/>
          </a:p>
          <a:p>
            <a:pPr indent="-134938" lvl="1" marL="280988" marR="0" rtl="0" algn="l">
              <a:spcBef>
                <a:spcPts val="1000"/>
              </a:spcBef>
              <a:spcAft>
                <a:spcPts val="0"/>
              </a:spcAft>
              <a:buClr>
                <a:schemeClr val="dk1"/>
              </a:buClr>
              <a:buSzPts val="1600"/>
              <a:buFont typeface="Arial"/>
              <a:buChar char="•"/>
            </a:pPr>
            <a:r>
              <a:rPr b="0" i="0" lang="en-US" sz="1600" u="none" cap="none" strike="noStrike">
                <a:solidFill>
                  <a:schemeClr val="dk1"/>
                </a:solidFill>
                <a:latin typeface="Arial"/>
                <a:ea typeface="Arial"/>
                <a:cs typeface="Arial"/>
                <a:sym typeface="Arial"/>
              </a:rPr>
              <a:t>Use a digital whiteboard such as Google Jamboard. Particularly useful if you have key stakeholders in different cities or countries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Custom 11">
      <a:dk1>
        <a:srgbClr val="002060"/>
      </a:dk1>
      <a:lt1>
        <a:srgbClr val="FFFFFF"/>
      </a:lt1>
      <a:dk2>
        <a:srgbClr val="002060"/>
      </a:dk2>
      <a:lt2>
        <a:srgbClr val="002060"/>
      </a:lt2>
      <a:accent1>
        <a:srgbClr val="002060"/>
      </a:accent1>
      <a:accent2>
        <a:srgbClr val="002060"/>
      </a:accent2>
      <a:accent3>
        <a:srgbClr val="7F7F7F"/>
      </a:accent3>
      <a:accent4>
        <a:srgbClr val="D8D8D8"/>
      </a:accent4>
      <a:accent5>
        <a:srgbClr val="FFC000"/>
      </a:accent5>
      <a:accent6>
        <a:srgbClr val="00B050"/>
      </a:accent6>
      <a:hlink>
        <a:srgbClr val="00B0F0"/>
      </a:hlink>
      <a:folHlink>
        <a:srgbClr val="00B0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2020-07-08T04:44:55Z</dcterms:created>
  <dc:creator>Aurelien Dom</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